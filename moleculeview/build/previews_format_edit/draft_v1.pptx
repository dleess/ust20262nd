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0–3분 (3분)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3–7분 (4분)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7–10분 (3분)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10–12분 (2분)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12–15분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15–18분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18–20분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29–32분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32–35분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35–37분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37–40분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40–43분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43–46분 (3분)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a:t>
            </a:r>
          </a:p>
          <a:p/>
          <a:p>
            <a:r>
              <a:t>추가 설명</a:t>
            </a:r>
          </a:p>
          <a:p>
            <a:r>
              <a:t>아미노산 20개를 외우기보다 곁사슬의 특징을 먼저 읽는다.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46–49분 (3분)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49–52분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52–55분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55–57분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57–60분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60–63분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63–65분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65–75분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75–78분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78–80분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80–82분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82–84분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84–86분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86–90분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90–92분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92–94분 (2분)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94–96분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100–104분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104–108분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108–112분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112–117분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117–120분 (3분)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120–125분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125–135분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135–138분 (3분)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138–142분 (4분)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142–146분 (4분)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146–151분 (5분)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155–160분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160–167분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167–172분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172–175분 (3분)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175–178분 (3분)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178–180분 (2분)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0–65분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기초와 단백질의 구성</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65–75분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75–125분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125–135분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135–180분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75분에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ct val="105000"/>
              </a:lnSpc>
            </a:pPr>
            <a:r>
              <a:rPr sz="1700" b="0" lang="ko-KR">
                <a:solidFill>
                  <a:srgbClr val="183342"/>
                </a:solidFill>
                <a:latin typeface="Courier New"/>
                <a:ea typeface="Arial Unicode MS"/>
                <a:cs typeface="Arial Unicode MS"/>
              </a:rPr>
              <a:t>ATOM      1  N   GLU A 697     -68.144  -7.449 -50.184  1.00 55.89           N</a:t>
            </a:r>
          </a:p>
          <a:p>
            <a:pPr algn="l">
              <a:lnSpc>
                <a:spcPct val="105000"/>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ct val="105000"/>
              </a:lnSpc>
            </a:pPr>
            <a:r>
              <a:rPr sz="1700" b="0" lang="ko-KR">
                <a:solidFill>
                  <a:srgbClr val="183342"/>
                </a:solidFill>
                <a:latin typeface="Courier New"/>
                <a:ea typeface="Arial Unicode MS"/>
                <a:cs typeface="Arial Unicode MS"/>
              </a:rPr>
              <a:t>data_2ITY</a:t>
            </a:r>
          </a:p>
          <a:p>
            <a:pPr algn="l">
              <a:lnSpc>
                <a:spcPct val="105000"/>
              </a:lnSpc>
            </a:pPr>
            <a:r>
              <a:rPr sz="1700" b="0" lang="ko-KR">
                <a:solidFill>
                  <a:srgbClr val="183342"/>
                </a:solidFill>
                <a:latin typeface="Courier New"/>
                <a:ea typeface="Arial Unicode MS"/>
                <a:cs typeface="Arial Unicode MS"/>
              </a:rPr>
              <a:t>loop_</a:t>
            </a:r>
          </a:p>
          <a:p>
            <a:pPr algn="l">
              <a:lnSpc>
                <a:spcPct val="105000"/>
              </a:lnSpc>
            </a:pPr>
            <a:r>
              <a:rPr sz="1700" b="0" lang="ko-KR">
                <a:solidFill>
                  <a:srgbClr val="183342"/>
                </a:solidFill>
                <a:latin typeface="Courier New"/>
                <a:ea typeface="Arial Unicode MS"/>
                <a:cs typeface="Arial Unicode MS"/>
              </a:rPr>
              <a:t>_atom_site.group_PDB</a:t>
            </a:r>
          </a:p>
          <a:p>
            <a:pPr algn="l">
              <a:lnSpc>
                <a:spcPct val="105000"/>
              </a:lnSpc>
            </a:pPr>
            <a:r>
              <a:rPr sz="1700" b="0" lang="ko-KR">
                <a:solidFill>
                  <a:srgbClr val="183342"/>
                </a:solidFill>
                <a:latin typeface="Courier New"/>
                <a:ea typeface="Arial Unicode MS"/>
                <a:cs typeface="Arial Unicode MS"/>
              </a:rPr>
              <a:t>_atom_site.id</a:t>
            </a:r>
          </a:p>
          <a:p>
            <a:pPr algn="l">
              <a:lnSpc>
                <a:spcPct val="105000"/>
              </a:lnSpc>
            </a:pPr>
            <a:r>
              <a:rPr sz="1700" b="0" lang="ko-KR">
                <a:solidFill>
                  <a:srgbClr val="183342"/>
                </a:solidFill>
                <a:latin typeface="Courier New"/>
                <a:ea typeface="Arial Unicode MS"/>
                <a:cs typeface="Arial Unicode MS"/>
              </a:rPr>
              <a:t>_atom_site.type_symbol</a:t>
            </a:r>
          </a:p>
          <a:p>
            <a:pPr algn="l">
              <a:lnSpc>
                <a:spcPct val="105000"/>
              </a:lnSpc>
            </a:pPr>
            <a:r>
              <a:rPr sz="1700" b="0" lang="ko-KR">
                <a:solidFill>
                  <a:srgbClr val="183342"/>
                </a:solidFill>
                <a:latin typeface="Courier New"/>
                <a:ea typeface="Arial Unicode MS"/>
                <a:cs typeface="Arial Unicode MS"/>
              </a:rPr>
              <a:t>_atom_site.label_atom_id</a:t>
            </a:r>
          </a:p>
          <a:p>
            <a:pPr algn="l">
              <a:lnSpc>
                <a:spcPct val="105000"/>
              </a:lnSpc>
            </a:pPr>
            <a:r>
              <a:rPr sz="1700" b="0" lang="ko-KR">
                <a:solidFill>
                  <a:srgbClr val="183342"/>
                </a:solidFill>
                <a:latin typeface="Courier New"/>
                <a:ea typeface="Arial Unicode MS"/>
                <a:cs typeface="Arial Unicode MS"/>
              </a:rPr>
              <a:t>_atom_site.label_comp_id</a:t>
            </a:r>
          </a:p>
          <a:p>
            <a:pPr algn="l">
              <a:lnSpc>
                <a:spcPct val="105000"/>
              </a:lnSpc>
            </a:pPr>
            <a:r>
              <a:rPr sz="1700" b="0" lang="ko-KR">
                <a:solidFill>
                  <a:srgbClr val="183342"/>
                </a:solidFill>
                <a:latin typeface="Courier New"/>
                <a:ea typeface="Arial Unicode MS"/>
                <a:cs typeface="Arial Unicode MS"/>
              </a:rPr>
              <a:t>_atom_site.auth_asym_id</a:t>
            </a:r>
          </a:p>
          <a:p>
            <a:pPr algn="l">
              <a:lnSpc>
                <a:spcPct val="105000"/>
              </a:lnSpc>
            </a:pPr>
            <a:r>
              <a:rPr sz="1700" b="0" lang="ko-KR">
                <a:solidFill>
                  <a:srgbClr val="183342"/>
                </a:solidFill>
                <a:latin typeface="Courier New"/>
                <a:ea typeface="Arial Unicode MS"/>
                <a:cs typeface="Arial Unicode MS"/>
              </a:rPr>
              <a:t>_atom_site.auth_seq_id</a:t>
            </a:r>
          </a:p>
          <a:p>
            <a:pPr algn="l">
              <a:lnSpc>
                <a:spcPct val="105000"/>
              </a:lnSpc>
            </a:pPr>
            <a:r>
              <a:rPr sz="1700" b="0" lang="ko-KR">
                <a:solidFill>
                  <a:srgbClr val="183342"/>
                </a:solidFill>
                <a:latin typeface="Courier New"/>
                <a:ea typeface="Arial Unicode MS"/>
                <a:cs typeface="Arial Unicode MS"/>
              </a:rPr>
              <a:t>_atom_site.Cartn_x</a:t>
            </a:r>
          </a:p>
          <a:p>
            <a:pPr algn="l">
              <a:lnSpc>
                <a:spcPct val="105000"/>
              </a:lnSpc>
            </a:pPr>
            <a:r>
              <a:rPr sz="1700" b="0" lang="ko-KR">
                <a:solidFill>
                  <a:srgbClr val="183342"/>
                </a:solidFill>
                <a:latin typeface="Courier New"/>
                <a:ea typeface="Arial Unicode MS"/>
                <a:cs typeface="Arial Unicode MS"/>
              </a:rPr>
              <a:t>_atom_site.Cartn_y</a:t>
            </a:r>
          </a:p>
          <a:p>
            <a:pPr algn="l">
              <a:lnSpc>
                <a:spcPct val="105000"/>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ct val="105000"/>
              </a:lnSpc>
            </a:pPr>
            <a:r>
              <a:rPr sz="1700" b="0" lang="ko-KR">
                <a:solidFill>
                  <a:srgbClr val="183342"/>
                </a:solidFill>
                <a:latin typeface="Arial Unicode MS"/>
                <a:ea typeface="Arial Unicode MS"/>
                <a:cs typeface="Arial Unicode MS"/>
              </a:rPr>
              <a:t>2ITY 데이터 묶음의 시작</a:t>
            </a:r>
          </a:p>
          <a:p>
            <a:pPr algn="l">
              <a:lnSpc>
                <a:spcPct val="105000"/>
              </a:lnSpc>
            </a:pPr>
            <a:r>
              <a:rPr sz="1700" b="0" lang="ko-KR">
                <a:solidFill>
                  <a:srgbClr val="183342"/>
                </a:solidFill>
                <a:latin typeface="Arial Unicode MS"/>
                <a:ea typeface="Arial Unicode MS"/>
                <a:cs typeface="Arial Unicode MS"/>
              </a:rPr>
              <a:t>표의 시작. 아래 태그 순서대로 값을 읽음</a:t>
            </a:r>
          </a:p>
          <a:p>
            <a:pPr algn="l">
              <a:lnSpc>
                <a:spcPct val="105000"/>
              </a:lnSpc>
            </a:pPr>
            <a:r>
              <a:rPr sz="1700" b="0" lang="ko-KR">
                <a:solidFill>
                  <a:srgbClr val="183342"/>
                </a:solidFill>
                <a:latin typeface="Arial Unicode MS"/>
                <a:ea typeface="Arial Unicode MS"/>
                <a:cs typeface="Arial Unicode MS"/>
              </a:rPr>
              <a:t>레코드 종류</a:t>
            </a:r>
          </a:p>
          <a:p>
            <a:pPr algn="l">
              <a:lnSpc>
                <a:spcPct val="105000"/>
              </a:lnSpc>
            </a:pPr>
            <a:r>
              <a:rPr sz="1700" b="0" lang="ko-KR">
                <a:solidFill>
                  <a:srgbClr val="183342"/>
                </a:solidFill>
                <a:latin typeface="Arial Unicode MS"/>
                <a:ea typeface="Arial Unicode MS"/>
                <a:cs typeface="Arial Unicode MS"/>
              </a:rPr>
              <a:t>원자 일련번호</a:t>
            </a:r>
          </a:p>
          <a:p>
            <a:pPr algn="l">
              <a:lnSpc>
                <a:spcPct val="105000"/>
              </a:lnSpc>
            </a:pPr>
            <a:r>
              <a:rPr sz="1700" b="0" lang="ko-KR">
                <a:solidFill>
                  <a:srgbClr val="183342"/>
                </a:solidFill>
                <a:latin typeface="Arial Unicode MS"/>
                <a:ea typeface="Arial Unicode MS"/>
                <a:cs typeface="Arial Unicode MS"/>
              </a:rPr>
              <a:t>원소 기호</a:t>
            </a:r>
          </a:p>
          <a:p>
            <a:pPr algn="l">
              <a:lnSpc>
                <a:spcPct val="105000"/>
              </a:lnSpc>
            </a:pPr>
            <a:r>
              <a:rPr sz="1700" b="0" lang="ko-KR">
                <a:solidFill>
                  <a:srgbClr val="183342"/>
                </a:solidFill>
                <a:latin typeface="Arial Unicode MS"/>
                <a:ea typeface="Arial Unicode MS"/>
                <a:cs typeface="Arial Unicode MS"/>
              </a:rPr>
              <a:t>원자 이름</a:t>
            </a:r>
          </a:p>
          <a:p>
            <a:pPr algn="l">
              <a:lnSpc>
                <a:spcPct val="105000"/>
              </a:lnSpc>
            </a:pPr>
            <a:r>
              <a:rPr sz="1700" b="0" lang="ko-KR">
                <a:solidFill>
                  <a:srgbClr val="183342"/>
                </a:solidFill>
                <a:latin typeface="Arial Unicode MS"/>
                <a:ea typeface="Arial Unicode MS"/>
                <a:cs typeface="Arial Unicode MS"/>
              </a:rPr>
              <a:t>잔기 이름</a:t>
            </a:r>
          </a:p>
          <a:p>
            <a:pPr algn="l">
              <a:lnSpc>
                <a:spcPct val="105000"/>
              </a:lnSpc>
            </a:pPr>
            <a:r>
              <a:rPr sz="1700" b="0" lang="ko-KR">
                <a:solidFill>
                  <a:srgbClr val="183342"/>
                </a:solidFill>
                <a:latin typeface="Arial Unicode MS"/>
                <a:ea typeface="Arial Unicode MS"/>
                <a:cs typeface="Arial Unicode MS"/>
              </a:rPr>
              <a:t>저자 사슬 표지</a:t>
            </a:r>
          </a:p>
          <a:p>
            <a:pPr algn="l">
              <a:lnSpc>
                <a:spcPct val="105000"/>
              </a:lnSpc>
            </a:pPr>
            <a:r>
              <a:rPr sz="1700" b="0" lang="ko-KR">
                <a:solidFill>
                  <a:srgbClr val="183342"/>
                </a:solidFill>
                <a:latin typeface="Arial Unicode MS"/>
                <a:ea typeface="Arial Unicode MS"/>
                <a:cs typeface="Arial Unicode MS"/>
              </a:rPr>
              <a:t>저자 잔기 번호</a:t>
            </a:r>
          </a:p>
          <a:p>
            <a:pPr algn="l">
              <a:lnSpc>
                <a:spcPct val="105000"/>
              </a:lnSpc>
            </a:pPr>
            <a:r>
              <a:rPr sz="1700" b="0" lang="ko-KR">
                <a:solidFill>
                  <a:srgbClr val="183342"/>
                </a:solidFill>
                <a:latin typeface="Arial Unicode MS"/>
                <a:ea typeface="Arial Unicode MS"/>
                <a:cs typeface="Arial Unicode MS"/>
              </a:rPr>
              <a:t>x 좌표 (Å)</a:t>
            </a:r>
          </a:p>
          <a:p>
            <a:pPr algn="l">
              <a:lnSpc>
                <a:spcPct val="105000"/>
              </a:lnSpc>
            </a:pPr>
            <a:r>
              <a:rPr sz="1700" b="0" lang="ko-KR">
                <a:solidFill>
                  <a:srgbClr val="183342"/>
                </a:solidFill>
                <a:latin typeface="Arial Unicode MS"/>
                <a:ea typeface="Arial Unicode MS"/>
                <a:cs typeface="Arial Unicode MS"/>
              </a:rPr>
              <a:t>y 좌표 (Å)</a:t>
            </a:r>
          </a:p>
          <a:p>
            <a:pPr algn="l">
              <a:lnSpc>
                <a:spcPct val="105000"/>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ct val="105000"/>
              </a:lnSpc>
            </a:pPr>
            <a:r>
              <a:rPr sz="1700" b="0" lang="ko-KR">
                <a:solidFill>
                  <a:srgbClr val="183342"/>
                </a:solidFill>
                <a:latin typeface="Courier New"/>
                <a:ea typeface="Arial Unicode MS"/>
                <a:cs typeface="Arial Unicode MS"/>
              </a:rPr>
              <a:t>ATOM 1 N N  GLU A 697 -68.144 -7.449 -50.184</a:t>
            </a:r>
          </a:p>
          <a:p>
            <a:pPr algn="l">
              <a:lnSpc>
                <a:spcPct val="105000"/>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이 결정구조에서</a:t>
                      </a:r>
                    </a:p>
                    <a:p>
                      <a:pPr>
                        <a:lnSpc>
                          <a:spcPct val="108000"/>
                        </a:lnSpc>
                      </a:pPr>
                      <a:r>
                        <a:rPr sz="2000" b="0" lang="ko-KR">
                          <a:solidFill>
                            <a:srgbClr val="183342"/>
                          </a:solidFill>
                          <a:latin typeface="Arial Unicode MS"/>
                          <a:ea typeface="Arial Unicode MS"/>
                          <a:cs typeface="Arial Unicode MS"/>
                        </a:rPr>
                        <a:t>원자 위치의 퍼짐을 나타내는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서열의 위치 / 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잔기 번호는 auth 기준을 사용합니다.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135분에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
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이 강의에서는 생물학에서 익숙한 공통 조상과 유전자 중복을 출발점으로 삼습니다. 먼저 ortholog와 paralog를 사건에 따라 구분하고, 실제 파일처럼 보이는 짧은 정렬을 직접 읽겠습니다. 이후에는 MSA의 어떤 정보를 바꾸면 구조 예측 결과가 달라질 수 있는지 살펴봅니다. 교육용 가상 서열과 가상 계통수는 개념 학습용이며 실제 단백질이나 실제 진화 역사를 나타내지 않습니다. 이번 개정에서는 설명 직후 활동지를 바로 풉니다. 활동지 1쪽은 진화 관계, 2쪽은 A3M, 3쪽은 coevolution, 4쪽은 입력 조작, 5쪽은 lDDT 계산과 pLDDT 학습, 6쪽은 pLDDT·PAE, 7쪽은 결과 해석입니다. 실습용 가상 자료와 실제 예측 입력을 구분합니다.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1–3분 (2분)</a:t>
            </a:r>
          </a:p>
          <a:p/>
          <a:p>
            <a:r>
              <a:t>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3–5분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5–7분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7–9분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9–11분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11–12분 (1분)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12–14분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14–18분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18–19분 (1분)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19–21분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21–24분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24–26분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26–27분 (1분)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27–30분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30–34분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34–37분 (3분)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37–40분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40–42분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42–44분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위치의 선택은 다른 위치에 달릴 수 있다</a:t>
            </a:r>
          </a:p>
          <a:p>
            <a:r>
              <a:t>시간: 44–46분 (2분)</a:t>
            </a:r>
          </a:p>
          <a:p/>
          <a:p>
            <a:r>
              <a:t>D는 aspartate, K는 lysine이며 보통의 생리적 pH에서 측쇄가 각각 음전하와 양전하를 띤다는 단순화를 사용합니다. 실제 전하와 안정성은 환경, 거리, 배향, 용매, 다른 잔기 등에 의존하므로 이 표를 모든 단백질의 규칙으로 설명하지 않습니다. 한 위치의 치환 효과가 다른 위치의 상태에 달라지는 생각이 epistasis입니다. 보상적 치환은 한 변화의 영향을 다른 변화가 완화하는 가능한 설명입니다. 그러나 D–K와 K–D 두 조합을 나란히 보았다고 D–K에서 K–K를 거쳐 K–D로 진화했다고 읽을 수 없습니다. 화살표나 시간 순서를 그리지 않은 이유를 말해 줍니다. 이 장은 물리적 직관을 위한 가상 모형이며 다음 MSA 빈도 예제에 실제 접촉이나 보상 치환을 부여하지 않습니다. 접촉하는 잔기들이 서로 맞는 크기나 전하 조합을 유지하면 단백질의 접힘과 기능을 보존하는 데 기여할 수 있습니다. 따라서 서로 먼 서열 위치 사이의 조합 정보가 3차원 공간의 근접성을 추정하는 단서가 됩니다. 공진화가 두 돌연변이의 동시 발생을 뜻하지는 않습니다.</a:t>
            </a:r>
          </a:p>
          <a:p/>
          <a:p>
            <a:r>
              <a:t>출처</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46–49분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49–52분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52–62분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62–65분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65–67분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67–70분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70–72분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72–75분 (3분)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Depth·clustering·masking은 무엇을 바꾸나?</a:t>
            </a:r>
          </a:p>
          <a:p>
            <a:r>
              <a:t>시간: 75–77분 (2분)</a:t>
            </a:r>
          </a:p>
          <a:p/>
          <a:p>
            <a:r>
              <a:t>앞의 혼합 예제로 돌아가 A와 B를 함께 넣을 때와 A만 넣을 때는 관찰하는 분포 자체가 달라짐을 상기시킵니다. 실제 MSA clustering은 주어진 ortholog/paralog 이름을 그대로 읽는 절차가 아니며 결과 군집이 유전자 중복 계열이나 물리적 구조 상태라는 보장도 없습니다. Depth를 줄이면 드문 조합을 잃고 표집 변동이 커질 수 있습니다. Masking은 해당 위치의 정보와 다른 위치와의 조합 정보를 일부 가리지만 특정 접촉 하나만 정밀하게 끄는 조작은 아닙니다. 이런 조작으로 다른 구조 후보가 보고된 방법들을 다음 절에서 배웁니다. 원래 학습된 가중치를 그대로 쓰는 입력 조작이며, 시도할 때마다 정확도가 향상되거나 원하는 상태가 얻어진다는 뜻은 아닙니다. 예측된 후보의 수를 실제 상태의 확률이나 전이 경로로 해석하지 않습니다.</a:t>
            </a:r>
          </a:p>
          <a:p/>
          <a:p>
            <a:r>
              <a:t>출처</a:t>
            </a:r>
          </a:p>
          <a:p>
            <a:r>
              <a:t>[subsampling_paper] del Alamo et al. (2022), Sampling alternative conformational states of transporters and receptors with AlphaFold2</a:t>
            </a:r>
          </a:p>
          <a:p>
            <a:r>
              <a:t>https://elifesciences.org/articles/75751</a:t>
            </a:r>
          </a:p>
          <a:p>
            <a:r>
              <a:t>[afcluster_paper] Wayment-Steele et al. (2024), Predicting multiple conformations via sequence clustering and AlphaFold2</a:t>
            </a:r>
          </a:p>
          <a:p>
            <a:r>
              <a:t>https://www.nature.com/articles/s41586-023-06832-9</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77–80분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서열에서 예측 구조까지</a:t>
            </a:r>
          </a:p>
          <a:p>
            <a:r>
              <a:t>시간: 80–81분 (1분)</a:t>
            </a:r>
          </a:p>
          <a:p/>
          <a:p>
            <a:r>
              <a:t>1강에서 본 PDB/mmCIF와 연결한다. FASTA는 입력 서열, A3M은 정렬, PDB/mmCIF는 좌표를 담는다. 구조 예측기는 MSA를 3차원 사진처럼 읽지 않는다. 각 위치의 보존과 상관관계, 학습한 구조적 규칙을 함께 사용한다. Template은 기존 구조에서 얻는 추가 정보이며 MSA와 구분한다. 모델이 반환한 파일은 실험에서 직접 측정한 좌표가 아니다. 학생에게 어떤 파일에 원자 좌표가 들어 있는지 질문한다.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81–82분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82–83분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83–84분 (1분)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84–86분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86–88분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88–90분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서열 줄만 복사해도 됩니다. 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90–92분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92–94분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기준 구조의 주변 거리가 얼마나 보존되었나?</a:t>
            </a:r>
          </a:p>
          <a:p>
            <a:r>
              <a:t>시간: 94–96분 (2분)</a:t>
            </a:r>
          </a:p>
          <a:p/>
          <a:p>
            <a:r>
              <a:t>lDDT는 구조 예측 전부터 쓰던 정확도 평가 지표이며 Mariani 등의 2013년 논문이 정의와 검증을 제시했습니다. 이름의 맨 앞 l은 local입니다. 중심 잔기 주변의 3차원 이웃을 평가하며 서열에서 앞뒤 몇 잔기만 고르는 뜻이 아닙니다. 기준 구조의 거리가 15 Å 미만인 쌍을 고른 뒤 같은 쌍의 예측 거리를 비교합니다. 15 Å는 이웃 선택 반경이고 0.5·1·2·4 Å는 거리 오차의 네 허용치입니다. 모든 좌표를 같이 회전·이동해도 내부 거리는 유지되므로 전체 구조의 중첩이 필요 없습니다. 그러나 같은 잔기·원자를 대응시켜야 합니다. 원 논문의 all-atom 평가와 아래 AF2의 Cα-only 계산을 구별합니다. AF2 구현은 자기 자신과 기준 좌표가 없는 위치를 제외하고 원 lDDT의 stereochemistry 보정은 생략합니다. 이 설명은 AF2/ColabFold 기준이며 AF3의 원자별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계산 · 네 이웃의 거리 오차를 네 번 채점</a:t>
            </a:r>
          </a:p>
          <a:p>
            <a:r>
              <a:t>시간: 96–98분 (2분)</a:t>
            </a:r>
          </a:p>
          <a:p/>
          <a:p>
            <a:r>
              <a:t>실제 단백질 좌표에서 얻은 값이 아니라 중심 잔기 i와 네 이웃 사이 거리를 가정한 계산 예입니다. 기준 거리 4·7·10·14 Å는 모두 15 Å 미만입니다. 예측에서 d가 17 Å로 멀어져도 기준에서 선택한 이웃이므로 계산에서 빼지 않습니다. 오차 0.2는 네 기준, 0.8은 세 기준, 1.5는 두 기준, 3.0은 한 기준을 통과합니다. 총 16개 검사 중 10개를 통과하므로 0.625입니다. 각 허용치별 보존 비율 1/4·2/4·3/4·4/4를 평균해도 같습니다. 62.5는 lDDT의 100점 표시이며 pLDDT가 아닙니다. 이 값은 중심 잔기 하나의 점수입니다. 전체 구조의 lDDT를 모든 잔기별 점수의 단순평균이라고 일반화하지 않습니다. 각 잔기에 속한 이웃 수가 다를 수 있기 때문입니다. 임계값에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예측 거리가 더 멀어지면?</a:t>
            </a:r>
          </a:p>
          <a:p>
            <a:r>
              <a:t>시간: 98–99분 (1분)</a:t>
            </a:r>
          </a:p>
          <a:p/>
          <a:p>
            <a:r>
              <a:t>30초 구두 또는 손계산, 30초 해설로 진행합니다. d의 절대 거리 오차는 5 Å여서 네 검사 모두 실패합니다. 따라서 (4+3+2+0)/16=9/16=0.5625, 100점 척도 56.25입니다. 이웃 선택은 기준 구조에서 하므로 기준 거리 14 Å인 d는 계속 포함합니다. 계산에서 빼면 틀린 거리를 벌점 없이 제거하는 오류가 됩니다. 활동지 5쪽의 기본 표는 앞 슬라이드를 보며 채우고 이 시간에는 변경 문항만 풉니다. pLDDT 확률 계산과 정답 구조 필요 여부 문항은 다음 학습·추론 설명 뒤 구두 확인 또는 수업 후 확장에 사용합니다.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학습 정답으로</a:t>
            </a:r>
          </a:p>
          <a:p>
            <a:r>
              <a:t>시간: 99–101분 (2분)</a:t>
            </a:r>
          </a:p>
          <a:p/>
          <a:p>
            <a:r>
              <a:t>lDDT는 기준 구조가 있을 때만 채점할 수 있습니다. 새 서열은 그 기준 구조를 모르는 경우가 많으므로, AlphaFold2는 잔기별 lDDT-Cα 자체를 예상하는 보조 출력인 pLDDT를 학습합니다. p는 predicted를 뜻합니다. 구조 모듈의 잔기별 내부 표현을 작은 신경망에 넣어 50개 구간의 logits를 출력합니다. 학습 중 모델이 만든 Cα 좌표와 학습용 기준 좌표를 비교하여 정답 점수를 계산하고, 점수에 해당하는 구간을 cross-entropy로 지도합니다. 0.625라면 폭 0.02인 [0.62,0.64) 구간입니다. 기준 좌표를 신뢰도 head 입력으로 주는 것이 아니라 손실의 정답을 만드는 데 사용합니다. 정답 점수는 현재 예측 좌표에 따라 달라지며 pLDDT head만을 위한 수작업 confidence 라벨을 사람이 달지 않습니다. 코드에서는 정답 점수에 stop_gradient를 적용합니다. 여러 seed의 구조가 서로 얼마나 닮았는지를 계산하여 점수를 만드는 방식도 아닙니다. 여기서는 AF2의 학습 구조를 설명하며 학생이 ColabFold에서 재학습한다는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서열에서는 정답 없이 pLDDT를 출력한다</a:t>
            </a:r>
          </a:p>
          <a:p>
            <a:r>
              <a:t>시간: 101–103분 (2분)</a:t>
            </a:r>
          </a:p>
          <a:p/>
          <a:p>
            <a:r>
              <a:t>pLDDT는 predicted local Distance Difference Test입니다. 추론 시 새 표적의 정답 구조는 입력하지 않고, 이미 학습된 모델의 내부 표현으로 신뢰도 분포를 출력합니다. softmax는 50개의 logits를 합이 1인 확률로 바꿉니다. 실제 AF2의 구간 중심은 0.01,0.03,…,0.99입니다. 각 중심에 예측 확률을 곱해 더한 기대값에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확률분포는 점수 구간에 대한 것이며 pLDDT를 곧바로 구조 정답의 확률로 읽지 않습니다. 실제 lDDT는 나중에 기준 구조가 확보되면 따로 계산하고 pLDDT와 비교할 수 있습니다. AF2/ColabFold는 잔기별 점수이며 AF3의 원자별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103–105분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105–107분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107–109분 (2분)</a:t>
            </a:r>
          </a:p>
          <a:p/>
          <a:p>
            <a:r>
              <a:t>1분 개인 풀이 뒤1분 해설합니다.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 학생 활동지에는 정답을 적지 않았으며 이 노트만 교사용 해설입니다.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109–112분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112–114분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114–116분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116–119분 (3분)</a:t>
            </a:r>
          </a:p>
          <a:p/>
          <a:p>
            <a:r>
              <a:t>2분 짝 토의와1분 해설로 진행합니다.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119–129분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129–131분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131–132분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132–134분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134–137분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137–138분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138–140분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140–143분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143–145분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145–148분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148–151분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151–152분 (1분)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152–155분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155–156분 (1분)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156–157분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157–158분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158–160분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160–163분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163–166분 (3분)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166–168분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168–169분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169–170분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170–171분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171–176분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Ortholog·paralog와 공진화(coevolution)를 구조 예측의 단서로 읽기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79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79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79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79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79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79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79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79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79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79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79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79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79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79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79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79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79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79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79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79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위치의 선택은 다른 위치에 달릴 수 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2743200"/>
                <a:gridCol w="5486400"/>
              </a:tblGrid>
              <a:tr h="548640">
                <a:tc>
                  <a:txBody>
                    <a:bodyPr/>
                    <a:lstStyle/>
                    <a:p>
                      <a:pPr>
                        <a:lnSpc>
                          <a:spcPct val="110000"/>
                        </a:lnSpc>
                      </a:pPr>
                      <a:r>
                        <a:rPr sz="1900" b="1" lang="ko-KR">
                          <a:solidFill>
                            <a:srgbClr val="FFFFFF"/>
                          </a:solidFill>
                          <a:latin typeface="Arial Unicode MS"/>
                          <a:ea typeface="Arial Unicode MS"/>
                        </a:rPr>
                        <a:t>두 위치의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전하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모형의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양 / 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D–D 또는 K–K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음 또는 양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가상 모형에서는 덜 유리하다고 가정</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가까운 두 위치에서 반대 전하의 조합이 유리한 가상 상황</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D–K와 K–D는 조합 예시; 실제 치환 순서·동시 발생·접촉의 증거가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79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79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79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24 / 79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79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79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79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79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79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 정보를 바꾸어 구조 후보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Depth·clustering·masking은 무엇을 바꾸나?</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017520"/>
                <a:gridCol w="7955279"/>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공변이 관점에서 달라지는 정보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줄이기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조합을 추정할 행 수와 표집된 다양성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 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선택된 서열 계열과 그 안의 조합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특정 위치의 잔기 및 그 위치가 참여하는 조합 정보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query에도 제공되는 잔기 분포·조합·계열 구성이 달라짐</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다른 구조가 나와도 생물학적 상태·존재 비율은 별도 검증</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79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79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서열에서 예측 구조까지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 구조를 알고 싶은 단백질의 아미노산 서열</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진화적으로 관련된 서열을 정렬한 입력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모델: 서열·MSA·선택한 추가 정보를 함께 처리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원자 좌표와 모델이 추정한 신뢰도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79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79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79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79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38번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79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79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서열만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79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79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79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lDDT · 기준 구조의 주변 거리가 얼마나 보존되었나?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기준 구조와 비교하는 정확도 점수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원자 단위 평가. 여기서는 AF2의 잔기별 lDDT-Cα를 사용</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기준 구조에서 중심 Cα의 15 Å 미만 이웃을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|예측 거리 − 기준 거리|를 0.5·1·2·4 Å로 검사</a:t>
            </a:r>
          </a:p>
        </p:txBody>
      </p:sp>
      <p:sp>
        <p:nvSpPr>
          <p:cNvPr id="8" name="TextBox 7"/>
          <p:cNvSpPr txBox="1"/>
          <p:nvPr/>
        </p:nvSpPr>
        <p:spPr>
          <a:xfrm>
            <a:off x="685800" y="4143756"/>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구조를 겹칠 필요는 없지만, 대응 잔기와 기준 좌표는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79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직접 계산 · 네 이웃의 거리 오차를 네 번 채점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잔기 i의 가상 이웃 4개만 사용. 오차 &lt; 0.5, &lt; 1, &lt; 2, &lt; 4 Å를 각각 검사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79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예측 거리가 더 멀어지면?</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마지막 이웃 d의 예측 거리만 17 → 19 Å로 변경</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거리는 여전히 14 Å. 나머지 세 이웃은 같습니다.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d는 네 검사 중 몇 개를 통과하나요? 새 lDDTᵢ는?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예측 거리가 15 Å를 넘으면 이 이웃을 빼도 될까요?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79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학습 정답으로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학습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구조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좌표 + 잔기별 내부 표현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좌표 + 학습용 기준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잔기별 lDDT-Cα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신뢰도 학습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내부 표현 → 신뢰도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구간에 대한 분포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구간이 학습 정답</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분포가 정답 구간을 맞히도록 학습합니다(cross-entropy).</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좌표는 채점·지도에 사용하며, 신뢰도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79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새 서열에서는 정답 없이 pLDDT를 출력한다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구간 중심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 잔기별 50 logits → softmax 확률 → pLDDTᵢ = 100 × Σₖ pᵢₖcₖ</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 50개 중 세 구간에만 확률을 둔 단순화 → 100 × 0.810 = 81점</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81은 예측한 lDDT 점수이며 ‘정답 확률 81%’도 ‘오차 81 Å’도 아닙니다.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79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79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79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79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79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79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79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79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53 / 79</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79</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79</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79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79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79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79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79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79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79</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79</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79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79</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79</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79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79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79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79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79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79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79</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79</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79</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79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79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79</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79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
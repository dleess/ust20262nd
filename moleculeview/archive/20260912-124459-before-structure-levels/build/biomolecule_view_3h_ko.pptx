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0–1분 (1분)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1–3분 (2분)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3–5분 (2분)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5–6분 (1분)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9–12분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12–14분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14–17분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17–20분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29–31분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31–34분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34–37분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37–39분 (2분)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 다음 여섯 장에서 기본 20종을 하나씩 살펴봅니다. 이름·약어·곁사슬·성질을 연결하고 이 표의 분류는 겹칠 수 있음을 확인합니다.</a:t>
            </a:r>
          </a:p>
          <a:p/>
          <a:p>
            <a:r>
              <a:t>추가 설명</a:t>
            </a:r>
          </a:p>
          <a:p>
            <a:r>
              <a:t>기본 20종을 모두 살펴보며 이름·기호와 곁사슬 특징을 연결한다.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39–42분 (3분)</a:t>
            </a:r>
          </a:p>
          <a:p/>
          <a:p>
            <a:r>
              <a:t>세 이름을 한글과 영어로 읽고, Gly/G처럼 세 글자와 한 글자가 같은 아미노산을 뜻함을 확인합니다. PDB에서는 세 글자 코드를 GLY, ALA, VAL처럼 대문자로 표시할 수 있습니다. 식의 맨 왼쪽 선은 Cα와의 연결이며 주사슬은 생략했습니다. Gly는 R=H여서 탄소를 포함한 별도 곁사슬이 없고, Cα에 수소 두 개가 붙으므로 일반적인 입체중심을 갖지 않습니다. 크기가 작아 다른 잔기가 취하기 어려운 주사슬 자세도 가능하지만, 특정 Gly가 항상 많이 움직인다고 단정하지 않습니다. Gly를 강한 소수성 접촉 잔기로 설명하지 않습니다. Ala는 작은 메틸기이고 Val은 Cα 바로 옆에서 두 메틸기로 갈라져 공간을 더 차지합니다. 예시 질문: Ala를 Val로 바꾸면 어떤 구조 정보를 다시 보아야 할까요? 기대 답: 주변 공간과 부딪침, 물과의 관계를 확인해야 하며 결합이 강해진다고 바로 말할 수 없습니다. 이 여섯 장은 널리 쓰이는 기본 20종을 다룹니다. 자연계의 아미노산이 20개뿐이라는 뜻은 아닙니다. 특수한 번역 과정으로 들어가는 selenocysteine(Sec/U), pyrrolysine(Pyl/O)와 번역 후 변형 잔기도 존재합니다.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RCSB PDB-101: Primary Sequences and amino acid codes</a:t>
            </a:r>
          </a:p>
          <a:p>
            <a:r>
              <a:t>https://pdb101.rcsb.org/learn/guide-to-understanding-pdb-data/primary-sequences</a:t>
            </a:r>
          </a:p>
          <a:p>
            <a:r>
              <a:t>RCSB PDB-101: Selenocysteine Synthase; pyrrolysine biosynthesis study</a:t>
            </a:r>
          </a:p>
          <a:p>
            <a:r>
              <a:t>https://pdb101.rcsb.org/motm/104</a:t>
            </a:r>
          </a:p>
          <a:p>
            <a:r>
              <a:t>Selenocysteine의 특수 번역과 Sec/U. Pyrrolysine의 합성과 특수 번역: https://pubmed.ncbi.nlm.nih.gov/21455182/ . 기본 20종 외 추가 아미노산의 범위를 설명하는 보충 출처.</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42–45분 (3분)</a:t>
            </a:r>
          </a:p>
          <a:p/>
          <a:p>
            <a:r>
              <a:t>Leu와 Ile는 탄소와 수소의 수는 같지만 연결 순서와 가지 위치가 다른 이성질체입니다. 따라서 두 곁사슬을 같은 크기의 덩어리로 취급하지 말고 실제 방향과 주변 공간을 비교합니다. 뒤의 Leu718 예시는 약물 주변 비극성 접촉을 읽는 사례입니다. Pro의 곁사슬은 Cα에서 출발해 세 CH₂를 거쳐 주사슬 N에 되돌아가며 고리를 만듭니다. 고리는 주사슬의 회전을 제한합니다. 단백질 사슬 내부에서 Pro의 펩타이드 N에는 H가 없으므로 그 N은 수소결합 주개가 되지 않습니다. 자유 Pro나 N말단 Pro에는 이 설명을 그대로 적용하지 않습니다. Pro의 주사슬 C=O 산소는 여전히 수소결합 받개가 될 수 있습니다. 펩타이드결합을 배울 때 N이 이전 잔기의 탄소와 연결되는 점을 다시 확인합니다. Met의 황은 두 탄소 사이의 thioether이고 Cys의 thiol(SH)과 다릅니다. Met에는 Cys와 같은 SH가 없으므로 통상적인 Cys형 이황화결합으로 설명하지 않습니다. Met의 곁사슬이 대체로 비극성이라는 것과 Met793의 주사슬이 수소결합에 참여한다는 것은 양립합니다.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Oven, Ganguly &amp; Zondlo (2026): Proline/sidechain C–H/O interactions stabilize cis-proline</a:t>
            </a:r>
          </a:p>
          <a:p>
            <a:r>
              <a:t>https://doi.org/10.1039/d5cp03423j</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45–48분 (3분)</a:t>
            </a:r>
          </a:p>
          <a:p/>
          <a:p>
            <a:r>
              <a:t>Phe의 C₆H₅는 벤젠 고리에서 수소 하나가 CH₂ 연결로 바뀐 phenyl 부분을 뜻합니다. Tyr는 Phe와 유사한 고리에서 CH₂ 연결점의 반대편(para 위치)에 OH가 붙어 있습니다. 타이로신은 티로신이라고도 표기합니다. Tyr는 방향족이면서 극성 OH를 가지므로 방향족과 극성을 서로 배타적인 분류로 가르치지 않습니다. 중성 부근 pH에서 Tyr의 OH는 보통 전하가 없지만 pH와 국소 환경에 따라 해리될 수 있습니다. Trp는 indole이라는 두 개의 융합 고리를 가지며 CH₂는 인돌의 3번 위치에 연결됩니다. 인돌의 N–H는 수소결합 주개(donor)이지만 일반적인 수소결합 받개(acceptor)로 세지 않습니다. 질소가 보이면 모두 받개라는 규칙을 만들지 않습니다. 방향족 고리는 보통 평면에 가깝지만 이 정보만으로 두 잔기의 상호작용이나 결합 세기를 결정할 수 없습니다. His의 imidazole도 방향족이며 뒤에서 전하의 관점으로 따로 묶어 봅니다.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Vetokhina et al. (2013): Spectroscopy and photophysics of bifunctional proton donor-acceptor indole derivatives</a:t>
            </a:r>
          </a:p>
          <a:p>
            <a:r>
              <a:t>https://doi.org/10.1021/jp402767x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48–51분 (3분)</a:t>
            </a:r>
          </a:p>
          <a:p/>
          <a:p>
            <a:r>
              <a:t>Ser와 Thr의 OH는 산소와 수소가 있는 극성 부분이며 물이나 다른 원자와 수소결합할 수 있습니다. Thr는 같은 OH를 가지면서 메틸 가지도 있어 Ser보다 더 큰 곁사슬입니다. 이 표의 전하 0은 곁사슬의 순전하가 0이라는 뜻이며 비극성이라는 뜻이 아닙니다. Cys는 산소 대신 황을 가진 thiol을 갖고 SH의 해리나 산화 상태가 주변 환경에 따라 달라질 수 있습니다. 두 Cys가 적절한 산화 조건에서 반응하면 S–S 이황화결합을 형성할 수 있습니다. 두 잔기가 화면에서 가깝다는 관찰만으로 이황화결합이 존재한다고 단정하지 않고 실제 연결 및 좌표 정보를 확인합니다. SH가 S⁻로 해리된 thiolate 상태도 있을 수 있으므로 Cys를 항상 전하 0으로 고정하지 않습니다. Met의 S는 SH가 아닌 thioether라는 앞 장의 차이를 다시 확인합니다. Ser, Thr, Tyr의 인산화처럼 번역 후 변형이 일어나면 기본 20종 표와 다른 전하·구조가 나타날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51–54분 (3분)</a:t>
            </a:r>
          </a:p>
          <a:p/>
          <a:p>
            <a:r>
              <a:t>Asn과 Gln의 말단은 아마이드입니다. C=O 산소는 수소결합 받개, N–H는 주개가 될 수 있습니다. 아마이드 질소 자체는 일반적인 수소결합 받개로 세지 않습니다. Gln은 Asn보다 CH₂ 하나가 더 있어 작용기가 도달하는 위치와 가능한 자세가 다릅니다. Asp와 Glu는 카복실산 곁사슬을 가지며 중성 부근 pH에서 보통 COO⁻로 존재합니다. 이때 이름은 aspartate, glutamate라고도 부릅니다. Asp와 Asn은 같은 종류의 아미노산을 달리 쓴 약어가 아니라 서로 다른 잔기입니다. Gln과 Glu도 마찬가지입니다. +와 −의 근접은 전기적 상호작용을 살펴볼 단서이지만 물, 차폐, 거리와 방향을 고려해야 합니다. 단백질 내부 환경에서 pKa가 바뀔 수 있어 모든 Asp와 Glu가 항상 −1이라고 고정하지 않습니다. 예시 질문: Gln의 말단을 Glu로 바꾸면 무엇을 다시 확인해야 할까요? 기대 답: 곁사슬 전하와 수소결합 주개·받개, 상대 분자의 위치를 다시 살핀다.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EMBL-EBI: Ionisation and pKa values</a:t>
            </a:r>
          </a:p>
          <a:p>
            <a:r>
              <a:t>https://www.ebi.ac.uk/training/online/courses/foundations-protein-structure/fundamentals-of-protein-composition/the-building-blocks-amino-acids/ionisation-and-pka-values/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54–57분 (3분)</a:t>
            </a:r>
          </a:p>
          <a:p/>
          <a:p>
            <a:r>
              <a:t>라이신은 리신이라고도 표기합니다. Lys는 네 CH₂로 이루어진 긴 사슬 끝에 NH₃⁺를 가지며 단백질 안에서 그 방향과 주변 음전하를 함께 확인합니다. 양성자화된 NH₃⁺는 수소결합 주개이며 일반적인 받개로 세지 않습니다. Arg의 말단은 guanidinium이고 총 전하는 보통 +1입니다. 그림의 C(=NH₂⁺)—NH₂ 표기는 원자 연결을 보여 주는 한 공명식이며 실제 양전하는 구아니디늄 부분에 퍼져 있습니다. 전하가 질소 하나에만 고정되었다고 설명하지 않습니다. His의 imidazole은 질소 두 개를 가진 방향족 고리입니다. 중성 형태와 양성자화된 +1 형태가 있고 수소결합 주개·받개 역할도 그 상태에 따라 달라집니다. His를 항상 양전하라고 외우지 않게 합니다. pH와 단백질 환경에 따라 pKa가 달라질 수 있으므로 한 숫자를 모든 His에 적용하지 않습니다. 여섯 장에 기본 20종이 모두 등장했습니다. 이름 암기보다 곁사슬에서 작은 부피, 가지, 고리, O·N·S와 전하를 찾아 구조 해석에 사용하는 것을 확인합니다. Sec는 selenocysteine(셀레노시스테인), Pyl은 pyrrolysine(피롤라이신)이며 특정 번역 체계를 통해 포함되는 추가 아미노산입니다. PDB에는 변형 잔기도 별도 코드로 기록될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Hansen &amp; Kay (2014): Measurement of histidine pKa values and tautomer populations in invisible protein states</a:t>
            </a:r>
          </a:p>
          <a:p>
            <a:r>
              <a:t>https://doi.org/10.1073/pnas.1400577111</a:t>
            </a:r>
          </a:p>
          <a:p>
            <a:r>
              <a:t>RCSB PDB-101: Primary Sequences and amino acid codes</a:t>
            </a:r>
          </a:p>
          <a:p>
            <a:r>
              <a:t>https://pdb101.rcsb.org/learn/guide-to-understanding-pdb-data/primary-sequences</a:t>
            </a:r>
          </a:p>
          <a:p>
            <a:r>
              <a:t>RCSB PDB-101: Selenocysteine Synthase; pyrrolysine biosynthesis study</a:t>
            </a:r>
          </a:p>
          <a:p>
            <a:r>
              <a:t>https://pdb101.rcsb.org/motm/104</a:t>
            </a:r>
          </a:p>
          <a:p>
            <a:r>
              <a:t>Selenocysteine의 특수 번역과 Sec/U. Pyrrolysine의 합성과 특수 번역: https://pubmed.ncbi.nlm.nih.gov/21455182/ . 기본 20종 외 추가 아미노산의 범위를 설명하는 보충 출처.</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57–59분 (2분)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59–62분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62–65분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65–67분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67–69분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69–71분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71–73분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73–76분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76–79분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79–81분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81–91분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91–94분 (3분)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94–96분 (2분)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96–98분 (2분)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100–102분 (2분)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102–106분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106–108분 (2분)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108–109분 (1분)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109–113분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113–117분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117–121분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121–126분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126–128분 (2분)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128–133분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133–143분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143–145분 (2분)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145–148분 (3분)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148–151분 (3분)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155–158분 (3분)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158–163분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163–170분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170–175분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175–177분 (2분)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177–179분 (2분)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179–180분 (1분)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0–81분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 · 아미노산 20종 · 구조 파일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81–91분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91–133분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133–143분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143–180분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작은 곁사슬과 가지 구조: Gly, Ala, Val</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기본 20종의 3글자·1글자 기호와 Cα에 연결된 곁사슬(R)을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글리신</a:t>
                      </a:r>
                    </a:p>
                    <a:p>
                      <a:pPr>
                        <a:lnSpc>
                          <a:spcPct val="108000"/>
                        </a:lnSpc>
                      </a:pPr>
                      <a:r>
                        <a:rPr sz="2000" b="0" lang="ko-KR">
                          <a:solidFill>
                            <a:srgbClr val="183342"/>
                          </a:solidFill>
                          <a:latin typeface="Arial Unicode MS"/>
                          <a:ea typeface="Arial Unicode MS"/>
                          <a:cs typeface="Arial Unicode MS"/>
                        </a:rPr>
                        <a:t>Glycine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Gly / G</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가장 작은 곁사슬</a:t>
                      </a:r>
                    </a:p>
                    <a:p>
                      <a:pPr>
                        <a:lnSpc>
                          <a:spcPct val="108000"/>
                        </a:lnSpc>
                      </a:pPr>
                      <a:r>
                        <a:rPr sz="2000" b="0" lang="ko-KR">
                          <a:solidFill>
                            <a:srgbClr val="183342"/>
                          </a:solidFill>
                          <a:latin typeface="Arial Unicode MS"/>
                          <a:ea typeface="Arial Unicode MS"/>
                          <a:cs typeface="Arial Unicode MS"/>
                        </a:rPr>
                        <a:t>주사슬이 취할 자세가 다양함</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알라닌</a:t>
                      </a:r>
                    </a:p>
                    <a:p>
                      <a:pPr>
                        <a:lnSpc>
                          <a:spcPct val="108000"/>
                        </a:lnSpc>
                      </a:pPr>
                      <a:r>
                        <a:rPr sz="2000" b="0" lang="ko-KR">
                          <a:solidFill>
                            <a:srgbClr val="183342"/>
                          </a:solidFill>
                          <a:latin typeface="Arial Unicode MS"/>
                          <a:ea typeface="Arial Unicode MS"/>
                          <a:cs typeface="Arial Unicode MS"/>
                        </a:rPr>
                        <a:t>Alanine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Ala / A</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작은 비극성 메틸기</a:t>
                      </a:r>
                    </a:p>
                    <a:p>
                      <a:pPr>
                        <a:lnSpc>
                          <a:spcPct val="108000"/>
                        </a:lnSpc>
                      </a:pPr>
                      <a:r>
                        <a:rPr sz="2000" b="0" lang="ko-KR">
                          <a:solidFill>
                            <a:srgbClr val="183342"/>
                          </a:solidFill>
                          <a:latin typeface="Arial Unicode MS"/>
                          <a:ea typeface="Arial Unicode MS"/>
                          <a:cs typeface="Arial Unicode MS"/>
                        </a:rPr>
                        <a:t>곁사슬이 차지하는 부피가 작음</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발린</a:t>
                      </a:r>
                    </a:p>
                    <a:p>
                      <a:pPr>
                        <a:lnSpc>
                          <a:spcPct val="108000"/>
                        </a:lnSpc>
                      </a:pPr>
                      <a:r>
                        <a:rPr sz="2000" b="0" lang="ko-KR">
                          <a:solidFill>
                            <a:srgbClr val="183342"/>
                          </a:solidFill>
                          <a:latin typeface="Arial Unicode MS"/>
                          <a:ea typeface="Arial Unicode MS"/>
                          <a:cs typeface="Arial Unicode MS"/>
                        </a:rPr>
                        <a:t>Valine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Val / V</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곁사슬</a:t>
                      </a:r>
                    </a:p>
                    <a:p>
                      <a:pPr>
                        <a:lnSpc>
                          <a:spcPct val="108000"/>
                        </a:lnSpc>
                      </a:pPr>
                      <a:r>
                        <a:rPr sz="2000" b="0" lang="ko-KR">
                          <a:solidFill>
                            <a:srgbClr val="183342"/>
                          </a:solidFill>
                          <a:latin typeface="Arial Unicode MS"/>
                          <a:ea typeface="Arial Unicode MS"/>
                          <a:cs typeface="Arial Unicode MS"/>
                        </a:rPr>
                        <a:t>소수성 접촉의 단서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크기와 가지의 위치가 다르면 같은 공간에서도 들어맞는 모양이 달라집니다.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AASEQ, AARARE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비극성 곁사슬의 모양: Leu, Ile, Pro, Met</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네 곁사슬은 대체로 비극성이지만 가지·고리·황의 연결이 다릅니다.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류신</a:t>
                      </a:r>
                    </a:p>
                    <a:p>
                      <a:pPr>
                        <a:lnSpc>
                          <a:spcPct val="108000"/>
                        </a:lnSpc>
                      </a:pPr>
                      <a:r>
                        <a:rPr sz="2000" b="0" lang="ko-KR">
                          <a:solidFill>
                            <a:srgbClr val="183342"/>
                          </a:solidFill>
                          <a:latin typeface="Arial Unicode MS"/>
                          <a:ea typeface="Arial Unicode MS"/>
                          <a:cs typeface="Arial Unicode MS"/>
                        </a:rPr>
                        <a:t>Leucine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비극성 가지 구조</a:t>
                      </a:r>
                    </a:p>
                    <a:p>
                      <a:pPr>
                        <a:lnSpc>
                          <a:spcPct val="108000"/>
                        </a:lnSpc>
                      </a:pPr>
                      <a:r>
                        <a:rPr sz="2000" b="0" lang="ko-KR">
                          <a:solidFill>
                            <a:srgbClr val="183342"/>
                          </a:solidFill>
                          <a:latin typeface="Arial Unicode MS"/>
                          <a:ea typeface="Arial Unicode MS"/>
                          <a:cs typeface="Arial Unicode MS"/>
                        </a:rPr>
                        <a:t>말단 쪽에서 두 갈래로 나뉨</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이소류신</a:t>
                      </a:r>
                    </a:p>
                    <a:p>
                      <a:pPr>
                        <a:lnSpc>
                          <a:spcPct val="108000"/>
                        </a:lnSpc>
                      </a:pPr>
                      <a:r>
                        <a:rPr sz="2000" b="0" lang="ko-KR">
                          <a:solidFill>
                            <a:srgbClr val="183342"/>
                          </a:solidFill>
                          <a:latin typeface="Arial Unicode MS"/>
                          <a:ea typeface="Arial Unicode MS"/>
                          <a:cs typeface="Arial Unicode MS"/>
                        </a:rPr>
                        <a:t>Isoleucine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Ile / I</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—CH(CH₃)—CH₂—CH₃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Leu와 같은 원자 수</a:t>
                      </a:r>
                    </a:p>
                    <a:p>
                      <a:pPr>
                        <a:lnSpc>
                          <a:spcPct val="108000"/>
                        </a:lnSpc>
                      </a:pPr>
                      <a:r>
                        <a:rPr sz="2000" b="0" lang="ko-KR">
                          <a:solidFill>
                            <a:srgbClr val="183342"/>
                          </a:solidFill>
                          <a:latin typeface="Arial Unicode MS"/>
                          <a:ea typeface="Arial Unicode MS"/>
                          <a:cs typeface="Arial Unicode MS"/>
                        </a:rPr>
                        <a:t>Cα 가까이에서 가지가 나뉨</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프롤린</a:t>
                      </a:r>
                    </a:p>
                    <a:p>
                      <a:pPr>
                        <a:lnSpc>
                          <a:spcPct val="108000"/>
                        </a:lnSpc>
                      </a:pPr>
                      <a:r>
                        <a:rPr sz="2000" b="0" lang="ko-KR">
                          <a:solidFill>
                            <a:srgbClr val="183342"/>
                          </a:solidFill>
                          <a:latin typeface="Arial Unicode MS"/>
                          <a:ea typeface="Arial Unicode MS"/>
                          <a:cs typeface="Arial Unicode MS"/>
                        </a:rPr>
                        <a:t>Proline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Pro / 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a:t>
                      </a:r>
                    </a:p>
                    <a:p>
                      <a:pPr>
                        <a:lnSpc>
                          <a:spcPct val="108000"/>
                        </a:lnSpc>
                      </a:pPr>
                      <a:r>
                        <a:rPr sz="2000" b="0" lang="ko-KR">
                          <a:solidFill>
                            <a:srgbClr val="183342"/>
                          </a:solidFill>
                          <a:latin typeface="Arial Unicode MS"/>
                          <a:ea typeface="Arial Unicode MS"/>
                          <a:cs typeface="Arial Unicode MS"/>
                        </a:rPr>
                        <a:t>끝이 주사슬 N에 연결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고리로 주사슬 회전이 제한됨</a:t>
                      </a:r>
                    </a:p>
                    <a:p>
                      <a:pPr>
                        <a:lnSpc>
                          <a:spcPct val="108000"/>
                        </a:lnSpc>
                      </a:pPr>
                      <a:r>
                        <a:rPr sz="2000" b="0" lang="ko-KR">
                          <a:solidFill>
                            <a:srgbClr val="183342"/>
                          </a:solidFill>
                          <a:latin typeface="Arial Unicode MS"/>
                          <a:ea typeface="Arial Unicode MS"/>
                          <a:cs typeface="Arial Unicode MS"/>
                        </a:rPr>
                        <a:t>사슬 내부 N에는 H가 없음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메티오닌</a:t>
                      </a:r>
                    </a:p>
                    <a:p>
                      <a:pPr>
                        <a:lnSpc>
                          <a:spcPct val="108000"/>
                        </a:lnSpc>
                      </a:pPr>
                      <a:r>
                        <a:rPr sz="2000" b="0" lang="ko-KR">
                          <a:solidFill>
                            <a:srgbClr val="183342"/>
                          </a:solidFill>
                          <a:latin typeface="Arial Unicode MS"/>
                          <a:ea typeface="Arial Unicode MS"/>
                          <a:cs typeface="Arial Unicode MS"/>
                        </a:rPr>
                        <a:t>Methionine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 / M</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—(CH₂)₂—S—CH₃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대체로 비극성인 황 포함 사슬</a:t>
                      </a:r>
                    </a:p>
                    <a:p>
                      <a:pPr>
                        <a:lnSpc>
                          <a:spcPct val="108000"/>
                        </a:lnSpc>
                      </a:pPr>
                      <a:r>
                        <a:rPr sz="2000" b="0" lang="ko-KR">
                          <a:solidFill>
                            <a:srgbClr val="183342"/>
                          </a:solidFill>
                          <a:latin typeface="Arial Unicode MS"/>
                          <a:ea typeface="Arial Unicode MS"/>
                          <a:cs typeface="Arial Unicode MS"/>
                        </a:rPr>
                        <a:t>S가 두 탄소 사이에 있음</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비극성 곁사슬을 가진 잔기도 주사슬의 O·N을 통해 상호작용할 수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AAPRO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방향족 고리: Phe, Tyr, Trp</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방향족은 고리의 성질입니다. 극성을 읽을 때는 OH와 N–H도 함께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페닐알라닌</a:t>
                      </a:r>
                    </a:p>
                    <a:p>
                      <a:pPr>
                        <a:lnSpc>
                          <a:spcPct val="108000"/>
                        </a:lnSpc>
                      </a:pPr>
                      <a:r>
                        <a:rPr sz="2000" b="0" lang="ko-KR">
                          <a:solidFill>
                            <a:srgbClr val="183342"/>
                          </a:solidFill>
                          <a:latin typeface="Arial Unicode MS"/>
                          <a:ea typeface="Arial Unicode MS"/>
                          <a:cs typeface="Arial Unicode MS"/>
                        </a:rPr>
                        <a:t>Phenylalanine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Phe / F</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—CH₂—C₆H₅</a:t>
                      </a:r>
                    </a:p>
                    <a:p>
                      <a:pPr>
                        <a:lnSpc>
                          <a:spcPct val="108000"/>
                        </a:lnSpc>
                      </a:pPr>
                      <a:r>
                        <a:rPr sz="2000" b="0" lang="ko-KR">
                          <a:solidFill>
                            <a:srgbClr val="183342"/>
                          </a:solidFill>
                          <a:latin typeface="Arial Unicode MS"/>
                          <a:ea typeface="Arial Unicode MS"/>
                          <a:cs typeface="Arial Unicode MS"/>
                        </a:rPr>
                        <a:t>벤젠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소수성 방향족 고리</a:t>
                      </a:r>
                    </a:p>
                    <a:p>
                      <a:pPr>
                        <a:lnSpc>
                          <a:spcPct val="108000"/>
                        </a:lnSpc>
                      </a:pPr>
                      <a:r>
                        <a:rPr sz="2000" b="0" lang="ko-KR">
                          <a:solidFill>
                            <a:srgbClr val="183342"/>
                          </a:solidFill>
                          <a:latin typeface="Arial Unicode MS"/>
                          <a:ea typeface="Arial Unicode MS"/>
                          <a:cs typeface="Arial Unicode MS"/>
                        </a:rPr>
                        <a:t>고리의 위치와 방향을 관찰</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타이로신</a:t>
                      </a:r>
                    </a:p>
                    <a:p>
                      <a:pPr>
                        <a:lnSpc>
                          <a:spcPct val="108000"/>
                        </a:lnSpc>
                      </a:pPr>
                      <a:r>
                        <a:rPr sz="2000" b="0" lang="ko-KR">
                          <a:solidFill>
                            <a:srgbClr val="183342"/>
                          </a:solidFill>
                          <a:latin typeface="Arial Unicode MS"/>
                          <a:ea typeface="Arial Unicode MS"/>
                          <a:cs typeface="Arial Unicode MS"/>
                        </a:rPr>
                        <a:t>Tyrosine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Tyr / Y</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—CH₂—C₆H₄—OH</a:t>
                      </a:r>
                    </a:p>
                    <a:p>
                      <a:pPr>
                        <a:lnSpc>
                          <a:spcPct val="108000"/>
                        </a:lnSpc>
                      </a:pPr>
                      <a:r>
                        <a:rPr sz="2000" b="0" lang="ko-KR">
                          <a:solidFill>
                            <a:srgbClr val="183342"/>
                          </a:solidFill>
                          <a:latin typeface="Arial Unicode MS"/>
                          <a:ea typeface="Arial Unicode MS"/>
                          <a:cs typeface="Arial Unicode MS"/>
                        </a:rPr>
                        <a:t>고리 반대편의 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방향족 고리와 극성 OH</a:t>
                      </a:r>
                    </a:p>
                    <a:p>
                      <a:pPr>
                        <a:lnSpc>
                          <a:spcPct val="108000"/>
                        </a:lnSpc>
                      </a:pPr>
                      <a:r>
                        <a:rPr sz="2000" b="0" lang="ko-KR">
                          <a:solidFill>
                            <a:srgbClr val="183342"/>
                          </a:solidFill>
                          <a:latin typeface="Arial Unicode MS"/>
                          <a:ea typeface="Arial Unicode MS"/>
                          <a:cs typeface="Arial Unicode MS"/>
                        </a:rPr>
                        <a:t>OH가 수소결합에 참여 가능</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트립토판</a:t>
                      </a:r>
                    </a:p>
                    <a:p>
                      <a:pPr>
                        <a:lnSpc>
                          <a:spcPct val="108000"/>
                        </a:lnSpc>
                      </a:pPr>
                      <a:r>
                        <a:rPr sz="2000" b="0" lang="ko-KR">
                          <a:solidFill>
                            <a:srgbClr val="183342"/>
                          </a:solidFill>
                          <a:latin typeface="Arial Unicode MS"/>
                          <a:ea typeface="Arial Unicode MS"/>
                          <a:cs typeface="Arial Unicode MS"/>
                        </a:rPr>
                        <a:t>Tryptophan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Trp / 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—CH₂—인돌 고리</a:t>
                      </a:r>
                    </a:p>
                    <a:p>
                      <a:pPr>
                        <a:lnSpc>
                          <a:spcPct val="108000"/>
                        </a:lnSpc>
                      </a:pPr>
                      <a:r>
                        <a:rPr sz="2000" b="0" lang="ko-KR">
                          <a:solidFill>
                            <a:srgbClr val="183342"/>
                          </a:solidFill>
                          <a:latin typeface="Arial Unicode MS"/>
                          <a:ea typeface="Arial Unicode MS"/>
                          <a:cs typeface="Arial Unicode MS"/>
                        </a:rPr>
                        <a:t>두 고리와 N–H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큰 방향족 곁사슬</a:t>
                      </a:r>
                    </a:p>
                    <a:p>
                      <a:pPr>
                        <a:lnSpc>
                          <a:spcPct val="108000"/>
                        </a:lnSpc>
                      </a:pPr>
                      <a:r>
                        <a:rPr sz="2000" b="0" lang="ko-KR">
                          <a:solidFill>
                            <a:srgbClr val="183342"/>
                          </a:solidFill>
                          <a:latin typeface="Arial Unicode MS"/>
                          <a:ea typeface="Arial Unicode MS"/>
                          <a:cs typeface="Arial Unicode MS"/>
                        </a:rPr>
                        <a:t>고리 N–H는 수소결합 주개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고리끼리 가까워도 위치와 방향, 주변 환경을 함께 보아야 합니다.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AATRP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OH와 SH 곁사슬: Ser, Thr, Cys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아래 식은 중성 부근 pH에서 흔한 곁사슬 형태를 나타냅니다.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세린</a:t>
                      </a:r>
                    </a:p>
                    <a:p>
                      <a:pPr>
                        <a:lnSpc>
                          <a:spcPct val="108000"/>
                        </a:lnSpc>
                      </a:pPr>
                      <a:r>
                        <a:rPr sz="2000" b="0" lang="ko-KR">
                          <a:solidFill>
                            <a:srgbClr val="183342"/>
                          </a:solidFill>
                          <a:latin typeface="Arial Unicode MS"/>
                          <a:ea typeface="Arial Unicode MS"/>
                          <a:cs typeface="Arial Unicode MS"/>
                        </a:rPr>
                        <a:t>Serine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Ser / 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OH로 수소결합 가능</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트레오닌</a:t>
                      </a:r>
                    </a:p>
                    <a:p>
                      <a:pPr>
                        <a:lnSpc>
                          <a:spcPct val="108000"/>
                        </a:lnSpc>
                      </a:pPr>
                      <a:r>
                        <a:rPr sz="2000" b="0" lang="ko-KR">
                          <a:solidFill>
                            <a:srgbClr val="183342"/>
                          </a:solidFill>
                          <a:latin typeface="Arial Unicode MS"/>
                          <a:ea typeface="Arial Unicode MS"/>
                          <a:cs typeface="Arial Unicode MS"/>
                        </a:rPr>
                        <a:t>Threonine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Thr / 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—CH(OH)—CH₃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OH와 메틸 가지를 함께 가짐</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시스테인</a:t>
                      </a:r>
                    </a:p>
                    <a:p>
                      <a:pPr>
                        <a:lnSpc>
                          <a:spcPct val="108000"/>
                        </a:lnSpc>
                      </a:pPr>
                      <a:r>
                        <a:rPr sz="2000" b="0" lang="ko-KR">
                          <a:solidFill>
                            <a:srgbClr val="183342"/>
                          </a:solidFill>
                          <a:latin typeface="Arial Unicode MS"/>
                          <a:ea typeface="Arial Unicode MS"/>
                          <a:cs typeface="Arial Unicode MS"/>
                        </a:rPr>
                        <a:t>Cysteine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Cys / 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—CH₂—SH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반응 가능한 thiol(SH)</a:t>
                      </a:r>
                    </a:p>
                    <a:p>
                      <a:pPr>
                        <a:lnSpc>
                          <a:spcPct val="108000"/>
                        </a:lnSpc>
                      </a:pPr>
                      <a:r>
                        <a:rPr sz="2000" b="0" lang="ko-KR">
                          <a:solidFill>
                            <a:srgbClr val="183342"/>
                          </a:solidFill>
                          <a:latin typeface="Arial Unicode MS"/>
                          <a:ea typeface="Arial Unicode MS"/>
                          <a:cs typeface="Arial Unicode MS"/>
                        </a:rPr>
                        <a:t>두 Cys가 산화되면 S–S 가능</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Cys의 S–S는 공유결합입니다. 두 황이 가까운지만 보고 확정하지 않습니다.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PROTEIN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아마이드와 음전하: Asn, Gln, Asp, Glu</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끝부분의 CONH₂와 COO⁻를 구별합니다. 전하는 곁사슬 기준입니다.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아스파라긴</a:t>
                      </a:r>
                    </a:p>
                    <a:p>
                      <a:pPr>
                        <a:lnSpc>
                          <a:spcPct val="108000"/>
                        </a:lnSpc>
                      </a:pPr>
                      <a:r>
                        <a:rPr sz="2000" b="0" lang="ko-KR">
                          <a:solidFill>
                            <a:srgbClr val="183342"/>
                          </a:solidFill>
                          <a:latin typeface="Arial Unicode MS"/>
                          <a:ea typeface="Arial Unicode MS"/>
                          <a:cs typeface="Arial Unicode MS"/>
                        </a:rPr>
                        <a:t>Asparagine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Asn /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—CH₂—C(=O)—NH₂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아마이드, 보통 전하 0</a:t>
                      </a:r>
                    </a:p>
                    <a:p>
                      <a:pPr>
                        <a:lnSpc>
                          <a:spcPct val="108000"/>
                        </a:lnSpc>
                      </a:pPr>
                      <a:r>
                        <a:rPr sz="2000" b="0" lang="ko-KR">
                          <a:solidFill>
                            <a:srgbClr val="183342"/>
                          </a:solidFill>
                          <a:latin typeface="Arial Unicode MS"/>
                          <a:ea typeface="Arial Unicode MS"/>
                          <a:cs typeface="Arial Unicode MS"/>
                        </a:rPr>
                        <a:t>O는 받개, N–H는 주개</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글루타민</a:t>
                      </a:r>
                    </a:p>
                    <a:p>
                      <a:pPr>
                        <a:lnSpc>
                          <a:spcPct val="108000"/>
                        </a:lnSpc>
                      </a:pPr>
                      <a:r>
                        <a:rPr sz="2000" b="0" lang="ko-KR">
                          <a:solidFill>
                            <a:srgbClr val="183342"/>
                          </a:solidFill>
                          <a:latin typeface="Arial Unicode MS"/>
                          <a:ea typeface="Arial Unicode MS"/>
                          <a:cs typeface="Arial Unicode MS"/>
                        </a:rPr>
                        <a:t>Glutamine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Gln / Q</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Asn보다 CH₂ 하나 더 김</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아스파르트산</a:t>
                      </a:r>
                    </a:p>
                    <a:p>
                      <a:pPr>
                        <a:lnSpc>
                          <a:spcPct val="108000"/>
                        </a:lnSpc>
                      </a:pPr>
                      <a:r>
                        <a:rPr sz="2000" b="0" lang="ko-KR">
                          <a:solidFill>
                            <a:srgbClr val="183342"/>
                          </a:solidFill>
                          <a:latin typeface="Arial Unicode MS"/>
                          <a:ea typeface="Arial Unicode MS"/>
                          <a:cs typeface="Arial Unicode MS"/>
                        </a:rPr>
                        <a:t>Aspartic acid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 / 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양전하와의 근접을 살핌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글루탐산</a:t>
                      </a:r>
                    </a:p>
                    <a:p>
                      <a:pPr>
                        <a:lnSpc>
                          <a:spcPct val="108000"/>
                        </a:lnSpc>
                      </a:pPr>
                      <a:r>
                        <a:rPr sz="2000" b="0" lang="ko-KR">
                          <a:solidFill>
                            <a:srgbClr val="183342"/>
                          </a:solidFill>
                          <a:latin typeface="Arial Unicode MS"/>
                          <a:ea typeface="Arial Unicode MS"/>
                          <a:cs typeface="Arial Unicode MS"/>
                        </a:rPr>
                        <a:t>Glutamic acid</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Glu / 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Asp보다 CH₂ 하나 더 김</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Asn과 Asp, Gln과 Glu는 비슷한 길이여도 말단 작용기와 전하가 다릅니다.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AAPKA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염기성 곁사슬: Lys, Arg, His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Lys와 Arg는 중성 부근 pH에서 보통 +1입니다. His는 상태가 달라질 수 있습니다.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라이신</a:t>
                      </a:r>
                    </a:p>
                    <a:p>
                      <a:pPr>
                        <a:lnSpc>
                          <a:spcPct val="108000"/>
                        </a:lnSpc>
                      </a:pPr>
                      <a:r>
                        <a:rPr sz="2000" b="0" lang="ko-KR">
                          <a:solidFill>
                            <a:srgbClr val="183342"/>
                          </a:solidFill>
                          <a:latin typeface="Arial Unicode MS"/>
                          <a:ea typeface="Arial Unicode MS"/>
                          <a:cs typeface="Arial Unicode MS"/>
                        </a:rPr>
                        <a:t>Lysine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Lys / K</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—(CH₂)₄—NH₃⁺</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긴 사슬 끝의 양전하</a:t>
                      </a:r>
                    </a:p>
                    <a:p>
                      <a:pPr>
                        <a:lnSpc>
                          <a:spcPct val="108000"/>
                        </a:lnSpc>
                      </a:pPr>
                      <a:r>
                        <a:rPr sz="2000" b="0" lang="ko-KR">
                          <a:solidFill>
                            <a:srgbClr val="183342"/>
                          </a:solidFill>
                          <a:latin typeface="Arial Unicode MS"/>
                          <a:ea typeface="Arial Unicode MS"/>
                          <a:cs typeface="Arial Unicode MS"/>
                        </a:rPr>
                        <a:t>NH₃⁺는 수소결합 주개</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아르기닌</a:t>
                      </a:r>
                    </a:p>
                    <a:p>
                      <a:pPr>
                        <a:lnSpc>
                          <a:spcPct val="108000"/>
                        </a:lnSpc>
                      </a:pPr>
                      <a:r>
                        <a:rPr sz="2000" b="0" lang="ko-KR">
                          <a:solidFill>
                            <a:srgbClr val="183342"/>
                          </a:solidFill>
                          <a:latin typeface="Arial Unicode MS"/>
                          <a:ea typeface="Arial Unicode MS"/>
                          <a:cs typeface="Arial Unicode MS"/>
                        </a:rPr>
                        <a:t>Arginine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Arg / 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—(CH₂)₃—NH—</a:t>
                      </a:r>
                    </a:p>
                    <a:p>
                      <a:pPr>
                        <a:lnSpc>
                          <a:spcPct val="108000"/>
                        </a:lnSpc>
                      </a:pPr>
                      <a:r>
                        <a:rPr sz="2000" b="0" lang="ko-KR">
                          <a:solidFill>
                            <a:srgbClr val="183342"/>
                          </a:solidFill>
                          <a:latin typeface="Arial Unicode MS"/>
                          <a:ea typeface="Arial Unicode MS"/>
                          <a:cs typeface="Arial Unicode MS"/>
                        </a:rPr>
                        <a:t>C(=NH₂⁺)—NH₂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구아니디늄 말단, 보통 +1</a:t>
                      </a:r>
                    </a:p>
                    <a:p>
                      <a:pPr>
                        <a:lnSpc>
                          <a:spcPct val="108000"/>
                        </a:lnSpc>
                      </a:pPr>
                      <a:r>
                        <a:rPr sz="2000" b="0" lang="ko-KR">
                          <a:solidFill>
                            <a:srgbClr val="183342"/>
                          </a:solidFill>
                          <a:latin typeface="Arial Unicode MS"/>
                          <a:ea typeface="Arial Unicode MS"/>
                          <a:cs typeface="Arial Unicode MS"/>
                        </a:rPr>
                        <a:t>여러 N–H가 주개로 참여</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히스티딘</a:t>
                      </a:r>
                    </a:p>
                    <a:p>
                      <a:pPr>
                        <a:lnSpc>
                          <a:spcPct val="108000"/>
                        </a:lnSpc>
                      </a:pPr>
                      <a:r>
                        <a:rPr sz="2000" b="0" lang="ko-KR">
                          <a:solidFill>
                            <a:srgbClr val="183342"/>
                          </a:solidFill>
                          <a:latin typeface="Arial Unicode MS"/>
                          <a:ea typeface="Arial Unicode MS"/>
                          <a:cs typeface="Arial Unicode MS"/>
                        </a:rPr>
                        <a:t>Histidine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His / 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—CH₂—이미다졸 고리</a:t>
                      </a:r>
                    </a:p>
                    <a:p>
                      <a:pPr>
                        <a:lnSpc>
                          <a:spcPct val="108000"/>
                        </a:lnSpc>
                      </a:pPr>
                      <a:r>
                        <a:rPr sz="2000" b="0" lang="ko-KR">
                          <a:solidFill>
                            <a:srgbClr val="183342"/>
                          </a:solidFill>
                          <a:latin typeface="Arial Unicode MS"/>
                          <a:ea typeface="Arial Unicode MS"/>
                          <a:cs typeface="Arial Unicode MS"/>
                        </a:rPr>
                        <a:t>질소 두 개를 가진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곁사슬 전하 0 또는 +1</a:t>
                      </a:r>
                    </a:p>
                    <a:p>
                      <a:pPr>
                        <a:lnSpc>
                          <a:spcPct val="108000"/>
                        </a:lnSpc>
                      </a:pPr>
                      <a:r>
                        <a:rPr sz="2000" b="0" lang="ko-KR">
                          <a:solidFill>
                            <a:srgbClr val="183342"/>
                          </a:solidFill>
                          <a:latin typeface="Arial Unicode MS"/>
                          <a:ea typeface="Arial Unicode MS"/>
                          <a:cs typeface="Arial Unicode MS"/>
                        </a:rPr>
                        <a:t>pH와 주변 환경에 따라 변함</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기본 20종 외에 특수한 번역으로 들어가는 Sec(U)와 Pyl(O)도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AAHIS, AASEQ, AARARE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GLU A 697     -68.144  -7.449 -50.184  1.00 55.89           N</a:t>
            </a:r>
          </a:p>
          <a:p>
            <a:pPr algn="l">
              <a:lnSpc>
                <a:spcPts val="1954"/>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data_2ITY</a:t>
            </a:r>
          </a:p>
          <a:p>
            <a:pPr algn="l">
              <a:lnSpc>
                <a:spcPts val="1954"/>
              </a:lnSpc>
            </a:pPr>
            <a:r>
              <a:rPr sz="1700" b="0" lang="ko-KR">
                <a:solidFill>
                  <a:srgbClr val="183342"/>
                </a:solidFill>
                <a:latin typeface="Courier New"/>
                <a:ea typeface="Arial Unicode MS"/>
                <a:cs typeface="Arial Unicode MS"/>
              </a:rPr>
              <a:t>loop_</a:t>
            </a:r>
          </a:p>
          <a:p>
            <a:pPr algn="l">
              <a:lnSpc>
                <a:spcPts val="1954"/>
              </a:lnSpc>
            </a:pPr>
            <a:r>
              <a:rPr sz="1700" b="0" lang="ko-KR">
                <a:solidFill>
                  <a:srgbClr val="183342"/>
                </a:solidFill>
                <a:latin typeface="Courier New"/>
                <a:ea typeface="Arial Unicode MS"/>
                <a:cs typeface="Arial Unicode MS"/>
              </a:rPr>
              <a:t>_atom_site.group_PDB</a:t>
            </a:r>
          </a:p>
          <a:p>
            <a:pPr algn="l">
              <a:lnSpc>
                <a:spcPts val="1954"/>
              </a:lnSpc>
            </a:pPr>
            <a:r>
              <a:rPr sz="1700" b="0" lang="ko-KR">
                <a:solidFill>
                  <a:srgbClr val="183342"/>
                </a:solidFill>
                <a:latin typeface="Courier New"/>
                <a:ea typeface="Arial Unicode MS"/>
                <a:cs typeface="Arial Unicode MS"/>
              </a:rPr>
              <a:t>_atom_site.id</a:t>
            </a:r>
          </a:p>
          <a:p>
            <a:pPr algn="l">
              <a:lnSpc>
                <a:spcPts val="1954"/>
              </a:lnSpc>
            </a:pPr>
            <a:r>
              <a:rPr sz="1700" b="0" lang="ko-KR">
                <a:solidFill>
                  <a:srgbClr val="183342"/>
                </a:solidFill>
                <a:latin typeface="Courier New"/>
                <a:ea typeface="Arial Unicode MS"/>
                <a:cs typeface="Arial Unicode MS"/>
              </a:rPr>
              <a:t>_atom_site.type_symbol</a:t>
            </a:r>
          </a:p>
          <a:p>
            <a:pPr algn="l">
              <a:lnSpc>
                <a:spcPts val="1954"/>
              </a:lnSpc>
            </a:pPr>
            <a:r>
              <a:rPr sz="1700" b="0" lang="ko-KR">
                <a:solidFill>
                  <a:srgbClr val="183342"/>
                </a:solidFill>
                <a:latin typeface="Courier New"/>
                <a:ea typeface="Arial Unicode MS"/>
                <a:cs typeface="Arial Unicode MS"/>
              </a:rPr>
              <a:t>_atom_site.label_atom_id</a:t>
            </a:r>
          </a:p>
          <a:p>
            <a:pPr algn="l">
              <a:lnSpc>
                <a:spcPts val="1954"/>
              </a:lnSpc>
            </a:pPr>
            <a:r>
              <a:rPr sz="1700" b="0" lang="ko-KR">
                <a:solidFill>
                  <a:srgbClr val="183342"/>
                </a:solidFill>
                <a:latin typeface="Courier New"/>
                <a:ea typeface="Arial Unicode MS"/>
                <a:cs typeface="Arial Unicode MS"/>
              </a:rPr>
              <a:t>_atom_site.label_comp_id</a:t>
            </a:r>
          </a:p>
          <a:p>
            <a:pPr algn="l">
              <a:lnSpc>
                <a:spcPts val="1954"/>
              </a:lnSpc>
            </a:pPr>
            <a:r>
              <a:rPr sz="1700" b="0" lang="ko-KR">
                <a:solidFill>
                  <a:srgbClr val="183342"/>
                </a:solidFill>
                <a:latin typeface="Courier New"/>
                <a:ea typeface="Arial Unicode MS"/>
                <a:cs typeface="Arial Unicode MS"/>
              </a:rPr>
              <a:t>_atom_site.auth_asym_id</a:t>
            </a:r>
          </a:p>
          <a:p>
            <a:pPr algn="l">
              <a:lnSpc>
                <a:spcPts val="1954"/>
              </a:lnSpc>
            </a:pPr>
            <a:r>
              <a:rPr sz="1700" b="0" lang="ko-KR">
                <a:solidFill>
                  <a:srgbClr val="183342"/>
                </a:solidFill>
                <a:latin typeface="Courier New"/>
                <a:ea typeface="Arial Unicode MS"/>
                <a:cs typeface="Arial Unicode MS"/>
              </a:rPr>
              <a:t>_atom_site.auth_seq_id</a:t>
            </a:r>
          </a:p>
          <a:p>
            <a:pPr algn="l">
              <a:lnSpc>
                <a:spcPts val="1954"/>
              </a:lnSpc>
            </a:pPr>
            <a:r>
              <a:rPr sz="1700" b="0" lang="ko-KR">
                <a:solidFill>
                  <a:srgbClr val="183342"/>
                </a:solidFill>
                <a:latin typeface="Courier New"/>
                <a:ea typeface="Arial Unicode MS"/>
                <a:cs typeface="Arial Unicode MS"/>
              </a:rPr>
              <a:t>_atom_site.Cartn_x</a:t>
            </a:r>
          </a:p>
          <a:p>
            <a:pPr algn="l">
              <a:lnSpc>
                <a:spcPts val="1954"/>
              </a:lnSpc>
            </a:pPr>
            <a:r>
              <a:rPr sz="1700" b="0" lang="ko-KR">
                <a:solidFill>
                  <a:srgbClr val="183342"/>
                </a:solidFill>
                <a:latin typeface="Courier New"/>
                <a:ea typeface="Arial Unicode MS"/>
                <a:cs typeface="Arial Unicode MS"/>
              </a:rPr>
              <a:t>_atom_site.Cartn_y</a:t>
            </a:r>
          </a:p>
          <a:p>
            <a:pPr algn="l">
              <a:lnSpc>
                <a:spcPts val="1954"/>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ts val="1954"/>
              </a:lnSpc>
            </a:pPr>
            <a:r>
              <a:rPr sz="1700" b="0" lang="ko-KR">
                <a:solidFill>
                  <a:srgbClr val="183342"/>
                </a:solidFill>
                <a:latin typeface="Arial Unicode MS"/>
                <a:ea typeface="Arial Unicode MS"/>
                <a:cs typeface="Arial Unicode MS"/>
              </a:rPr>
              <a:t>2ITY 데이터 묶음의 시작</a:t>
            </a:r>
          </a:p>
          <a:p>
            <a:pPr algn="l">
              <a:lnSpc>
                <a:spcPts val="1954"/>
              </a:lnSpc>
            </a:pPr>
            <a:r>
              <a:rPr sz="1700" b="0" lang="ko-KR">
                <a:solidFill>
                  <a:srgbClr val="183342"/>
                </a:solidFill>
                <a:latin typeface="Arial Unicode MS"/>
                <a:ea typeface="Arial Unicode MS"/>
                <a:cs typeface="Arial Unicode MS"/>
              </a:rPr>
              <a:t>표의 시작. 아래 태그 순서대로 값을 읽음</a:t>
            </a:r>
          </a:p>
          <a:p>
            <a:pPr algn="l">
              <a:lnSpc>
                <a:spcPts val="1954"/>
              </a:lnSpc>
            </a:pPr>
            <a:r>
              <a:rPr sz="1700" b="0" lang="ko-KR">
                <a:solidFill>
                  <a:srgbClr val="183342"/>
                </a:solidFill>
                <a:latin typeface="Arial Unicode MS"/>
                <a:ea typeface="Arial Unicode MS"/>
                <a:cs typeface="Arial Unicode MS"/>
              </a:rPr>
              <a:t>레코드 종류</a:t>
            </a:r>
          </a:p>
          <a:p>
            <a:pPr algn="l">
              <a:lnSpc>
                <a:spcPts val="1954"/>
              </a:lnSpc>
            </a:pPr>
            <a:r>
              <a:rPr sz="1700" b="0" lang="ko-KR">
                <a:solidFill>
                  <a:srgbClr val="183342"/>
                </a:solidFill>
                <a:latin typeface="Arial Unicode MS"/>
                <a:ea typeface="Arial Unicode MS"/>
                <a:cs typeface="Arial Unicode MS"/>
              </a:rPr>
              <a:t>원자 일련번호</a:t>
            </a:r>
          </a:p>
          <a:p>
            <a:pPr algn="l">
              <a:lnSpc>
                <a:spcPts val="1954"/>
              </a:lnSpc>
            </a:pPr>
            <a:r>
              <a:rPr sz="1700" b="0" lang="ko-KR">
                <a:solidFill>
                  <a:srgbClr val="183342"/>
                </a:solidFill>
                <a:latin typeface="Arial Unicode MS"/>
                <a:ea typeface="Arial Unicode MS"/>
                <a:cs typeface="Arial Unicode MS"/>
              </a:rPr>
              <a:t>원소 기호</a:t>
            </a:r>
          </a:p>
          <a:p>
            <a:pPr algn="l">
              <a:lnSpc>
                <a:spcPts val="1954"/>
              </a:lnSpc>
            </a:pPr>
            <a:r>
              <a:rPr sz="1700" b="0" lang="ko-KR">
                <a:solidFill>
                  <a:srgbClr val="183342"/>
                </a:solidFill>
                <a:latin typeface="Arial Unicode MS"/>
                <a:ea typeface="Arial Unicode MS"/>
                <a:cs typeface="Arial Unicode MS"/>
              </a:rPr>
              <a:t>원자 이름</a:t>
            </a:r>
          </a:p>
          <a:p>
            <a:pPr algn="l">
              <a:lnSpc>
                <a:spcPts val="1954"/>
              </a:lnSpc>
            </a:pPr>
            <a:r>
              <a:rPr sz="1700" b="0" lang="ko-KR">
                <a:solidFill>
                  <a:srgbClr val="183342"/>
                </a:solidFill>
                <a:latin typeface="Arial Unicode MS"/>
                <a:ea typeface="Arial Unicode MS"/>
                <a:cs typeface="Arial Unicode MS"/>
              </a:rPr>
              <a:t>잔기 이름</a:t>
            </a:r>
          </a:p>
          <a:p>
            <a:pPr algn="l">
              <a:lnSpc>
                <a:spcPts val="1954"/>
              </a:lnSpc>
            </a:pPr>
            <a:r>
              <a:rPr sz="1700" b="0" lang="ko-KR">
                <a:solidFill>
                  <a:srgbClr val="183342"/>
                </a:solidFill>
                <a:latin typeface="Arial Unicode MS"/>
                <a:ea typeface="Arial Unicode MS"/>
                <a:cs typeface="Arial Unicode MS"/>
              </a:rPr>
              <a:t>저자 사슬 표지</a:t>
            </a:r>
          </a:p>
          <a:p>
            <a:pPr algn="l">
              <a:lnSpc>
                <a:spcPts val="1954"/>
              </a:lnSpc>
            </a:pPr>
            <a:r>
              <a:rPr sz="1700" b="0" lang="ko-KR">
                <a:solidFill>
                  <a:srgbClr val="183342"/>
                </a:solidFill>
                <a:latin typeface="Arial Unicode MS"/>
                <a:ea typeface="Arial Unicode MS"/>
                <a:cs typeface="Arial Unicode MS"/>
              </a:rPr>
              <a:t>저자 잔기 번호</a:t>
            </a:r>
          </a:p>
          <a:p>
            <a:pPr algn="l">
              <a:lnSpc>
                <a:spcPts val="1954"/>
              </a:lnSpc>
            </a:pPr>
            <a:r>
              <a:rPr sz="1700" b="0" lang="ko-KR">
                <a:solidFill>
                  <a:srgbClr val="183342"/>
                </a:solidFill>
                <a:latin typeface="Arial Unicode MS"/>
                <a:ea typeface="Arial Unicode MS"/>
                <a:cs typeface="Arial Unicode MS"/>
              </a:rPr>
              <a:t>x 좌표 (Å)</a:t>
            </a:r>
          </a:p>
          <a:p>
            <a:pPr algn="l">
              <a:lnSpc>
                <a:spcPts val="1954"/>
              </a:lnSpc>
            </a:pPr>
            <a:r>
              <a:rPr sz="1700" b="0" lang="ko-KR">
                <a:solidFill>
                  <a:srgbClr val="183342"/>
                </a:solidFill>
                <a:latin typeface="Arial Unicode MS"/>
                <a:ea typeface="Arial Unicode MS"/>
                <a:cs typeface="Arial Unicode MS"/>
              </a:rPr>
              <a:t>y 좌표 (Å)</a:t>
            </a:r>
          </a:p>
          <a:p>
            <a:pPr algn="l">
              <a:lnSpc>
                <a:spcPts val="1954"/>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N  GLU A 697 -68.144 -7.449 -50.184</a:t>
            </a:r>
          </a:p>
          <a:p>
            <a:pPr algn="l">
              <a:lnSpc>
                <a:spcPts val="1954"/>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위치의 퍼짐</a:t>
                      </a:r>
                    </a:p>
                    <a:p>
                      <a:pPr>
                        <a:lnSpc>
                          <a:spcPct val="108000"/>
                        </a:lnSpc>
                      </a:pPr>
                      <a:r>
                        <a:rPr sz="2000" b="0" lang="ko-KR">
                          <a:solidFill>
                            <a:srgbClr val="183342"/>
                          </a:solidFill>
                          <a:latin typeface="Arial Unicode MS"/>
                          <a:ea typeface="Arial Unicode MS"/>
                          <a:cs typeface="Arial Unicode MS"/>
                        </a:rPr>
                        <a:t>(이 결정구조의 모델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 위치 /</a:t>
                      </a:r>
                    </a:p>
                    <a:p>
                      <a:pPr>
                        <a:lnSpc>
                          <a:spcPct val="108000"/>
                        </a:lnSpc>
                      </a:pPr>
                      <a:r>
                        <a:rPr sz="2000" b="0" lang="ko-KR">
                          <a:solidFill>
                            <a:srgbClr val="183342"/>
                          </a:solidFill>
                          <a:latin typeface="Arial Unicode MS"/>
                          <a:ea typeface="Arial Unicode MS"/>
                          <a:cs typeface="Arial Unicode MS"/>
                        </a:rPr>
                        <a:t>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이 수업의 잔기 번호는 auth 기준입니다.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91분에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143분에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
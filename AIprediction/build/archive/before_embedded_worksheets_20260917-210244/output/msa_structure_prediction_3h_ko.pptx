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잔기 번호</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시작부터 ‘왜 AlphaFold를 배우는데 정렬과 진화를 먼저 보나요?’에 답합니다. 도입 2–4장은 query에서 MSA와 구조로 이어지는 흐름, 짧은 MSA의 보존·공변화 예제, 정보의 질과 진화 관계가 중요한 이유를 보여 줍니다. 이후 homology·ortholog·paralog를 배워 정렬에 들어온 서열들이 어떤 관계인지 읽고, coevolution과 MSA 입력 조작으로 연결합니다. 활동지 1쪽은 진화 관계, 2쪽은 A3M, 3쪽은 coevolution, 4쪽은 입력 조작, 5쪽은 lDDT 계산과 pLDDT 학습, 6쪽은 pLDDT·PAE, 7쪽은 결과 해석입니다. 교육용 가상 정렬과 실제 calmodulin 예측 입력을 구분합니다.</a:t>
            </a:r>
          </a:p>
          <a:p/>
          <a:p>
            <a:r>
              <a:t>출처</a:t>
            </a:r>
          </a:p>
          <a:p>
            <a:r>
              <a:t>[intro_af2_overview] EMBL-EBI / Google DeepMind: AlphaFold2 high-level overview</a:t>
            </a:r>
          </a:p>
          <a:p>
            <a:r>
              <a:t>https://www.ebi.ac.uk/training/online/courses/alphafold/inputs-and-outputs/a-high-level-overview/</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AlphaFold에서 MSA는 어디에 쓰일까?</a:t>
            </a:r>
          </a:p>
          <a:p>
            <a:r>
              <a:t>시간: 1–3분 (2분)</a:t>
            </a:r>
          </a:p>
          <a:p/>
          <a:p>
            <a:r>
              <a:t>먼저 강의 전체의 목적부터 설명합니다. Query는 이번에 구조를 예측할 서열 하나이며 MSA는 이 표적과 관련된 여러 상동 서열을 대응 위치별로 정렬한 입력입니다. 사용자가 ColabFold에 서열만 넣어도 일반적인 검색 모드에서는 뒤에서 관련 서열을 찾고 MSA를 만듭니다. MSA 파일에는 좌표가 없지만 서열들을 비교하면서 얻는 진화적 제약의 단서가 있습니다. 미리 학습된 AlphaFold2는 MSA 표현과 잔기쌍 표현을 함께 갱신해 좌표를 추론하고 신뢰도를 출력합니다. MSA를 먼저 접촉표로 완전히 바꾼 뒤 그 표만 모델에 넣는다는 뜻은 아닙니다. Template은 이용할 경우 추가하는 기존 구조 정보입니다. 새 query마다 MSA를 만드는 것은 입력 준비이며 신경망 가중치를 처음부터 다시 학습하는 과정이 아닙니다. AF3도 MSA 정보를 사용하지만 Evoformer와 동일한 구조가 아니라 MSA 처리·Pairformer·diffusion으로 역할이 달라집니다. 오늘 구체적 클릭 실습은 AF2 기반 ColabFold로 진행합니다. 다음 두 장에서 왜 여러 서열을 비교해야 하는지 본 뒤 이 서열들의 진화 관계를 배웁니다.</a:t>
            </a:r>
          </a:p>
          <a:p/>
          <a:p>
            <a:r>
              <a:t>출처</a:t>
            </a:r>
          </a:p>
          <a:p>
            <a:r>
              <a:t>[core_af2] Jumper et al. (2021), Highly accurate protein structure prediction with AlphaFold</a:t>
            </a:r>
          </a:p>
          <a:p>
            <a:r>
              <a:t>https://www.nature.com/articles/s41586-021-03819-2</a:t>
            </a:r>
          </a:p>
          <a:p>
            <a:r>
              <a:t>[intro_af2_overview] EMBL-EBI / Google DeepMind: AlphaFold2 high-level overview</a:t>
            </a:r>
          </a:p>
          <a:p>
            <a:r>
              <a:t>https://www.ebi.ac.uk/training/online/courses/alphafold/inputs-and-outputs/a-high-level-overview/</a:t>
            </a:r>
          </a:p>
          <a:p>
            <a:r>
              <a:t>[intro_af2_runtime] Google DeepMind AlphaFold: loading trained parameters and running prediction</a:t>
            </a:r>
          </a:p>
          <a:p>
            <a:r>
              <a:t>https://github.com/google-deepmind/alphafold/blob/main/run_alphafold.py</a:t>
            </a:r>
          </a:p>
          <a:p>
            <a:r>
              <a:t>[intro_af3_overview] EMBL-EBI / Google DeepMind: How does AlphaFold 3 work?</a:t>
            </a:r>
          </a:p>
          <a:p>
            <a:r>
              <a:t>https://www.ebi.ac.uk/training/online/courses/alphafold/alphafold-3-and-alphafold-server/introducing-alphafold-3/how-does-alphafold-3-work/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한 줄에서는 보이지 않던 단서가 생긴다</a:t>
            </a:r>
          </a:p>
          <a:p>
            <a:r>
              <a:t>시간: 3–5분 (2분)</a:t>
            </a:r>
          </a:p>
          <a:p/>
          <a:p>
            <a:r>
              <a:t>이 예제는 손으로 만든 8열 정렬이며 실습의 149잔기 calmodulin이나 뒤의 12열 A3M과 다른 교육용 자료입니다. Query 한 줄만 보면 C가 이 유전자 가족에서 보존되는지, 3열과6열의 변화가 연결되는지 알 수 없습니다. 여러 행을 나란히 놓으면 2열과8열이 보존되고 3열과6열의 잔기 조합이 함께 달라지는 패턴을 볼 수 있습니다. D·E는 음전하 성질, K·R은 양전하 성질의 예시여서 두 열에서 상보적인 조합을 떠올릴 수 있으나 실제 접촉이 있다는 관측 자료는 아닙니다. 네 행만으로 통계적 유의성·인과 관계·보상 진화를 입증할 수 없습니다. 구조 유지뿐 아니라 기능 제약이나 공통 조상에서도 패턴이 생길 수 있음을 예고합니다. AlphaFold가 이 네 행에서 손으로 표시한 두 열만 사용하는 것은 아니며 많은 위치와 학습한 구조 규칙을 함께 처리합니다. 여기서는 계산 공식을 배우기보다 한 서열에 없는 비교 정보가 MSA에 생긴다는 점을 이해시킵니다. 마지막에 C가 모두 같다는 것을 학생이 직접 가리키도록 합니다. 다음 장은 다른 가상100잔기 표적의20·80열을 발췌한 도식입니다. 공변화가 어떻게 구조 정보로 연결되는지 명시적으로 보여 줍니다.</a:t>
            </a:r>
          </a:p>
          <a:p/>
          <a:p>
            <a:r>
              <a:t>출처</a:t>
            </a:r>
          </a:p>
          <a:p>
            <a:r>
              <a:t>[intro_af2_overview] EMBL-EBI / Google DeepMind: AlphaFold2 high-level overview</a:t>
            </a:r>
          </a:p>
          <a:p>
            <a:r>
              <a:t>https://www.ebi.ac.uk/training/online/courses/alphafold/inputs-and-outputs/a-high-level-overview/</a:t>
            </a:r>
          </a:p>
          <a:p>
            <a:r>
              <a:t>[evo_covariation] Rodriguez Horta &amp; Weigt (2021). On the effect of phylogenetic correlations in coevolution-based contact prediction in proteins.</a:t>
            </a:r>
          </a:p>
          <a:p>
            <a:r>
              <a:t>https://journals.plos.org/ploscompbiol/article?id=10.1371/journal.pcbi.1008957</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공진화가 3차원 구조 정보를 주는 이유</a:t>
            </a:r>
          </a:p>
          <a:p>
            <a:r>
              <a:t>시간: 5–7분 (2분)</a:t>
            </a:r>
          </a:p>
          <a:p/>
          <a:p>
            <a:r>
              <a:t>그림을 왼쪽에서 오른쪽으로 읽으며 공진화가 어떤 구조 정보를 주는지 설명합니다. 가상 100잔기 가족의 MSA에서 20번과 80번 열만 발췌했습니다. Query의 D/K와 상동 서열의 E/R, K/D, R/E는 서로 맞는 전하 조합을 떠올리게 하는 예시입니다. 서열에서 60위치 떨어진 두 잔기도 단백질이 접히면 공간에서 가까워질 수 있습니다. 접촉하는 두 잔기의 전하·크기·소수성 조합을 유지하려는 선택이 서로 허용되는 치환을 제약하면, MSA에 두 열의 의존성으로 남을 수 있습니다. 이 진화적 흔적을 거꾸로 읽어 접촉 후보와 거리·배치 관계를 추론하는 것이 핵심입니다. 중앙 화살표는 학습된 모델의 구조 추론 방향이며 실제 진화 순서나 물리적 접힘 동영상을 뜻하지 않습니다. 오른쪽 사슬은 그린 개념도이며 원자 좌표나 실제 calmodulin 예측이 아닙니다. 한 쌍의 신호가 한 구조를 결정하는 것은 아니며, 여러 위치쌍과 서열·학습된 구조 규칙을 함께 이용합니다. AF2는 MSA 표현과 잔기쌍 표현을 함께 갱신합니다. 먼저 MI/DCA로 접촉표를 확정한 다음 그것만 구조 모듈에 넣는 파이프라인으로 읽지 않습니다. 공통 조상·간접 상관·기능 제약도 같은 패턴을 만들 수 있어 모든 공변화가 직접 접촉이라는 뜻은 아닙니다. 다음 진화 관계 단원은 이 신호를 어떤 서열들에서 읽는지 판단하기 위한 설명입니다.</a:t>
            </a:r>
          </a:p>
          <a:p/>
          <a:p>
            <a:r>
              <a:t>출처</a:t>
            </a:r>
          </a:p>
          <a:p>
            <a:r>
              <a:t>[intro_af2_overview] EMBL-EBI / Google DeepMind: AlphaFold2 high-level overview</a:t>
            </a:r>
          </a:p>
          <a:p>
            <a:r>
              <a:t>https://www.ebi.ac.uk/training/online/courses/alphafold/inputs-and-outputs/a-high-level-overview/</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7–9분 (2분)</a:t>
            </a:r>
          </a:p>
          <a:p/>
          <a:p>
            <a:r>
              <a:t>도입의 질문 ‘MSA에 모인 서열들은 어떤 관계인가?’를 이어받습니다. 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9–11분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11–13분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13–15분 (2분)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15–17분 (2분)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17–18분 (1분)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18–20분 (2분)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Ortholog와 paralog 판정</a:t>
            </a:r>
          </a:p>
          <a:p>
            <a:r>
              <a:t>시간: 20–22분 (2분)</a:t>
            </a:r>
          </a:p>
          <a:p/>
          <a:p>
            <a:r>
              <a:t>먼저 문제를 풀고, 바로 다음 정답·해설 화면에서 풀이와 흔한 오류를 확인합니다.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 활동지 1쪽을 이어서 사용합니다. 상황 A의 H_A–M_A는 S에 의한 ortholog, H_A–H_B와 H_A–M_B는 D에 의한 paralog입니다. 상황 B에서 H1–H2는 paralog, H1/H2는 각각 M의 ortholog이며 M에 대한 co-orthologs입니다.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화면 계통수에서 S와 D 찾기</a:t>
            </a:r>
          </a:p>
          <a:p>
            <a:r>
              <a:t>시간: 22–23분 (1분)</a:t>
            </a:r>
          </a:p>
          <a:p/>
          <a:p>
            <a:r>
              <a:t>화면 실습의 가상 계통수를 다시 보여 주며 세 유전자 쌍을 하나씩 추적합니다. A_x와 A_y는 가장 최근 공통 조상 D에서 만나므로 paralog입니다. A_x–B_z와 A_y–B_z는 각각 S에서 만나므로 ortholog입니다. Co-orthologs는 B_z에 대한 관계를 표현하며 A_x와 A_y가 서로 ortholog라는 뜻은 아닙니다. 종 이름이나 가지의 겉보기 거리로 판단한 학생은 두 말단에서 위로 올라가는 경로를 다시 짚게 합니다.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1쪽 · 중복의 순서 비교</a:t>
            </a:r>
          </a:p>
          <a:p>
            <a:r>
              <a:t>시간: 23–24분 (1분)</a:t>
            </a:r>
          </a:p>
          <a:p/>
          <a:p>
            <a:r>
              <a:t>활동지의 상황 A는 중복이 H와 M의 종 분화보다 먼저, 상황 B는 종 분화가 중복보다 먼저 일어났다는 조건입니다. 상황 A에서 H_A–M_A는 A 계열의 S에서 만나지만 H_A–H_B 및 H_A–M_B는 두 계열을 만든 D에서 만납니다. 상황 B에서는 H1–H2가 D에서 만나고 각 H 유전자와 M은 S에서 만납니다. 마지막 확장 문항에는 유전자 계통수와 종 계통수, 중복·종 분화·소실에 대한 근거가 필요하다고 설명합니다. 서열 동일성이나 종 이름만으로 관계를 확정하지 않습니다.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24–25분 (1분)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25–27분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27–30분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30–32분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32–33분 (1분)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A3M의 열과 삽입 읽기</a:t>
            </a:r>
          </a:p>
          <a:p>
            <a:r>
              <a:t>시간: 36–38분 (2분)</a:t>
            </a:r>
          </a:p>
          <a:p/>
          <a:p>
            <a:r>
              <a:t>먼저 문제를 풀고, 바로 다음 정답·해설 화면에서 풀이와 흔한 오류를 확인합니다. 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  답: query 포함7행, homolog6행, 정렬12열. A2의 ee는4열 직전 insertion이며 원문14글자와 정렬12열은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A3M의 행과 열</a:t>
            </a:r>
          </a:p>
          <a:p>
            <a:r>
              <a:t>시간: 38–39분 (1분)</a:t>
            </a:r>
          </a:p>
          <a:p/>
          <a:p>
            <a:r>
              <a:t>실습 A3M은 헤더 일곱 개와 그에 대응하는 서열 일곱 개로 구성됩니다. Query가 한 행이므로 homolog는 여섯 행이며, 헤더 줄과 서열 줄을 합친 텍스트 줄 수를 MSA 행 수로 세면 안 됩니다. Query가 열두 잔기이며 이 예제의 각 행에서 소문자를 제외하고 대문자와 gap을 세면 열두 정렬 열이 됩니다. Query와 동일한 A1도 원시 행 수에는 포함되지만 독립적인 진화 정보가 하나 더 생긴다고 해석하지 않습니다. 행 수와 더불어 coverage, 다양성, 중복도, 계산 정의를 기록한 Neff를 확인합니다. 이 A3M의 A/B header는 임의 라벨로, 활동지 1쪽의 유전자 계열 A/B와 연결해 orthology나 paralogy를 판정하지 않습니다.</a:t>
            </a:r>
          </a:p>
          <a:p/>
          <a:p>
            <a:r>
              <a:t>출처</a:t>
            </a:r>
          </a:p>
          <a:p>
            <a:r>
              <a:t>[evo_hhsuite] HH-suite official wiki: Multiple sequence alignment formats and model format</a:t>
            </a:r>
          </a:p>
          <a:p>
            <a:r>
              <a:t>https://github.com/soedinglab/hh-suite/wiki</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ee, gap, X의 차이</a:t>
            </a:r>
          </a:p>
          <a:p>
            <a:r>
              <a:t>시간: 39–40분 (1분)</a:t>
            </a:r>
          </a:p>
          <a:p/>
          <a:p>
            <a:r>
              <a:t>A2 원문은 ACDeeEFGHIKLMN으로 열네 글자이지만, 소문자 ee는 D 뒤이자 query 정렬 4열 E 직전의 삽입입니다. 소문자를 제외한 표시를 보조선으로 사용하면 열두 match/deletion 열이 유지됨을 확인할 수 있습니다. 이것은 읽기용 비교이며 원본에서 삽입 정보를 무조건 삭제하라는 지시가 아닙니다. A3의 다섯 번째 열은 gap이고 B1의 열한 번째 열은 X입니다. X는 한 정렬 위치를 차지하며 잔기 종류를 모르거나 실습에서 의도적으로 가린 경우를 나타내므로 gap과 의미가 다릅니다.</a:t>
            </a:r>
          </a:p>
          <a:p/>
          <a:p>
            <a:r>
              <a:t>출처</a:t>
            </a:r>
          </a:p>
          <a:p>
            <a:r>
              <a:t>[evo_hhsuite] HH-suite official wiki: Multiple sequence alignment formats and model format</a:t>
            </a:r>
          </a:p>
          <a:p>
            <a:r>
              <a:t>https://github.com/soedinglab/hh-suite/wiki</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40–42분 (2분)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42–44분 (2분)</a:t>
            </a:r>
          </a:p>
          <a:p/>
          <a:p>
            <a:r>
              <a:t>먼저 문제를 풀고, 바로 다음 정답·해설 화면에서 풀이와 흔한 오류를 확인합니다.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Coverage와 identity · 분모부터 쓰기</a:t>
            </a:r>
          </a:p>
          <a:p>
            <a:r>
              <a:t>시간: 44–45분 (1분)</a:t>
            </a:r>
          </a:p>
          <a:p/>
          <a:p>
            <a:r>
              <a:t>Query는 ACDEFGHI로 여덟 잔기입니다. A는 ACDE----이므로 query의 앞 네 위치만 덮고 비교한 네 위치는 모두 같습니다. 따라서 coverage는 4/8=50%, identity는 4/4=100%입니다. B는 ACNEYGHI로 query 전체를 덮으며 D/N과 F/Y 두 곳만 달라 coverage는 8/8=100%, identity는 6/8=75%입니다. 이는 앞 슬라이드에서 명시한 교육용 분모를 사용한 결과이며 실제 도구의 정의는 따로 확인합니다. A의 100% identity만 보고 전체 query가 동일하다고 말하거나 어느 하나가 무조건 더 좋은 입력이라고 결론 내리지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45–47분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보존·공변이·공진화는 서로 다른 질문</a:t>
            </a:r>
          </a:p>
          <a:p>
            <a:r>
              <a:t>시간: 47–49분 (2분)</a:t>
            </a:r>
          </a:p>
          <a:p/>
          <a:p>
            <a:r>
              <a:t>학생에게 MSA를 세로와 가로로 번갈아 보게 합니다. Ortholog와 paralog는 서로 다른 행인 유전자들의 기원에 붙이는 이름이고, residue coevolution은 정렬에서 대응하는 위치들의 진화적 의존성을 묻습니다. 두 잔기가 ortholog라는 표현은 이 문맥에 맞지 않습니다. 문헌에서는 covariation과 coevolution을 넓게 섞어 쓰기도 하지만, 오늘은 관찰된 통계적 의존성과 그 원인에 관한 진화적 해석을 구별합니다. 공변이를 보았다고 구조적 상호작용 때문에 공진화했다고 바로 결론 내리지 않습니다. 두 열이 완전히 보존되어 있으면 중요한 접촉이 실제 존재하더라도 이 자료의 변화 패턴으로 의존성을 판별하기 어렵다는 점도 짚습니다. 여기서 함께 진화한다는 것은 여러 세대에 걸친 서열 제약의 의존성을 뜻합니다. 단백질의 두 잔기가 시간에 따라 같은 방향으로 움직이는 동역학적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접촉을 유지하는 선택이 공진화를 만들 수 있다</a:t>
            </a:r>
          </a:p>
          <a:p>
            <a:r>
              <a:t>시간: 49–51분 (2분)</a:t>
            </a:r>
          </a:p>
          <a:p/>
          <a:p>
            <a:r>
              <a:t>그림의 원은 원자 한 개가 아니라 잔기 측쇄의 전하 성질을 단순화한 표식입니다. i 위치는 청록, j 위치는 주황으로 일관되게 표시하며 색 자체가 전하를 뜻하지 않습니다. D는 보통 음전하, K는 양전하를 띠지만 실제 전하·안정성은 pH·환경·거리·배향에 의존합니다. 여기서는 가까운 두 위치의 반대 전하 조합이 유리하다는 가정을 명시합니다. D−/K+와 K+/D− 두 조합을 나란히 보여주고, K+/K+는 이 가정에서 덜 유리하다고 표시합니다. 두 유리한 조합 사이에 화살표를 그리지 않았으므로 D/K에서 K/K를 거쳐 K/D로 진화했다거나 두 변이가 동시에 일어났다는 주장이 아닙니다. 한 위치의 치환 효과가 다른 위치의 상태에 의존하는 것은 epistasis이며, 한 변화의 영향을 다른 변화가 완화할 수 있다는 것이 보상적 치환의 직관입니다. 이런 구조 유지 제약이 여러 상동 서열의 조합 패턴으로 남을 수 있기 때문에 공진화 분석으로 서열에서 멀리 떨어진 위치의 공간 접촉을 추정할 수 있습니다. 다만 다음 빈도 실습의 통계만으로 이 물리적 원인을 확정하지 않습니다. 학생에게 ‘한 열만 보는 보존도와 두 열을 함께 읽는 구조 단서는 무엇이 다른가’를 구두로 물은 뒤 다음 계산 슬라이드로 진행합니다.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[intro_af2_overview] EMBL-EBI / Google DeepMind: AlphaFold2 high-level overview</a:t>
            </a:r>
          </a:p>
          <a:p>
            <a:r>
              <a:t>https://www.ebi.ac.uk/training/online/courses/alphafold/inputs-and-outputs/a-high-level-overview/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51–54분 (3분)</a:t>
            </a:r>
          </a:p>
          <a:p/>
          <a:p>
            <a:r>
              <a:t>표의 각 숫자는 그 잔기 조합을 가진 서열 행의 수입니다. 예를 들어 오른쪽 위의 4는 i에 D와 j에 K가 같은 서열 안에서 함께 나타난 행이 네 개라는 뜻입니다. 주변 빈도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분포와 독립 분포를 비교한 것이며, 여덟 개 생물학적 독립 표본으로 유의성 검정을 한 것이 아닙니다. 원하면 MI = sum P(a,b) log2[P(a,b)/(P(a)P(b))]라고 소개합니다. 이 가상 표의 경험적 MI는 1 bit이며 0 빈도 항의 기여는 0으로 처리합니다. 계산값 자체는 계통 효과를 제거하지 않으며 접촉 점수나 AlphaFold 신뢰도도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같은 열 빈도, 다른 조합</a:t>
            </a:r>
          </a:p>
          <a:p>
            <a:r>
              <a:t>시간: 54–56분 (2분)</a:t>
            </a:r>
          </a:p>
          <a:p/>
          <a:p>
            <a:r>
              <a:t>먼저 문제를 풀고, 바로 다음 정답·해설 화면에서 풀이와 흔한 오류를 확인합니다. 학생 실습지의 coevolution 페이지 첫 계산과 연결합니다.  두 자료 모두 P(D_i)=1/2, P(K_j)=1/2이므로 독립일 때 D–K의 빈도는 1/4입니다. 자료 P의 실제 D–K 빈도는 4/8=1/2, 자료 Q는 2/8=1/4입니다. Q에서는 네 조합이 모두 각각 1/4이므로 이 경험적 분포는 독립입니다. 단일 열의 잔기 분포와 보존도는 동일하므로 그것만으로 둘을 구분할 수 없습니다. 선택 심화 답은 경험적 MI가 P에서 1 bit, Q에서 0 bit라는 것입니다. Q에 공변이가 없다는 관찰도 실제 단백질에서 접촉이 없음을 입증하지 않습니다. P에 공변이가 있다는 관찰도 직접 접촉을 입증하지 않습니다. 작은 가상 표로 통계적 유의성이나 실제 공진화를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같은 보존도, 다른 공동 분포</a:t>
            </a:r>
          </a:p>
          <a:p>
            <a:r>
              <a:t>시간: 56–57분 (1분)</a:t>
            </a:r>
          </a:p>
          <a:p/>
          <a:p>
            <a:r>
              <a:t>학생의 계산을 주변 빈도, 공동 빈도, 독립 모형의 기대값 순서로 확인합니다. 자료 P와 Q 모두 각 열의 D/K 빈도는 각각 1/2이므로 한 열씩 보거나 보존도만 계산하면 차이가 없습니다. 그러나 P의 D–K는 4/8이고 Q의 D–K는 2/8입니다. 독립일 때의 기대값 1/4과 비교하면 P에는 통계적 의존성이 있습니다. Q는 D–K 하나만 맞는 것이 아니라 DD·DK·KD·KK 네 조합이 모두 1/4이므로 제시한 경험적 분포가 독립입니다. 이 표는 손으로 만든 8행 자료이며 유의성 검정이나 물리적 원인의 검증이 아닙니다. P의 패턴을 만든 원인이 접촉인지, 계통 효과인지, 간접 연관인지 이 계산만으로 구분할 수 없습니다. 반대로 Q에 공변이가 없다는 관찰도 실제 단백질에 접촉이 없음을 입증하지 않습니다. 이 마지막 구분을 확인한 뒤 진화 관계와 표집의 문제로 연결합니다.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57–67분 (10분)</a:t>
            </a:r>
          </a:p>
          <a:p/>
          <a:p>
            <a:r>
              <a:t>첫 번째 휴식. 방금 계산한 두 열의 상관이 무엇 때문에 생겼는지 생각해 두게 합니다. 다음 구간에서 ortholog의 공통 조상과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공통 조상은 남아 있다</a:t>
            </a:r>
          </a:p>
          <a:p>
            <a:r>
              <a:t>시간: 67–70분 (3분)</a:t>
            </a:r>
          </a:p>
          <a:p/>
          <a:p>
            <a:r>
              <a:t>Ortholog는 종 분화로 갈라진 유전자 관계이지 서로 독립적으로 실험한 시료라는 뜻이 아닙니다. 어느 조상 가지에서 D–K 조합이 생긴 뒤 많은 후손에게 전달되었다면, 말단 서열의 반복 개수를 치환 사건 수로 셀 수 없습니다. 여러 떨어진 가지에서 관련 변화가 반복되는지 묻는 것이 더 적절하지만, 이를 판단하려면 계통수와 치환 모형 등 추가 가정이 필요합니다. Ortholog를 선택하면 고대 중복으로 분리된 다른 계열을 섞는 일을 줄일 수 있으나 phylogenetic non-independence 자체를 없애지는 못합니다. 서열 재가중도 이 문제를 완벽히 제거하지 않습니다. 따라서 ortholog 선택, 정렬 품질, 계통 구조, 서열 다양성은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계열 차이를 함께 섞는다</a:t>
            </a:r>
          </a:p>
          <a:p>
            <a:r>
              <a:t>시간: 70–72분 (2분)</a:t>
            </a:r>
          </a:p>
          <a:p/>
          <a:p>
            <a:r>
              <a:t>계열 A에서는 i가 D이고 j가 K, 계열 B에서는 반대라고 가정하면 A와 B의 비중이 두 열의 조합 빈도를 함께 결정합니다. 이런 패턴에는 계열 분기 역사가 들어 있으므로 전체 MSA의 상관만으로 반복적인 잔기 보상을 추론할 수 없습니다. 곧바로 다음 장의 숫자를 직접 나눠 보게 합니다. 구조 예측과 DCA는 일반적으로 상동 단백질 가족의 정보를 활용하며 입력을 반드시 ortholog-only로 제한하는 정의가 아닙니다. Paralog도 공통 구조 제약을 알려 줄 수 있으므로 모두 제거하면 충분한 다양성까지 잃을 수 있습니다. 반대로 정렬되지 않는 도메인이나 매우 다른 기능 계열을 무조건 합치는 것도 바람직하지 않습니다. 가족별 비교는 원인을 점검하는 분석이며, 진짜 공진화가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계열을 나누면 무엇이 보이나?</a:t>
            </a:r>
          </a:p>
          <a:p>
            <a:r>
              <a:t>시간: 72–74분 (2분)</a:t>
            </a:r>
          </a:p>
          <a:p/>
          <a:p>
            <a:r>
              <a:t>먼저 문제를 풀고, 바로 다음 정답·해설 화면에서 풀이와 흔한 오류를 확인합니다. 화면 표를 읽기 전에 다음 가정이 화면과 실습지에 제시되어 있음을 확인합니다: H/M/R/F는 네 가상 종이며, 유전자 중복으로 A/B가 나뉜 뒤 네 종이 분화했고 추가 중복·소실은 없습니다. 실제 종의 약자가 아닙니다. 이 가정은 반드시 학생에게 읽어 줍니다.  정답: A_H–A_M은 ortholog, A_H–B_H와 A_H–B_M은 paralog입니다. 각 A 또는 B 계열 안에서는 이 두 위치에 변이가 없으므로 이 표만으로 계열 내부의 coevolution을 검출할 근거가 없습니다. 전체에서는 앞 장의 자료 P와 같이 D–K와 K–D만 각각 네 번 나타납니다. 이 의존성은 계열 구분과 겹치므로 반복적인 보상 치환이나 직접 접촉으로 바로 해석하면 안 됩니다. 여덟 행은 여덟 번의 독립 치환이 아니며 조상 상태와 실제 변화 횟수도 이 표로 결정하지 못합니다. 추가 근거로 더 넓은 계통 표집, 신뢰할 만한 정렬·계통수, 계열 내부 변이, 실제 구조 등을 제안하게 합니다. 여기 A/B는 주어진 가상 유전자 역사에 따른 중복 계열입니다. 별도 파일 practice/fictional_learning.a3m의 group A/B는 편의를 위한 교육용 라벨이며 ortholog/paralog 관계를 추론한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계열 차이와 공진화를 구분</a:t>
            </a:r>
          </a:p>
          <a:p>
            <a:r>
              <a:t>시간: 74–75분 (1분)</a:t>
            </a:r>
          </a:p>
          <a:p/>
          <a:p>
            <a:r>
              <a:t>문제에서 A/B 중복이 H·M·R·F의 종 분화보다 먼저 발생했고 추가 중복·소실은 없다고 주었습니다. 그러므로 A_H와 A_M의 가장 최근 공통 조상은 종 분화 노드이며 ortholog입니다. A_H와 B_H, A_H와 B_M은 모두 먼저 일어난 중복 노드에서 만나므로 paralog입니다. 현재 같은 종인지 다른 종인지만으로 분류하지 않습니다. A 계열에서는 i와 j가 D/K로 고정되고 B에서는 K/D로 고정되어, 각 계열 내부에는 두 위치의 변이가 없습니다. 따라서 이 표가 계열 내부의 공진화를 검출할 정보를 주지는 않지만, 공진화가 생물학적으로 전혀 없다고 증명한 것도 아닙니다. 합친 표에서는 D–K와 K–D가 네 번씩 나타나지만 그 의존성은 계열 이름과 완전히 겹칩니다. 조상에게서 다른 조합을 물려받은 경우에도 이 표를 얻을 수 있으므로 여덟 후손을 여덟 번의 독립 보상 치환으로 세거나 치환의 순서를 결정하지 않습니다. 실제 접촉 여부는 정렬과 계통 이력을 점검하고 구조·실험 근거로 확인합니다. Ortholog들끼리도 공통 조상에 따른 비독립성이 남으며, 구조 분석에서 paralog를 항상 제거해야 한다는 뜻은 아닙니다. 이 A/B는 유전자 역사가 주어진 가상 계열입니다. 별도 A3M 실습 파일의 A/B 라벨과는 다른 자료입니다.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복합체에서는 어떤 서열끼리 짝지었는가?</a:t>
            </a:r>
          </a:p>
          <a:p>
            <a:r>
              <a:t>시간: 75–77분 (2분)</a:t>
            </a:r>
          </a:p>
          <a:p/>
          <a:p>
            <a:r>
              <a:t>앞의 A/B 하위 계열 예제와 혼동하지 않도록 이번에는 서로 상호작용할 수 있는 두 단백질 가족을 P와 Q라고 부릅니다. 단백질 내부의 coevolution은 한 가족의 MSA에서 열쌍을 비교합니다. 단백질 사이의 분석에서는 P와 Q의 MSA 행을 상호작용 상대에 맞춰 대응시키는 문제가 추가됩니다. 한 종에 P1/P2와 Q1/Q2가 모두 있으면 종 이름만으로 올바른 상대가 정해지지 않습니다. 다른 종의 ortholog 관계, 유전체 맥락, 알려진 상호작용 및 서열 신호가 pairing을 돕지만 보장은 아닙니다. 잘못 연결한 행은 단백질 사이 신호를 약화시키거나 왜곡할 수 있습니다. AlphaFold 3의 입력 문서에서 말하는 MSA pairing 역시 행 대응을 구성하는 절차이며 실험적인 결합 확인을 뜻하지 않습니다. 단일 단백질의 상동 MSA 선택과 복합체의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77–79분 (2분)</a:t>
            </a:r>
          </a:p>
          <a:p/>
          <a:p>
            <a:r>
              <a:t>칠판에 i—k—j를 그리고 i와 j 사이의 직접 선은 그리지 않습니다. 가운데 k를 통한 연결만으로 두 끝 위치의 관찰 분포가 연관될 수 있다는 직관을 설명합니다. Direct Coupling Analysis는 모든 위치를 함께 고려하는 통계 모형에서 쌍별 coupling을 추정해 단순한 두 열 상관의 간접 효과를 분리하려는 접근입니다. 여기서 direct는 해당 통계 모형 안에서의 뜻이지 물리적 인과 관계가 검증되었다는 뜻이 아닙니다. 표집, 계통 효과, 정렬 오류와 모형 한계가 남을 수 있습니다. AlphaFold 2는 Evoformer에서 MSA 표현과 잔기쌍 표현을 상호 갱신하며 구조 학습을 활용합니다. 따라서 MI를 계산해 높은 값끼리 붙이거나 고전적 DCA만 실행하는 절차로 설명하면 부정확합니다. AlphaFold 3 역시 이 장의 가상 MI 계산을 그대로 구조로 변환하는 도구가 아니며 세부 구조는 AF2와 다릅니다. 이 장에서는 입력 정보와 학습된 추론을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79–82분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 마지막30초에 활동지2쪽4번을 구두로 확인합니다. 같은 행 복제는 raw depth를 높여도 새로운 독립적 진화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82–83분 (1분)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83–84분 (1분)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84–85분 (1분)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85–87분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서열과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87–89분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서열과 기본 조건 입력</a:t>
            </a:r>
          </a:p>
          <a:p>
            <a:r>
              <a:t>시간: 89–91분 (2분)</a:t>
            </a:r>
          </a:p>
          <a:p/>
          <a:p>
            <a:r>
              <a:t>공식 FASTA 직접 주소: https://rest.uniprot.org/uniprotkb/P0DP23.fasta . 브라우저 주소창에 붙여 넣습니다. 파일이 자동 다운로드되지 않고 텍스트가 보이면 페이지 저장(Ctrl+S / macOS Cmd+S)으로 calmodulin_P0DP23.fasta라는 이름으로 저장합니다. HTML이 아니라 &gt;sp|P0DP23|CALM1_HUMAN으로 시작하는 일반 텍스트인지 확인하고, .txt가 자동으로 붙었다면 최종 확장자가 .fasta인지 확인합니다. 저장 없이 화면에서 제목을 제외한 서열 줄만 복사해도 됩니다. examples/calmodulin_P0DP23.fasta를 텍스트로 열고 &gt;sp로 시작하는 설명 줄은 제외합니다. 나머지 서열 줄은 이어 붙이거나 줄바꿈 포함 복사해도 공백이 제거됩니다. 단일 사슬 실습이므로 콜론을 추가하지 않습니다. query_sequence에 기본 예제 서열이 남아 있지 않은지 학생이 확인합니다. jobname은 영문·숫자·밑줄로 간단히 지정합니다. 이 calmodulin 예측에는 Ca2+를 입력하지 않으므로 결과를 실험적 apo 또는 holo 상태로 단정하지 않습니다. num_relax는 후처리 모델 수이며 예측할 서열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a:p>
            <a:r>
              <a:t>[core_calm_fasta] UniProt P0DP23 canonical FASTA: human calmodulin-1</a:t>
            </a:r>
          </a:p>
          <a:p>
            <a:r>
              <a:t>https://rest.uniprot.org/uniprotkb/P0DP23.fasta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91–93분 (2분)</a:t>
            </a:r>
          </a:p>
          <a:p/>
          <a:p>
            <a:r>
              <a:t>입력 폼을 먼저 모두 설정한 뒤 Runtime→Run all을 누릅니다. 공식 노트북은 설치, MSA 옵션, 고급 설정, 예측 셀을 순서대로 실행합니다. 초기 모델 다운로드와 MSA 서버 대기 등이 포함되므로 완료 시간은 고정하지 않습니다. num_seeds=1이 구조 하나를 뜻하지 않습니다. 현재 노트북의 Run Prediction은 num_models=5로 실행합니다. 첫 기준 예측과 후속 조건에서 모델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93–94분 (1분)</a:t>
            </a:r>
          </a:p>
          <a:p/>
          <a:p>
            <a:r>
              <a:t>먼저 문제를 풀고, 바로 다음 정답·해설 화면에서 풀이와 흔한 오류를 확인합니다. 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모델 pLDDT 신뢰도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ColabFold 기본 실행</a:t>
            </a:r>
          </a:p>
          <a:p>
            <a:r>
              <a:t>시간: 94–95분 (1분)</a:t>
            </a:r>
          </a:p>
          <a:p/>
          <a:p>
            <a:r>
              <a:t>이 페이지는 실행 성공 여부를 점검하는 기준입니다. 실제 GPU 구조 예측 결과를 대신하는 모범 좌표나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기준 구조의 주변 거리가 얼마나 보존되었나?</a:t>
            </a:r>
          </a:p>
          <a:p>
            <a:r>
              <a:t>시간: 95–97분 (2분)</a:t>
            </a:r>
          </a:p>
          <a:p/>
          <a:p>
            <a:r>
              <a:t>lDDT는 구조 예측 전부터 쓰던 정확도 평가 지표이며 Mariani 등의 2013년 논문이 정의와 검증을 제시했습니다. 이름의 맨 앞 l은 local입니다. 중심 잔기 주변의 3차원 이웃을 평가하며 서열에서 앞뒤 몇 잔기만 고르는 뜻이 아닙니다. 기준 구조의 거리가 15 Å 미만인 쌍을 고른 뒤 같은 쌍의 예측 거리를 비교합니다. 15 Å는 이웃 선택 반경이고 0.5·1·2·4 Å는 거리 오차의 네 허용치입니다. 모든 좌표를 같이 회전·이동해도 내부 거리는 유지되므로 전체 구조의 중첩이 필요 없습니다. 그러나 같은 잔기·원자를 대응시켜야 합니다. 원 논문의 all-atom 평가와 아래 AF2의 Cα-only 계산을 구별합니다. AF2 구현은 자기 자신과 기준 좌표가 없는 위치를 제외하고 원 lDDT의 stereochemistry 보정은 생략합니다. 이 설명은 AF2/ColabFold 기준이며 AF3의 원자별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계산 · 네 이웃의 거리 오차를 네 번 채점</a:t>
            </a:r>
          </a:p>
          <a:p>
            <a:r>
              <a:t>시간: 97–99분 (2분)</a:t>
            </a:r>
          </a:p>
          <a:p/>
          <a:p>
            <a:r>
              <a:t>실제 단백질 좌표에서 얻은 값이 아니라 중심 잔기 i와 네 이웃 사이 거리를 가정한 계산 예입니다. 기준 거리 4·7·10·14 Å는 모두 15 Å 미만입니다. 예측에서 d가 17 Å로 멀어져도 기준에서 선택한 이웃이므로 계산에서 빼지 않습니다. 오차 0.2는 네 기준, 0.8은 세 기준, 1.5는 두 기준, 3.0은 한 기준을 통과합니다. 총 16개 검사 중 10개를 통과하므로 0.625입니다. 각 허용치별 보존 비율 1/4·2/4·3/4·4/4를 평균해도 같습니다. 62.5는 lDDT의 100점 표시이며 pLDDT가 아닙니다. 이 값은 중심 잔기 하나의 점수입니다. 전체 구조의 lDDT를 모든 잔기별 점수의 단순평균이라고 일반화하지 않습니다. 각 잔기에 속한 이웃 수가 다를 수 있기 때문입니다. 임계값에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예측 거리가 더 멀어지면?</a:t>
            </a:r>
          </a:p>
          <a:p>
            <a:r>
              <a:t>시간: 99–99.5분 (0.5분)</a:t>
            </a:r>
          </a:p>
          <a:p/>
          <a:p>
            <a:r>
              <a:t>먼저 문제를 풀고, 바로 다음 정답·해설 화면에서 풀이와 흔한 오류를 확인합니다. d의 절대 거리 오차는 5 Å여서 네 검사 모두 실패합니다. 따라서 (4+3+2+0)/16=9/16=0.5625, 100점 척도 56.25입니다. 이웃 선택은 기준 구조에서 하므로 기준 거리 14 Å인 d는 계속 포함합니다. 계산에서 빼면 틀린 거리를 벌점 없이 제거하는 오류가 됩니다. 활동지 5쪽의 기본 표는 앞 슬라이드를 보며 채우고 이 시간에는 변경 문항만 풉니다. pLDDT 확률 계산과 정답 구조 필요 여부 문항은 다음 학습·추론 설명 뒤 구두 확인 또는 수업 후 확장에 사용합니다.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오차가 커져도 이웃은 그대로</a:t>
            </a:r>
          </a:p>
          <a:p>
            <a:r>
              <a:t>시간: 99.5–100.0분 (0.5분)</a:t>
            </a:r>
          </a:p>
          <a:p/>
          <a:p>
            <a:r>
              <a:t>앞 실습의 두 질문을 순서대로 풉니다. 첫째, d의 예측 거리가17에서19 Å로 바뀌면 기준 거리14 Å와의 차이는5 Å입니다. 5는0.5·1·2·4보다 모두 크므로 통과 수가1에서0으로 감소합니다. 나머지는4·3·2로 유지되어 총9회 통과합니다. 네 거리쌍에 네 기준을 각각 적용하므로 분모는16이며9/16=0.5625입니다. 100점 척도로56.25, 앞의62.5보다6.25점 낮습니다. 둘째, 이웃은 기준 구조의 거리로 미리 정했으므로 d를 빼지 않습니다. 잘못 빼면 남은 세 쌍에서9/12=0.75가 되어 예측이 나빠졌는데 점수가 오르는 오류가 생깁니다. 15 Å는 이웃 선택 기준이고0.5·1·2·4 Å는 오차 채점 기준이라는 차이를 다시 강조합니다. 이 값은 기준 구조에 해당하는 가상 거리와 비교한 중심 잔기의 lDDT입니다. 모델이 미리 예상한 pLDDT가 아니며, 실제 단백질을 예측한 결과도 아닙니다.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학습 정답으로</a:t>
            </a:r>
          </a:p>
          <a:p>
            <a:r>
              <a:t>시간: 100.0–102.0분 (2분)</a:t>
            </a:r>
          </a:p>
          <a:p/>
          <a:p>
            <a:r>
              <a:t>lDDT는 기준 구조가 있을 때만 채점할 수 있습니다. 새 서열은 그 기준 구조를 모르는 경우가 많으므로, AlphaFold2는 잔기별 lDDT-Cα 자체를 예상하는 보조 출력인 pLDDT를 학습합니다. p는 predicted를 뜻합니다. 구조 모듈의 잔기별 내부 표현을 작은 신경망에 넣어 50개 구간의 logits를 출력합니다. 학습 중 모델이 만든 Cα 좌표와 학습용 기준 좌표를 비교하여 정답 점수를 계산하고, 점수에 해당하는 구간을 cross-entropy로 지도합니다. 0.625라면 폭 0.02인 [0.62,0.64) 구간입니다. 기준 좌표를 신뢰도 head 입력으로 주는 것이 아니라 손실의 정답을 만드는 데 사용합니다. 정답 점수는 현재 예측 좌표에 따라 달라지며 pLDDT head만을 위한 수작업 confidence 라벨을 사람이 달지 않습니다. 코드에서는 정답 점수에 stop_gradient를 적용합니다. 여러 seed의 구조가 서로 얼마나 닮았는지를 계산하여 점수를 만드는 방식도 아닙니다. 여기서는 AF2의 학습 구조를 설명하며 학생이 ColabFold에서 재학습한다는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서열에서는 정답 없이 pLDDT를 출력한다</a:t>
            </a:r>
          </a:p>
          <a:p>
            <a:r>
              <a:t>시간: 102.0–104.0분 (2분)</a:t>
            </a:r>
          </a:p>
          <a:p/>
          <a:p>
            <a:r>
              <a:t>pLDDT는 predicted local Distance Difference Test입니다. 추론 시 새 표적의 정답 구조는 입력하지 않고, 이미 학습된 모델의 내부 표현으로 신뢰도 분포를 출력합니다. softmax는 50개의 logits를 합이 1인 확률로 바꿉니다. 실제 AF2의 구간 중심은 0.01,0.03,…,0.99입니다. 각 중심에 예측 확률을 곱해 더한 기대값에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확률분포는 점수 구간에 대한 것이며 pLDDT를 곧바로 구조 정답의 확률로 읽지 않습니다. 실제 lDDT는 나중에 기준 구조가 확보되면 따로 계산하고 pLDDT와 비교할 수 있습니다. AF2/ColabFold는 잔기별 점수이며 AF3의 원자별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104.0–106.0분 (2분)</a:t>
            </a:r>
          </a:p>
          <a:p/>
          <a:p>
            <a:r>
              <a:t>범위를 빈틈없이 표시하기 위해 공식 AF2 confidence.py의 50·70·90 경계 포함 방식을 사용했습니다. 웹 범례에는 &gt;90 등 간략한 표기가 있을 수 있습니다. 진한 파랑은 국소 원자 배열을 정밀하게 검토할 출발점이지만, 모든 곁사슬·리간드 접촉이 맞다는 보증은 아닙니다. 하늘색은 골격이 대체로 타당해도 일부 곁사슬 방향은 다를 수 있습니다. 주황 영역은 유연성이나 intrinsically disordered region일 가능성도 있고, 모델에 정보가 부족했을 가능성도 있습니다. 점수만으로 둘을 판별하지 않습니다. 69와70을 완전히 다른 생물학적 상태로 분리하지 말고 연속적인 신뢰도 변화로 읽게 합니다. 실제 ColabFold 3D 화면에서 색을 잔기 번호·점수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신뢰도 구간</a:t>
            </a:r>
          </a:p>
          <a:p>
            <a:r>
              <a:t>시간: 106.0–108.0분 (2분)</a:t>
            </a:r>
          </a:p>
          <a:p/>
          <a:p>
            <a:r>
              <a:t>좌표를 예측한 결과가 아니라 강사가 만든 점수입니다. 도메인을 실제 5잔기로 만든 단백질이 있다는 뜻이 아니라, 도메인 내부와 연결부의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연결부82/2는41.0입니다. 평균 하나만 보고 모든 부분이 비슷하게 믿을 만하다고 판단하면 두 낮은 위치를 놓칩니다. 반대로 연결부가 낮다고 양쪽의 국소 구조를 모두 버리지 않습니다. 그래프의 가로축은 잔기 위치, 세로축은 pLDDT임을 짚고, 이 점수만으로 A와B의 상대 배치는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108.0–109.0분 (1분)</a:t>
            </a:r>
          </a:p>
          <a:p/>
          <a:p>
            <a:r>
              <a:t>먼저 문제를 풀고, 바로 다음 정답·해설 화면에서 풀이와 흔한 오류를 확인합니다. 답①6번43,7번39입니다. ②아닙니다. 평균은 낮은 구간을 가릴 수 있습니다. ③둘 다 확정할 수 없습니다. A·B는 각자 국소 구조에 대한 신뢰도가 높지만 서로의 배치에는 별도 정보가 필요합니다. 낮은 연결부 점수는 disorder나 유연성 가설의 출발점이 될 수 있어도 증명은 아닙니다. 낮은 값과 비정형 구조라는 생물학적 결론 사이에 정보 부족 등 다른 원인이 있음을 말하게 합니다. 91.2가A와B의 같은 모양을 뜻한다는 오답도 교정합니다. 점수는 구조 모양 자체가 아니라 그 예측에 대한 신뢰도입니다. 계산기나 컴퓨터 없이 그래프의 두 낮은 위치를 가리키는 방식으로도 진행합니다.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평균으로 낮은 신뢰도 구간을 가리지 않기</a:t>
            </a:r>
          </a:p>
          <a:p>
            <a:r>
              <a:t>시간: 109.0–110.0분 (1분)</a:t>
            </a:r>
          </a:p>
          <a:p/>
          <a:p>
            <a:r>
              <a:t>6번과7번이 각각43과39로 가장 낮습니다. 이 두 값의 평균은41.0입니다. A1–5의 합456/5=91.2, B8–12도456/5=91.2이고 전체는994/12=82.833…입니다. 따라서 전체 평균이82.8이라는 사실과 특정 연결부의 낮은 신뢰도는 동시에 성립합니다. 평균을 이유로 모든 잔기를 똑같이 믿거나, 연결부가 낮다는 이유로 양쪽의 국소 예측을 모두 버리지 않습니다. pLDDT는 각 위치 주변 모양의 예측 신뢰도이므로 상대 도메인 방향의 판단에는 관련 PAE 블록을 추가로 확인합니다. 낮은 pLDDT는 유연성 또는 disorder 가설과 양립하지만 그 증거를 확정하지 않으며 운동 속도도 주지 않습니다. 마지막으로 A와B의 평균이같은91.2라는 것은 점수만 같다는 뜻이지 구조가 서로 동일하다는 뜻이 아닙니다. 실제5잔기짜리 도메인을 주장하는 자료가 아니라12개 표시 위치로 축약한 교육용 예제입니다.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110.0–113.0분 (3분)</a:t>
            </a:r>
          </a:p>
          <a:p/>
          <a:p>
            <a:r>
              <a:t>피 에이 이라고 읽습니다. 두 손을 도메인 A와B로 삼아 A를 기준으로 붙잡고 B의 위치를 얼마나 확신하는지 묻는 비유를 사용합니다. 정확한 정의는 예측 구조와 참 구조를 잔기 j의 국소 좌표계에 정렬한다고 가정했을 때, 잔기 i에서 예상되는 위치 오차입니다. AF2의 기준 잔기에는 위치뿐 아니라 N–Cα–C로 정한 방향도 있으므로 원자 하나만 겹친다는 뜻으로 설명하지 않습니다. 정답 구조를 실제로 열어 계산한 측정 오차가 아니라 모델이 예측한 오차이며, 각 잔기 쌍에 값이 있어 길이N이면 N×N 표가 됩니다. 이 수업 표에서는 행이 평가 대상 i, 열이 기준 j라고 먼저 약속합니다. 실제 뷰어·원시 배열은 축과 인덱스 정의를 확인합니다. PAE3 Å를 ‘두 잔기가3 Å만큼 떨어져 있다’로 읽지 않습니다. 실제 둘 사이가30 Å 떨어져 있어도 상대 배치를 잘 확신하면 낮은 PAE일 수 있습니다. 낮은 값일수록 신뢰도가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도메인 내부와 도메인 사이</a:t>
            </a:r>
          </a:p>
          <a:p>
            <a:r>
              <a:t>시간: 113.0–115.0분 (2분)</a:t>
            </a:r>
          </a:p>
          <a:p/>
          <a:p>
            <a:r>
              <a:t>먼저 A3은 domain A의3번 표시 위치, B9는 domain B의9번 표시 위치임을 설명합니다. 앞 그래프의12×12 전체 PAE를 제시한 것이 아니라 네 위치만 뽑은4×4 교육용 표입니다. 연결부6·7에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상대 배치에 큰 불확실성이 있음을 보여 줍니다. A3행/B9열18은B9를 기준으로A3을 평가한 값이고, B9행/A3열24는 기준과 대상을 바꾼 값입니다. 방향을 바꾸면 다른 기준 좌표계에서 다른 위치를 평가하므로 PAE는 대칭일 필요가 없습니다. 18과24를 단백질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상대 배치</a:t>
            </a:r>
          </a:p>
          <a:p>
            <a:r>
              <a:t>시간: 115.0–117.0분 (2분)</a:t>
            </a:r>
          </a:p>
          <a:p/>
          <a:p>
            <a:r>
              <a:t>조립 블록 두 개의 모양은 잘 만들었지만 두 블록을 연결하는 방향은 모를 수 있다는 비유로 국소 구조와 상대 배치를 구분합니다. 앞 가상 예제에서 도메인 A·B의 국소 구조를 검토할 근거는 있지만, 두 도메인 사이의 정확한 접촉면을 자신 있게 설명할 근거는 부족합니다. 높은 도메인 사이 PAE는 그 배치의 불확실성이지 실제 동적 이동을 측정한 결과가 아닙니다. 유연한 hinge, 부족한 정보 등 가능한 설명을 구별하려면 다른 예측 조건과 실험 자료가 필요합니다. 반대로 낮은 PAE는 모델이 배치를 확신한다는 뜻입니다. 물리적으로 두 단백질이 결합하는지, 결합력이 얼마인지, 어느 상태가 몇 퍼센트인지와는 다른 질문입니다. MSA subsampling·clustering으로 모델을 여러 개 만들 때도 pLDDT와 관련 PAE 블록을 먼저 읽고 실제 좌표의 차이와 비교합니다. pLDDT 최고 모델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117.0–118.0분 (1분)</a:t>
            </a:r>
          </a:p>
          <a:p/>
          <a:p>
            <a:r>
              <a:t>먼저 문제를 풀고, 바로 다음 정답·해설 화면에서 풀이와 흔한 오류를 확인합니다. ①B9의 국소 좌표계를 기준으로 정렬했을 때 A3의 예상 위치 오차가18 Å이고, A3을 기준으로 했을 때B9는24 Å입니다. 둘은 다른 기준에서의 예측 오차이며 물리적인 잔기 사이 거리가 아닙니다. ②제시한 네 위치에 관해서는 Q가 A–B 상대 배치를 더 확신합니다. pLDDT가 같아도 PAE에서 이 차이가 나타납니다. Q의 낮은 값이 실험적으로 더 정확하다는 보증은 아니며, Q라는 상태가 더 많이 존재한다거나 P에서Q로 전이하는 속도를 말해주지 않습니다. 연결부6·7의 pLDDT는 Q에서도43·39로 그대로 낮습니다. 또한 선택한4×4만으로 생략한 모든 위치의 상대 배치가 확실하다고 확대하지 않습니다. 마지막에 학생에게 한 문장 결론을 쓰게 합니다: ‘Q는 제시된 도메인 간 위치에 대한 모델 신뢰도가 더 높지만, 실제 구조·점유율은 추가 검증이 필요하다.’ 앞 pLDDT 실습과 같은 가상 데이터이며 실제 GPU 추론을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PAE의 기준과 평가 대상을 나누기</a:t>
            </a:r>
          </a:p>
          <a:p>
            <a:r>
              <a:t>시간: 118.0–119.0분 (1분)</a:t>
            </a:r>
          </a:p>
          <a:p/>
          <a:p>
            <a:r>
              <a:t>먼저 표의 축을 소리 내어 확인합니다. 이 수업의 약속은 행이 평가 대상i, 열이 정렬 기준j입니다. 그러므로 A3행·B9열18은 B9의 국소 좌표계를 맞췄다고 가정했을 때 A3의 위치에 대해 모델이 예상하는 오차입니다. 반대쪽24는 A3를 기준으로 삼고 B9를 평가한 값입니다. 기준을 바꾸므로 두 값이같아야 할 이유가 없습니다. 하나의 물리적 거리 A3–B9를 양방향으로 측정해서 서로 다른 숫자가 나왔다는 뜻이 아닙니다. 원자 하나의 위치만 맞추는 것이 아니라 기준 잔기의 방향까지 포함한 국소 좌표틀을 생각합니다. 두 값 모두 모델의 예측 오차이며 실험적으로 확인한 오차가 아닙니다. 실제 소프트웨어에서는 축 정의가 이 표와 같은지 먼저 확인합니다. 앞 표는12개 위치 전체의144칸 중3·4·9·10번에 관한16칸만 제시한 교육용 자료입니다.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Q는 제시된 상대 배치를 더 확신한다</a:t>
            </a:r>
          </a:p>
          <a:p>
            <a:r>
              <a:t>시간: 119.0–120.0분 (1분)</a:t>
            </a:r>
          </a:p>
          <a:p/>
          <a:p>
            <a:r>
              <a:t>P와 Q는 동일한 pLDDT 그래프를 갖는다는 문제 조건을 먼저 유지합니다. 따라서 Q에서도 6·7번의 43·39는 그대로이고, 낮은 연결부의 국소 신뢰도가 좋아졌다고 말할 수 없습니다. P의 선택된 도메인 내부쌍은 1·2 Å, 도메인 사이쌍은 18–24 Å입니다. Q는 제시한 4×4의 대각선 밖 값이 모두 1–3 Å이므로 A–B 위치쌍의 배치에 대한 모델 신뢰도가 높아집니다. 낮은 PAE가 낮은 물리적 잔기 간 거리라는 의미는 아닙니다. 이 판독은 한 사슬의 두 구간에 대한 것이며, 실제 결합·에너지·평형 점유율·전이 속도를 증명하지 않습니다. Q가 현실에서 더 자주 존재한다고 결론 내리지 않습니다. PAE는 모델이 예상한 오차이므로 어느 예측이 실험적으로 옳은지는 독립 근거로 검증합니다. 생략한 8개 위치의 PAE가 제공되지 않았으므로 전체 12×12 행렬도 모두 낮다고 일반화하지 않습니다. 학생에게 마지막으로 ‘Q는 제시된 도메인 간 위치의 신뢰도가 더 높다’와 ‘Q가 실제로 우세한 상태다’를 구별하여 말하게 합니다.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120.0–130.0분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130.0–131.0분 (1분)</a:t>
            </a:r>
          </a:p>
          <a:p/>
          <a:p>
            <a:r>
              <a:t>먼저 문제를 풀고, 바로 다음 정답·해설 화면에서 풀이와 흔한 오류를 확인합니다. MSA options 코드 셀이 실행될 때 파일 업로드 창이 나타납니다. 단순히 드롭다운만 바꾸어서는 업로드가 시작되지 않습니다. 현재 코드는 첫 번째 선택 파일을 사용하고 첫 서열로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Custom MSA 입력</a:t>
            </a:r>
          </a:p>
          <a:p>
            <a:r>
              <a:t>시간: 131.0–132.0분 (1분)</a:t>
            </a:r>
          </a:p>
          <a:p/>
          <a:p>
            <a:r>
              <a:t>이 페이지는 실행 성공 여부를 점검하는 기준입니다. 실제 GPU 구조 예측 결과를 대신하는 모범 좌표나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132.0–133.0분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133.0–135.0분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공정한 비교 설계</a:t>
            </a:r>
          </a:p>
          <a:p>
            <a:r>
              <a:t>시간: 135.0–137.0분 (2분)</a:t>
            </a:r>
          </a:p>
          <a:p/>
          <a:p>
            <a:r>
              <a:t>먼저 문제를 풀고, 바로 다음 정답·해설 화면에서 풀이와 흔한 오류를 확인합니다.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공정한 비교는 B</a:t>
            </a:r>
          </a:p>
          <a:p>
            <a:r>
              <a:t>시간: 137.0–138.0분 (1분)</a:t>
            </a:r>
          </a:p>
          <a:p/>
          <a:p>
            <a:r>
              <a:t>활동의 정답은 B입니다. A에서는 같은 단백질의 배경 MSA만 바꾼 것이 아니라 query 경계, template 유무, 계산량까지 달라졌습니다. 따라서 구조 차이를 행 선택 탓으로 돌릴 수 없습니다. B는 전체 MSA를 baseline으로 두고 선택 MSA를 비교하므로 질문에 더 가깝습니다. 단, 10회라는 숫자가 같다는 조건만으로 충분하지 않습니다. 동일 모델/가중치와 동일 예측 seed 목록, template와 recycle 설정, 실제 생성 수를 맞춥니다. 행 추출 seed는 어느 homolog가 입력에 남는지를 정하고 예측 seed는 예측기의 확률적 처리를 정하므로 둘을 구분해 기록합니다. 입력 MSA의 원시 행 수는 독립 진화 정보의 수가 아닙니다. 선택 ID와 유효 다양성도 함께 확인합니다. 비교한 모든 후보에 같은 구조 지표와 confidence 판정 기준을 적용하고 최고 점수 하나만 골라 방법의 우월성을 판단하지 않습니다. 전체 MSA의 예측 역시 실험적 정답은 아닙니다. content/worksheet_answers.md 4쪽 4번 및 기존 활동 58의 A/B 조건과 대조했습니다.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138.0–139.0분 (1분)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139.0–141.0분 (2분)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Depth를 줄인 MSA</a:t>
            </a:r>
          </a:p>
          <a:p>
            <a:r>
              <a:t>시간: 141.0–143.0분 (2분)</a:t>
            </a:r>
          </a:p>
          <a:p/>
          <a:p>
            <a:r>
              <a:t>먼저 문제를 풀고, 바로 다음 정답·해설 화면에서 풀이와 흔한 오류를 확인합니다. 기본 실행은 depth4/seed7이며 query,A2,A3,B1을 남깁니다. Query 포함4행, 정렬12열이고 query는 예측 대상이므로 보존합니다. 원본7행 대비 남긴 계통·열별 잔기빈도·조합빈도가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유의성 검정을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Query 포함 4행, 정렬 12열</a:t>
            </a:r>
          </a:p>
          <a:p>
            <a:r>
              <a:t>시간: 143.0–144.0분 (1분)</a:t>
            </a:r>
          </a:p>
          <a:p/>
          <a:p>
            <a:r>
              <a:t>현재 practice/msa_lab.py의 subsample(rows, 4, 7)을 직접 실행한 결과와 practice/runs/verified_default/report.json을 대조했습니다. 출력 순서는 원본 순서이며 query, example_A2, example_A3, example_B1입니다. Query는 예측하려는 단백질이므로 첫 행에 그대로 둡니다. 소문자 ee와 gap, X도 해당 행의 원문 그대로 남습니다. ee 두 글자를 정렬 열로 세면 14열로 오해하게 됩니다. 원래 A1은 query와 동일한 서열이어서 이를 제거했다고 독립 정보 한 단위가 정확히 감소한다고 해석하지 않습니다. 행 선택에 따라 다양성, gap 위치와 coverage, 단일 열 빈도 및 여러 열 조합의 빈도가 함께 바뀔 수 있습니다. 이 작은 가상 MSA로 실제 공진화 신호의 유의성을 검정하지 않습니다. 같은 환경·입력·행 추출 seed를 사용하면 같은 부분집합이 나오지만 장기 재현을 위해 코드/Python 버전과 선택 ID도 기록합니다. depth, group, mask 출력은 원본 7행에서 각각 만든 독립 조건이며 순차 가공 결과가 아닙니다. content/worksheet_answers.md 4쪽 1번 및 practice/instructor_answers.md 4번과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144.0–146.0분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146.0–148.0분 (2분)</a:t>
            </a:r>
          </a:p>
          <a:p/>
          <a:p>
            <a:r>
              <a:t>먼저 문제를 풀고, 바로 다음 정답·해설 화면에서 풀이와 흔한 오류를 확인합니다. 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모델을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정확도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max_msa 두 조건 비교</a:t>
            </a:r>
          </a:p>
          <a:p>
            <a:r>
              <a:t>시간: 148.0–149.0분 (1분)</a:t>
            </a:r>
          </a:p>
          <a:p/>
          <a:p>
            <a:r>
              <a:t>이 페이지는 실행 성공 여부를 점검하는 기준입니다. 실제 GPU 구조 예측 결과를 대신하는 모범 좌표나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149.0–152.0분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152.0–153.0분 (1분)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서열 그룹별 입력 비교</a:t>
            </a:r>
          </a:p>
          <a:p>
            <a:r>
              <a:t>시간: 153.0–155.0분 (2분)</a:t>
            </a:r>
          </a:p>
          <a:p/>
          <a:p>
            <a:r>
              <a:t>먼저 문제를 풀고, 바로 다음 정답·해설 화면에서 풀이와 흔한 오류를 확인합니다.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서열 집합이 잔기 분포와 coverage까지 바꿈을 확인합니다. Coevolution 활동지 3쪽에서는 가상 gene history를 주었지만 이 파일에는 ortholog/paralog 판정 근거가 없습니다. Cluster마다 같은 query를 넣어도 구조 상태 분류나 공진화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그룹마다 잔기 분포가 달라진다</a:t>
            </a:r>
          </a:p>
          <a:p>
            <a:r>
              <a:t>시간: 155.0–156.0분 (1분)</a:t>
            </a:r>
          </a:p>
          <a:p/>
          <a:p>
            <a:r>
              <a:t>현재 practice/msa_lab.py의 prelabelled_groups 결과를 직접 계산하여 확인했습니다. 두 파일의 첫 query는 모두 ACDEFGHIKLMN입니다. Query를 제외하고 A1/A2/A3 순서로 5열을 읽으면 F,F,-이고 11열은 M,M,M입니다. B1/B2/B3는 각각 Y,Y,Y와 X,-,X입니다. X는 정렬 열 하나를 차지하지만 잔기 정체를 알 수 없고, gap은 해당 정렬 위치에 대응하는 잔기가 없다는 표식입니다. 따라서 B의 11열을 세 종류의 알려진 아미노산 분포로 세면 안 됩니다. Query를 포함해 빈도를 계산하면 각 그룹에 query의 5열 F와 11열 M이 하나씩 더해지므로, 분모와 query 포함 여부를 반드시 명시합니다. 이 활동의 A/B는 3쪽 공진화 문제에서 진화 이력이 주어진 유전자 A/B와 별개입니다. 이 파일에는 종분화·중복 관계를 판정할 근거가 없습니다. 서열 유사성으로 실제 clustering을 수행하더라도 서열 그룹이 구조 상태·상태 수·점유율과 곧바로 같아지는 것은 아닙니다. content/worksheet_answers.md 4쪽 2번과 기존 활동 66의 5열/11열 분포에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156.0–157.0분 (1분)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157.0–158.0분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158.0–159.0분 (1분)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159.0–161.0분 (2분)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정렬 열을 X로 가리기</a:t>
            </a:r>
          </a:p>
          <a:p>
            <a:r>
              <a:t>시간: 161.0–162.0분 (1분)</a:t>
            </a:r>
          </a:p>
          <a:p/>
          <a:p>
            <a:r>
              <a:t>먼저 문제를 풀고, 바로 다음 정답·해설 화면에서 풀이와 흔한 오류를 확인합니다. A2의 결과는 ACDeeEXGXIKXMN입니다. Query, 소문자 ee, 기존 gap은 보존하고 homolog의 5·7·10열 잔기 정체를 가립니다. 먼저 파일 전체를 대문자로 바꾸면 삽입이 정렬 열이 되어 잘못된 위치를 가리게 됩니다. 선택 열의 기존 gap은 그대로 두며 X는 gap과 다릅니다. Mask는 해당 열의 보존도와 다른 열과의 조합 정보를 함께 약화시킬 수 있습니다. 실제 모델의 X 처리와 다른 입력에 따라 예측 반응이 다르므로 특정 접촉만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A2의 완성 문자열과 열 번호</a:t>
            </a:r>
          </a:p>
          <a:p>
            <a:r>
              <a:t>시간: 162.0–163.0분 (1분)</a:t>
            </a:r>
          </a:p>
          <a:p/>
          <a:p>
            <a:r>
              <a:t>현재 practice/msa_lab.py의 mask_homologs(rows, {5,7,10})을 직접 실행하고 저장된 masked.a3m 및 두 교사용 해설과 대조했습니다. A2의 query 정렬 문자열은 ACDEFGHIKLMN입니다. 이 문자열의 5열 F, 7열 H, 10열 L을 가리므로 aligned 결과는 ACDEXGXIKXMN이고 원문에 ee를 그대로 남기면 ACDeeEXGXIKXMN이 됩니다. A2 원문의 4·5번째 글자인 ee는 삽입이므로 정렬 번호가 없습니다. 원문 6–14번째 글자가 정렬 4–12열에 대응합니다. 1-based 원문 위치 7·9·12는 Python의 0-based 문자열 index 6·8·11입니다. A3는 원래 5열에 gap이 있어서 그 열을 X로 바꾸지 않으며 7열과 10열의 잔기만 바뀝니다. A3 결과는 ACDE-GXIKXMN입니다. 파일의 모든 homolog에 같은 정렬 열 규칙을 적용하되 query는 건너뜁니다. 이 화면은 허구 12열 정렬의 손계산 답이며 실제 단백질의 변이 설계가 아닙니다. content/worksheet_answers.md 4쪽 3번 및 practice/instructor_answers.md 6–7번에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X로 가린 정보와 남긴 정보</a:t>
            </a:r>
          </a:p>
          <a:p>
            <a:r>
              <a:t>시간: 163.0–164.0분 (1분)</a:t>
            </a:r>
          </a:p>
          <a:p/>
          <a:p>
            <a:r>
              <a:t>마스킹 결과를 쓸 수 있다는 것과 원래 예측 방법을 재현했다는 것을 분리합니다. 여기서는 지정한 5·7·10열에서 homolog의 알려진 대문자 잔기를 X로 바꿉니다. 기존 X는 X로 남고 gap은 그대로이므로 잔기 정체를 가리더라도 gap과 coverage 패턴은 남습니다. 이 조작은 단일 열의 보존도와 빈도, 다른 열과의 잔기 조합 정보를 동시에 바꿀 수 있습니다. 특정 접촉의 정보만 선택적으로 제거한 것으로 해석할 수 없습니다. 예측기의 X 인코딩과 나머지 입력에 따라 효과가 달라질 수 있어 예측 반응을 이 문자열만 보고 단정하지 않습니다. AFsample2의 실제 파이프라인은 무작위 열 선택, dropout을 포함한 예측과 여러 후보 생성 등을 수행하므로 고정 열 X 치환만 한 오늘의 실습과 같지 않습니다. 동일 query·모델·seed 집합으로 원본 대조군과 비교해야 변화의 원인을 판단할 수 있습니다. Query를 바꾸면 표적 자체가 달라지고, depth/group 결과에 추가 masking을 하면 행과 열 조작이 함께 달라지므로 오늘의 독립 조건 비교와 다른 실험이 됩니다. 현재 프로그램은 원본 7행에서 depth/group/mask 파일을 각각 만듭니다.</a:t>
            </a:r>
          </a:p>
          <a:p/>
          <a:p>
            <a:r>
              <a:t>출처</a:t>
            </a:r>
          </a:p>
          <a:p>
            <a:r>
              <a:t>[afsample2_paper] Kalakoti and Wallner (2025), AFsample2 predicts multiple conformations and ensembles with AlphaFold2</a:t>
            </a:r>
          </a:p>
          <a:p>
            <a:r>
              <a:t>https://www.nature.com/articles/s42003-025-07791-9</a:t>
            </a:r>
          </a:p>
          <a:p>
            <a:r>
              <a:t>[afsample2_code] wallnerlab/AFsample2 author repository</a:t>
            </a:r>
          </a:p>
          <a:p>
            <a:r>
              <a:t>https://github.com/wallnerlab/AFsample2</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164.0–166.0분 (2분)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166.0–168.0분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168.0–169.0분 (1분)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169.0–170.0분 (1분)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170.0–171.0분 (1분)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대안 구조 후보 선택</a:t>
            </a:r>
          </a:p>
          <a:p>
            <a:r>
              <a:t>시간: 171.0–173.0분 (2분)</a:t>
            </a:r>
          </a:p>
          <a:p/>
          <a:p>
            <a:r>
              <a:t>먼저 문제를 풀고, 바로 다음 정답·해설 화면에서 풀이와 흔한 오류를 확인합니다. 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서열 구간과 원자를 정렬해 비교하며 RMSD는 정렬 기준에 따라 달라짐을 설명합니다. 국소 pLDDT와 구간 간 PAE, 원자 충돌, 구조 다양성을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거리와 신뢰도를 함께 비교</a:t>
            </a:r>
          </a:p>
          <a:p>
            <a:r>
              <a:t>시간: 173.0–175.0분 (2분)</a:t>
            </a:r>
          </a:p>
          <a:p/>
          <a:p>
            <a:r>
              <a:t>활동지7쪽1–2번의 예시 답안입니다. 전체8행은 practice/synthetic_comparison.json에 있는 가상 숫자로 실제 모델을 실행한 결과가 아닙니다. 화면 문제에 나온 F1/F2/S1/S2를 먼저 읽고, 활동지의 A1/B1/M1/M2를 같은 기준으로 추가합니다. S2/M2의 낮은 평균 pLDDT와 높은 구간 간 PAE는 먼저 불확실성을 점검할 이유이며 새로운 상태가 없음을 증명하는 기준도 아닙니다. 약8/16Å라는 묶음은 한 관측량을 기준으로 한 임시 분류입니다. 전체 PAE와 국소 pLDDT, 원자 충돌, 동일 seed 집합의 반복 결과를 확인합니다.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3/8은 평형 점유율이 아니다</a:t>
            </a:r>
          </a:p>
          <a:p>
            <a:r>
              <a:t>시간: 175.0–176.0분 (1분)</a:t>
            </a:r>
          </a:p>
          <a:p/>
          <a:p>
            <a:r>
              <a:t>활동지7쪽3번 정답은3/8=37.5%는 이 가상 생성물 집합의 비율이라는 것입니다. 16Å 후보3개를 열린 상태로 이름 붙이는 것부터 추가 구조 확인이 필요합니다. 신뢰도 낮은 S2/M2를 제외하면 분모가 달라지는 사실도 표본과 선별 방식이 비율에 영향을 준다는 설명에 사용할 수 있습니다. 어떤 분모를 골라도 현재 자료에는 평형분포를 대표한다는 근거가 없습니다. 높은 confidence 후보는 후속 검증의 출발점으로 남기되 점유율이나 전환 속도로 해석하지 않습니다.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176.0–177.0분 (1분)</a:t>
            </a:r>
          </a:p>
          <a:p/>
          <a:p>
            <a:r>
              <a:t>먼저 문제를 풀고, 바로 다음 정답·해설 화면에서 풀이와 흔한 오류를 확인합니다. 첫 주장에는 ortholog 사이에도 남는 공통 조상 효과와 간접 관계, 접촉 검증이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세 주장을 근거에 맞게 고치기</a:t>
            </a:r>
          </a:p>
          <a:p>
            <a:r>
              <a:t>시간: 177.0–178.0분 (1분)</a:t>
            </a:r>
          </a:p>
          <a:p/>
          <a:p>
            <a:r>
              <a:t>세 문장을 한 문장씩 바꾸게 한 뒤 표의 예시와 비교합니다. 첫째는 유전자의 분기 관계와 두 위치의 진화적 의존성, 직접 공간 접촉을 구분하는지 봅니다. 둘째는 입력 서열 집합의 cluster와 출력 좌표의 구조 분류를 구분하는지 봅니다. 셋째는 알고리즘의 생성 빈도와 실제 물리적 점유율을 구분하는지 봅니다. Ortholog 선택이나 공진화 분석을 무용하다고 결론짓지 말고 구조 정보를 주는 단서를 적절한 가정 아래 활용한다고 설명합니다.</a:t>
            </a:r>
          </a:p>
          <a:p/>
          <a:p>
            <a:r>
              <a:t>출처</a:t>
            </a:r>
          </a:p>
          <a:p>
            <a:r>
              <a:t>[evo_covariation] Rodriguez Horta &amp; Weigt (2021). On the effect of phylogenetic correlations in coevolution-based contact prediction in proteins.</a:t>
            </a:r>
          </a:p>
          <a:p>
            <a:r>
              <a:t>https://journals.plos.org/ploscompbiol/article?id=10.1371/journal.pcbi.1008957</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178.0–179.0분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179.0–180.0분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t.uniprot.org/uniprotkb/P0DP23.fasta" TargetMode="Externa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10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먼저 MSA가 AlphaFold에 주는 정보와 중요한 이유를 이해하기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진화 관계·coevolution → MSA 조작 → 구조와 신뢰도 읽기</a:t>
            </a:r>
          </a:p>
        </p:txBody>
      </p:sp>
      <p:sp>
        <p:nvSpPr>
          <p:cNvPr id="7" name="TextBox 6"/>
          <p:cNvSpPr txBox="1"/>
          <p:nvPr/>
        </p:nvSpPr>
        <p:spPr>
          <a:xfrm>
            <a:off x="731520" y="534035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102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AlphaFold에서 MSA는 어디에 쓰일까?</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정보의 흐름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Query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구조를 알고 싶은 단백질의 아미노산 서열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검색·정렬</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상동 서열 검색 → 다중서열정렬(MSA)</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모델의 추론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Query·MSA·선택적 template → 잔기 사이 관계 추론</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④ 구조 출력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원자 좌표 + 예측 신뢰도(pLDDT·PAE)</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 Multiple Sequence Alignment · 관련 서열의 대응 위치를 나란히 정렬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MSA는 이미 학습된 모델이 예측할 때 읽는 입력입니다.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AF2/ColabFold의 흐름입니다. AF3도 MSA를 쓰지만 내부 처리 방식은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102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한 줄에서는 보이지 않던 단서가 생긴다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position 1 2 3 4 5 6 7 8</a:t>
            </a:r>
          </a:p>
          <a:p>
            <a:pPr>
              <a:lnSpc>
                <a:spcPts val="2372"/>
              </a:lnSpc>
            </a:pPr>
            <a:r>
              <a:rPr sz="2100" b="0" lang="ko-KR">
                <a:solidFill>
                  <a:srgbClr val="183342"/>
                </a:solidFill>
                <a:latin typeface="Courier New"/>
                <a:ea typeface="Arial Unicode MS"/>
              </a:rPr>
              <a:t>query    A C D G F K L M</a:t>
            </a:r>
          </a:p>
          <a:p>
            <a:pPr>
              <a:lnSpc>
                <a:spcPts val="2372"/>
              </a:lnSpc>
            </a:pPr>
            <a:r>
              <a:rPr sz="2100" b="0" lang="ko-KR">
                <a:solidFill>
                  <a:srgbClr val="183342"/>
                </a:solidFill>
                <a:latin typeface="Courier New"/>
                <a:ea typeface="Arial Unicode MS"/>
              </a:rPr>
              <a:t>homolog1 A C E G Y R I M</a:t>
            </a:r>
          </a:p>
          <a:p>
            <a:pPr>
              <a:lnSpc>
                <a:spcPts val="2372"/>
              </a:lnSpc>
            </a:pPr>
            <a:r>
              <a:rPr sz="2100" b="0" lang="ko-KR">
                <a:solidFill>
                  <a:srgbClr val="183342"/>
                </a:solidFill>
                <a:latin typeface="Courier New"/>
                <a:ea typeface="Arial Unicode MS"/>
              </a:rPr>
              <a:t>homolog2 V C K A F D L M</a:t>
            </a:r>
          </a:p>
          <a:p>
            <a:pPr>
              <a:lnSpc>
                <a:spcPts val="2372"/>
              </a:lnSpc>
            </a:pPr>
            <a:r>
              <a:rPr sz="2100" b="0" lang="ko-KR">
                <a:solidFill>
                  <a:srgbClr val="183342"/>
                </a:solidFill>
                <a:latin typeface="Courier New"/>
                <a:ea typeface="Arial Unicode MS"/>
              </a:rPr>
              <a:t>homolog3 V C R A Y E I M</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MSA · position: 정렬 위치 / 행: 관련 서열 하나 / 열: 대응 위치</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2열 C·8열 M: 여러 서열에서 유지되는 위치 → 보존(conservation)</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3·6열: D/K, E/R, K/D, R/E로 조합이 함께 달라짐 → 공변화</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공진화 패턴은 3차원에서 가까운 잔기 쌍을 추정하는 단서입니다. 다음 그림으로 연결합니다.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102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공진화가 3차원 구조 정보를 주는 이유</a:t>
            </a:r>
          </a:p>
        </p:txBody>
      </p:sp>
      <p:sp>
        <p:nvSpPr>
          <p:cNvPr id="4" name="TextBox 3"/>
          <p:cNvSpPr txBox="1"/>
          <p:nvPr/>
        </p:nvSpPr>
        <p:spPr>
          <a:xfrm>
            <a:off x="731520" y="1490472"/>
            <a:ext cx="438912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MSA · 함께 달라지는 두 열</a:t>
            </a:r>
          </a:p>
        </p:txBody>
      </p:sp>
      <p:sp>
        <p:nvSpPr>
          <p:cNvPr id="5" name="TextBox 4"/>
          <p:cNvSpPr txBox="1"/>
          <p:nvPr/>
        </p:nvSpPr>
        <p:spPr>
          <a:xfrm>
            <a:off x="7635240" y="1490472"/>
            <a:ext cx="388620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구조 · 공간상 근접 후보</a:t>
            </a:r>
          </a:p>
        </p:txBody>
      </p:sp>
      <p:sp>
        <p:nvSpPr>
          <p:cNvPr id="6" name="TextBox 5"/>
          <p:cNvSpPr txBox="1"/>
          <p:nvPr/>
        </p:nvSpPr>
        <p:spPr>
          <a:xfrm>
            <a:off x="2331720" y="2075688"/>
            <a:ext cx="1005840" cy="320040"/>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i = 20</a:t>
            </a:r>
          </a:p>
        </p:txBody>
      </p:sp>
      <p:sp>
        <p:nvSpPr>
          <p:cNvPr id="7" name="TextBox 6"/>
          <p:cNvSpPr txBox="1"/>
          <p:nvPr/>
        </p:nvSpPr>
        <p:spPr>
          <a:xfrm>
            <a:off x="3776472" y="2075688"/>
            <a:ext cx="1005840" cy="320040"/>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j = 80</a:t>
            </a:r>
          </a:p>
        </p:txBody>
      </p:sp>
      <p:sp>
        <p:nvSpPr>
          <p:cNvPr id="8" name="Rectangle 7"/>
          <p:cNvSpPr/>
          <p:nvPr/>
        </p:nvSpPr>
        <p:spPr>
          <a:xfrm>
            <a:off x="2286000" y="2468880"/>
            <a:ext cx="914400" cy="1856231"/>
          </a:xfrm>
          <a:prstGeom prst="rect">
            <a:avLst/>
          </a:prstGeom>
          <a:solidFill>
            <a:srgbClr val="DEE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0752" y="2468880"/>
            <a:ext cx="914400" cy="1856231"/>
          </a:xfrm>
          <a:prstGeom prst="rect">
            <a:avLst/>
          </a:prstGeom>
          <a:solidFill>
            <a:srgbClr val="F5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60320"/>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a:t>
            </a:r>
          </a:p>
        </p:txBody>
      </p:sp>
      <p:sp>
        <p:nvSpPr>
          <p:cNvPr id="11" name="TextBox 10"/>
          <p:cNvSpPr txBox="1"/>
          <p:nvPr/>
        </p:nvSpPr>
        <p:spPr>
          <a:xfrm>
            <a:off x="2606040" y="2560320"/>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D</a:t>
            </a:r>
          </a:p>
        </p:txBody>
      </p:sp>
      <p:sp>
        <p:nvSpPr>
          <p:cNvPr id="12" name="TextBox 11"/>
          <p:cNvSpPr txBox="1"/>
          <p:nvPr/>
        </p:nvSpPr>
        <p:spPr>
          <a:xfrm>
            <a:off x="3273552" y="2560320"/>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3" name="TextBox 12"/>
          <p:cNvSpPr txBox="1"/>
          <p:nvPr/>
        </p:nvSpPr>
        <p:spPr>
          <a:xfrm>
            <a:off x="4050791" y="2560320"/>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K</a:t>
            </a:r>
          </a:p>
        </p:txBody>
      </p:sp>
      <p:sp>
        <p:nvSpPr>
          <p:cNvPr id="14" name="TextBox 13"/>
          <p:cNvSpPr txBox="1"/>
          <p:nvPr/>
        </p:nvSpPr>
        <p:spPr>
          <a:xfrm>
            <a:off x="777240" y="2980944"/>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homolog1</a:t>
            </a:r>
          </a:p>
        </p:txBody>
      </p:sp>
      <p:sp>
        <p:nvSpPr>
          <p:cNvPr id="15" name="TextBox 14"/>
          <p:cNvSpPr txBox="1"/>
          <p:nvPr/>
        </p:nvSpPr>
        <p:spPr>
          <a:xfrm>
            <a:off x="2606040" y="2980944"/>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E</a:t>
            </a:r>
          </a:p>
        </p:txBody>
      </p:sp>
      <p:sp>
        <p:nvSpPr>
          <p:cNvPr id="16" name="TextBox 15"/>
          <p:cNvSpPr txBox="1"/>
          <p:nvPr/>
        </p:nvSpPr>
        <p:spPr>
          <a:xfrm>
            <a:off x="3273552" y="2980944"/>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7" name="TextBox 16"/>
          <p:cNvSpPr txBox="1"/>
          <p:nvPr/>
        </p:nvSpPr>
        <p:spPr>
          <a:xfrm>
            <a:off x="4050791" y="2980944"/>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R</a:t>
            </a:r>
          </a:p>
        </p:txBody>
      </p:sp>
      <p:sp>
        <p:nvSpPr>
          <p:cNvPr id="18" name="TextBox 17"/>
          <p:cNvSpPr txBox="1"/>
          <p:nvPr/>
        </p:nvSpPr>
        <p:spPr>
          <a:xfrm>
            <a:off x="777240" y="3401568"/>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homolog2</a:t>
            </a:r>
          </a:p>
        </p:txBody>
      </p:sp>
      <p:sp>
        <p:nvSpPr>
          <p:cNvPr id="19" name="TextBox 18"/>
          <p:cNvSpPr txBox="1"/>
          <p:nvPr/>
        </p:nvSpPr>
        <p:spPr>
          <a:xfrm>
            <a:off x="2606040" y="3401568"/>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K</a:t>
            </a:r>
          </a:p>
        </p:txBody>
      </p:sp>
      <p:sp>
        <p:nvSpPr>
          <p:cNvPr id="20" name="TextBox 19"/>
          <p:cNvSpPr txBox="1"/>
          <p:nvPr/>
        </p:nvSpPr>
        <p:spPr>
          <a:xfrm>
            <a:off x="3273552" y="3401568"/>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1" name="TextBox 20"/>
          <p:cNvSpPr txBox="1"/>
          <p:nvPr/>
        </p:nvSpPr>
        <p:spPr>
          <a:xfrm>
            <a:off x="4050791" y="3401568"/>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D</a:t>
            </a:r>
          </a:p>
        </p:txBody>
      </p:sp>
      <p:sp>
        <p:nvSpPr>
          <p:cNvPr id="22" name="TextBox 21"/>
          <p:cNvSpPr txBox="1"/>
          <p:nvPr/>
        </p:nvSpPr>
        <p:spPr>
          <a:xfrm>
            <a:off x="777240" y="3822191"/>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homolog3</a:t>
            </a:r>
          </a:p>
        </p:txBody>
      </p:sp>
      <p:sp>
        <p:nvSpPr>
          <p:cNvPr id="23" name="TextBox 22"/>
          <p:cNvSpPr txBox="1"/>
          <p:nvPr/>
        </p:nvSpPr>
        <p:spPr>
          <a:xfrm>
            <a:off x="2606040" y="3822191"/>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R</a:t>
            </a:r>
          </a:p>
        </p:txBody>
      </p:sp>
      <p:sp>
        <p:nvSpPr>
          <p:cNvPr id="24" name="TextBox 23"/>
          <p:cNvSpPr txBox="1"/>
          <p:nvPr/>
        </p:nvSpPr>
        <p:spPr>
          <a:xfrm>
            <a:off x="3273552" y="3822191"/>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5" name="TextBox 24"/>
          <p:cNvSpPr txBox="1"/>
          <p:nvPr/>
        </p:nvSpPr>
        <p:spPr>
          <a:xfrm>
            <a:off x="4050791" y="3822191"/>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E</a:t>
            </a:r>
          </a:p>
        </p:txBody>
      </p:sp>
      <p:sp>
        <p:nvSpPr>
          <p:cNvPr id="26" name="Right Arrow 25"/>
          <p:cNvSpPr/>
          <p:nvPr/>
        </p:nvSpPr>
        <p:spPr>
          <a:xfrm>
            <a:off x="5166360" y="2816352"/>
            <a:ext cx="1691640" cy="411480"/>
          </a:xfrm>
          <a:prstGeom prst="rightArrow">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65192" y="3456432"/>
            <a:ext cx="2286000" cy="914400"/>
          </a:xfrm>
          <a:prstGeom prst="rect">
            <a:avLst/>
          </a:prstGeom>
          <a:noFill/>
        </p:spPr>
        <p:txBody>
          <a:bodyPr wrap="square" lIns="18288" rIns="18288" tIns="9144" bIns="9144">
            <a:spAutoFit/>
          </a:bodyPr>
          <a:lstStyle/>
          <a:p>
            <a:pPr>
              <a:lnSpc>
                <a:spcPct val="113000"/>
              </a:lnSpc>
            </a:pPr>
            <a:r>
              <a:rPr sz="1900" b="1" lang="ko-KR">
                <a:solidFill>
                  <a:srgbClr val="183342"/>
                </a:solidFill>
                <a:latin typeface="Arial Unicode MS"/>
                <a:ea typeface="Arial Unicode MS"/>
              </a:rPr>
              <a:t>학습된 모델이</a:t>
            </a:r>
          </a:p>
          <a:p>
            <a:pPr>
              <a:lnSpc>
                <a:spcPct val="113000"/>
              </a:lnSpc>
            </a:pPr>
            <a:r>
              <a:rPr sz="1900" b="1" lang="ko-KR">
                <a:solidFill>
                  <a:srgbClr val="183342"/>
                </a:solidFill>
                <a:latin typeface="Arial Unicode MS"/>
                <a:ea typeface="Arial Unicode MS"/>
              </a:rPr>
              <a:t>위치 사이 관계 추론</a:t>
            </a:r>
          </a:p>
        </p:txBody>
      </p:sp>
      <p:cxnSp>
        <p:nvCxnSpPr>
          <p:cNvPr id="28" name="Connector 27"/>
          <p:cNvCxnSpPr/>
          <p:nvPr/>
        </p:nvCxnSpPr>
        <p:spPr>
          <a:xfrm>
            <a:off x="7955279" y="2670048"/>
            <a:ext cx="365761"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21040" y="2761488"/>
            <a:ext cx="365760" cy="210312"/>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686800" y="2514600"/>
            <a:ext cx="320040" cy="45720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006840" y="2331720"/>
            <a:ext cx="731520" cy="18288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738360" y="2331720"/>
            <a:ext cx="914400" cy="2743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2606040"/>
            <a:ext cx="365760" cy="59436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0863072" y="3200400"/>
            <a:ext cx="155448" cy="7315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0149840" y="3931920"/>
            <a:ext cx="713232" cy="3840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326880" y="4315968"/>
            <a:ext cx="822960"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8613648" y="4114800"/>
            <a:ext cx="713232" cy="29260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8229600" y="3611880"/>
            <a:ext cx="384048" cy="5029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229600" y="3456432"/>
            <a:ext cx="457200" cy="1554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3456432"/>
            <a:ext cx="822960" cy="457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09760" y="3502152"/>
            <a:ext cx="411480" cy="246887"/>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686800" y="2971800"/>
            <a:ext cx="0" cy="484632"/>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513064" y="2798064"/>
            <a:ext cx="347472" cy="347472"/>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i</a:t>
            </a:r>
          </a:p>
        </p:txBody>
      </p:sp>
      <p:sp>
        <p:nvSpPr>
          <p:cNvPr id="44" name="Oval 43"/>
          <p:cNvSpPr/>
          <p:nvPr/>
        </p:nvSpPr>
        <p:spPr>
          <a:xfrm>
            <a:off x="8513064" y="3282696"/>
            <a:ext cx="347472" cy="347472"/>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j</a:t>
            </a:r>
          </a:p>
        </p:txBody>
      </p:sp>
      <p:sp>
        <p:nvSpPr>
          <p:cNvPr id="45" name="TextBox 44"/>
          <p:cNvSpPr txBox="1"/>
          <p:nvPr/>
        </p:nvSpPr>
        <p:spPr>
          <a:xfrm>
            <a:off x="7662672" y="2496312"/>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N</a:t>
            </a:r>
          </a:p>
        </p:txBody>
      </p:sp>
      <p:sp>
        <p:nvSpPr>
          <p:cNvPr id="46" name="TextBox 45"/>
          <p:cNvSpPr txBox="1"/>
          <p:nvPr/>
        </p:nvSpPr>
        <p:spPr>
          <a:xfrm>
            <a:off x="10040112" y="3657600"/>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C</a:t>
            </a:r>
          </a:p>
        </p:txBody>
      </p:sp>
      <p:sp>
        <p:nvSpPr>
          <p:cNvPr id="47" name="TextBox 46"/>
          <p:cNvSpPr txBox="1"/>
          <p:nvPr/>
        </p:nvSpPr>
        <p:spPr>
          <a:xfrm>
            <a:off x="8092440" y="2852928"/>
            <a:ext cx="411480" cy="310896"/>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20</a:t>
            </a:r>
          </a:p>
        </p:txBody>
      </p:sp>
      <p:sp>
        <p:nvSpPr>
          <p:cNvPr id="48" name="TextBox 47"/>
          <p:cNvSpPr txBox="1"/>
          <p:nvPr/>
        </p:nvSpPr>
        <p:spPr>
          <a:xfrm>
            <a:off x="8092440" y="3383280"/>
            <a:ext cx="411480" cy="310896"/>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80</a:t>
            </a:r>
          </a:p>
        </p:txBody>
      </p:sp>
      <p:sp>
        <p:nvSpPr>
          <p:cNvPr id="49" name="TextBox 48"/>
          <p:cNvSpPr txBox="1"/>
          <p:nvPr/>
        </p:nvSpPr>
        <p:spPr>
          <a:xfrm>
            <a:off x="9144000" y="2852928"/>
            <a:ext cx="1572768" cy="658368"/>
          </a:xfrm>
          <a:prstGeom prst="rect">
            <a:avLst/>
          </a:prstGeom>
          <a:noFill/>
        </p:spPr>
        <p:txBody>
          <a:bodyPr wrap="square" lIns="18288" rIns="18288" tIns="9144" bIns="9144">
            <a:spAutoFit/>
          </a:bodyPr>
          <a:lstStyle/>
          <a:p>
            <a:pPr>
              <a:lnSpc>
                <a:spcPct val="113000"/>
              </a:lnSpc>
            </a:pPr>
            <a:r>
              <a:rPr sz="1700" b="1" lang="ko-KR">
                <a:solidFill>
                  <a:srgbClr val="183342"/>
                </a:solidFill>
                <a:latin typeface="Arial Unicode MS"/>
                <a:ea typeface="Arial Unicode MS"/>
              </a:rPr>
              <a:t>점선:</a:t>
            </a:r>
          </a:p>
          <a:p>
            <a:pPr>
              <a:lnSpc>
                <a:spcPct val="113000"/>
              </a:lnSpc>
            </a:pPr>
            <a:r>
              <a:rPr sz="1700" b="1" lang="ko-KR">
                <a:solidFill>
                  <a:srgbClr val="183342"/>
                </a:solidFill>
                <a:latin typeface="Arial Unicode MS"/>
                <a:ea typeface="Arial Unicode MS"/>
              </a:rPr>
              <a:t>후보 접촉</a:t>
            </a:r>
          </a:p>
        </p:txBody>
      </p:sp>
      <p:sp>
        <p:nvSpPr>
          <p:cNvPr id="50" name="TextBox 49"/>
          <p:cNvSpPr txBox="1"/>
          <p:nvPr/>
        </p:nvSpPr>
        <p:spPr>
          <a:xfrm>
            <a:off x="749808" y="4553712"/>
            <a:ext cx="443484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서로 맞는 잔기 조합이</a:t>
            </a:r>
          </a:p>
          <a:p>
            <a:pPr>
              <a:lnSpc>
                <a:spcPct val="113000"/>
              </a:lnSpc>
            </a:pPr>
            <a:r>
              <a:rPr sz="1800" b="0" lang="ko-KR">
                <a:solidFill>
                  <a:srgbClr val="183342"/>
                </a:solidFill>
                <a:latin typeface="Arial Unicode MS"/>
                <a:ea typeface="Arial Unicode MS"/>
              </a:rPr>
              <a:t>여러 상동 서열에 남을 수 있음</a:t>
            </a:r>
          </a:p>
        </p:txBody>
      </p:sp>
      <p:sp>
        <p:nvSpPr>
          <p:cNvPr id="51" name="TextBox 50"/>
          <p:cNvSpPr txBox="1"/>
          <p:nvPr/>
        </p:nvSpPr>
        <p:spPr>
          <a:xfrm>
            <a:off x="7635240" y="4599432"/>
            <a:ext cx="402336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서열에서 60칸 떨어진 위치도</a:t>
            </a:r>
          </a:p>
          <a:p>
            <a:pPr>
              <a:lnSpc>
                <a:spcPct val="113000"/>
              </a:lnSpc>
            </a:pPr>
            <a:r>
              <a:rPr sz="1800" b="0" lang="ko-KR">
                <a:solidFill>
                  <a:srgbClr val="183342"/>
                </a:solidFill>
                <a:latin typeface="Arial Unicode MS"/>
                <a:ea typeface="Arial Unicode MS"/>
              </a:rPr>
              <a:t>접히면 가까워질 수 있음</a:t>
            </a:r>
          </a:p>
        </p:txBody>
      </p:sp>
      <p:sp>
        <p:nvSpPr>
          <p:cNvPr id="52" name="TextBox 51"/>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100잔기 중 20·80열만 발췌. 점선은 추론할 후보 관계이며 실제 예측 좌표가 아닙니다.</a:t>
            </a:r>
          </a:p>
        </p:txBody>
      </p:sp>
      <p:sp>
        <p:nvSpPr>
          <p:cNvPr id="53" name="TextBox 52"/>
          <p:cNvSpPr txBox="1"/>
          <p:nvPr/>
        </p:nvSpPr>
        <p:spPr>
          <a:xfrm>
            <a:off x="731520" y="5486400"/>
            <a:ext cx="10881360" cy="294767"/>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접촉을 유지하는 선택이 잔기 조합을 연결할 수 있으므로, MSA의 공진화 신호는 3차원 배치의 단서가 됩니다.</a:t>
            </a:r>
          </a:p>
        </p:txBody>
      </p:sp>
      <p:sp>
        <p:nvSpPr>
          <p:cNvPr id="54" name="TextBox 5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102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102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102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102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102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102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102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102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Ortholog와 paralog 판정</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활동지 1쪽: 분기 사건을 표시하고 짝과 비교</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102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화면 계통수에서 S와 D 찾기</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가장 최근 공통 조상 → 관계</a:t>
            </a:r>
          </a:p>
          <a:p>
            <a:pPr>
              <a:lnSpc>
                <a:spcPts val="2372"/>
              </a:lnSpc>
            </a:pPr>
            <a:r>
              <a:rPr sz="2100" b="0" lang="ko-KR">
                <a:solidFill>
                  <a:srgbClr val="183342"/>
                </a:solidFill>
                <a:latin typeface="Courier New"/>
                <a:ea typeface="Arial Unicode MS"/>
              </a:rPr>
              <a:t>          S              A_x–A_y → D → paralog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         A_x–B_z → S → ortholog</a:t>
            </a:r>
          </a:p>
          <a:p>
            <a:pPr>
              <a:lnSpc>
                <a:spcPts val="2372"/>
              </a:lnSpc>
            </a:pPr>
            <a:r>
              <a:rPr sz="2100" b="0" lang="ko-KR">
                <a:solidFill>
                  <a:srgbClr val="183342"/>
                </a:solidFill>
                <a:latin typeface="Courier New"/>
                <a:ea typeface="Arial Unicode MS"/>
              </a:rPr>
              <a:t>      / \                A_y–B_z → S → ortholog</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판정 순서: 두 유전자에서 조상으로 거슬러 올라가기 → 처음 만나는 노드 → S/D 확인</a:t>
            </a:r>
          </a:p>
        </p:txBody>
      </p:sp>
      <p:sp>
        <p:nvSpPr>
          <p:cNvPr id="6" name="TextBox 5"/>
          <p:cNvSpPr txBox="1"/>
          <p:nvPr/>
        </p:nvSpPr>
        <p:spPr>
          <a:xfrm>
            <a:off x="676656" y="404418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A_x·A_y는 B_z에 대한 co-orthologs; A_x–A_y 자체는 paralog.</a:t>
            </a:r>
          </a:p>
        </p:txBody>
      </p:sp>
      <p:sp>
        <p:nvSpPr>
          <p:cNvPr id="7" name="TextBox 6"/>
          <p:cNvSpPr txBox="1"/>
          <p:nvPr/>
        </p:nvSpPr>
        <p:spPr>
          <a:xfrm>
            <a:off x="676656" y="457403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“다른 종”만으로 판정. 두 경로가 처음 만나는 사건을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102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1쪽 · 중복의 순서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926080"/>
                <a:gridCol w="3657600"/>
                <a:gridCol w="4389120"/>
              </a:tblGrid>
              <a:tr h="548640">
                <a:tc>
                  <a:txBody>
                    <a:bodyPr/>
                    <a:lstStyle/>
                    <a:p>
                      <a:pPr>
                        <a:lnSpc>
                          <a:spcPct val="110000"/>
                        </a:lnSpc>
                      </a:pPr>
                      <a:r>
                        <a:rPr sz="1900" b="1" lang="ko-KR">
                          <a:solidFill>
                            <a:srgbClr val="FFFFFF"/>
                          </a:solidFill>
                          <a:latin typeface="Arial Unicode MS"/>
                          <a:ea typeface="Arial Unicode MS"/>
                        </a:rPr>
                        <a:t>주어진 사건 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비교할 유전자 쌍</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처음 만나는 사건 → 정답</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 중복 → 종 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H_A–M_A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 → ortholog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 중복 → 종 분화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H_A–H_B / H_A–M_B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 → 두 쌍 모두 paralog</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 종 분화 → 중복</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H1–H2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D → paralog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 종 분화 → 중복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H1–M / H2–M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 → 두 쌍 모두 ortholog</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상황 B: H1·H2는 M에 대한 co-orthologs. 일대다 orthology가 가능.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서로 다른 종이면 ortholog? 상황 A의 H_A–M_B는 paralog!</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102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102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102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102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102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102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102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A3M의 열과 삽입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2쪽 또는 fictional_learning.a3m을 펼치세요.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Query를 포함한 행 수와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A2의 ee는 어느 정렬 열 직전에 있나요?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A3의 gap과 B1의 X 위치·의미를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102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A3M의 행과 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200400"/>
                <a:gridCol w="4572000"/>
                <a:gridCol w="3200400"/>
              </a:tblGrid>
              <a:tr h="548640">
                <a:tc>
                  <a:txBody>
                    <a:bodyPr/>
                    <a:lstStyle/>
                    <a:p>
                      <a:pPr>
                        <a:lnSpc>
                          <a:spcPct val="110000"/>
                        </a:lnSpc>
                      </a:pPr>
                      <a:r>
                        <a:rPr sz="1900" b="1" lang="ko-KR">
                          <a:solidFill>
                            <a:srgbClr val="FFFFFF"/>
                          </a:solidFill>
                          <a:latin typeface="Arial Unicode MS"/>
                          <a:ea typeface="Arial Unicode MS"/>
                        </a:rPr>
                        <a:t>세는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 또는 확인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헤더 1개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Homolog 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A1·A2·A3 + B1·B2·B3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6행</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전체 raw depth</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1 + homolog 6; 동일한 A1도 포함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7행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정렬 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행의 소문자 제외; 대문자·gap 포함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세는 순서: “&gt;” 헤더별 서열 수 → query 구분 → 소문자를 제외한 정렬 열.</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복제 행 증가 = 정보 증가. 다양성·coverage·정의를 기록한 Neff도 확인.</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102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ee, gap, X의 차이</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 발췌</a:t>
            </a:r>
          </a:p>
          <a:p>
            <a:pPr>
              <a:lnSpc>
                <a:spcPts val="2372"/>
              </a:lnSpc>
            </a:pPr>
            <a:r>
              <a:rPr sz="2100" b="0" lang="ko-KR">
                <a:solidFill>
                  <a:srgbClr val="183342"/>
                </a:solidFill>
                <a:latin typeface="Courier New"/>
                <a:ea typeface="Arial Unicode MS"/>
              </a:rPr>
              <a:t>정렬 열     123456789012</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A2 원문     ACDeeEFGHIKLMN</a:t>
            </a:r>
          </a:p>
          <a:p>
            <a:pPr>
              <a:lnSpc>
                <a:spcPts val="2372"/>
              </a:lnSpc>
            </a:pPr>
            <a:r>
              <a:rPr sz="2100" b="0" lang="ko-KR">
                <a:solidFill>
                  <a:srgbClr val="183342"/>
                </a:solidFill>
                <a:latin typeface="Courier New"/>
                <a:ea typeface="Arial Unicode MS"/>
              </a:rPr>
              <a:t>A2 열 대응  ACDEFGHIKLMN</a:t>
            </a:r>
          </a:p>
          <a:p>
            <a:pPr>
              <a:lnSpc>
                <a:spcPts val="2372"/>
              </a:lnSpc>
            </a:pPr>
            <a:r>
              <a:rPr sz="2100" b="0" lang="ko-KR">
                <a:solidFill>
                  <a:srgbClr val="183342"/>
                </a:solidFill>
                <a:latin typeface="Courier New"/>
                <a:ea typeface="Arial Unicode MS"/>
              </a:rPr>
              <a:t>A3          ACDE-GHIKLMN</a:t>
            </a:r>
          </a:p>
          <a:p>
            <a:pPr>
              <a:lnSpc>
                <a:spcPts val="2372"/>
              </a:lnSpc>
            </a:pPr>
            <a:r>
              <a:rPr sz="2100" b="0" lang="ko-KR">
                <a:solidFill>
                  <a:srgbClr val="183342"/>
                </a:solidFill>
                <a:latin typeface="Courier New"/>
                <a:ea typeface="Arial Unicode MS"/>
              </a:rPr>
              <a:t>B1          ACDEYGHIKLXN</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ee = D(3열) 뒤, E(4열) 직전 삽입; 원문 14글자 / 정렬 12열</a:t>
            </a:r>
          </a:p>
          <a:p>
            <a:pPr>
              <a:lnSpc>
                <a:spcPct val="113000"/>
              </a:lnSpc>
            </a:pPr>
            <a:r>
              <a:rPr sz="1800" b="0" lang="ko-KR">
                <a:solidFill>
                  <a:srgbClr val="277F87"/>
                </a:solidFill>
                <a:latin typeface="Arial Unicode MS"/>
                <a:ea typeface="Arial Unicode MS"/>
              </a:rPr>
              <a:t>“A2 열 대응”은 소문자를 제외해 읽는 보조 표시; 원본 편집 지시가 아님</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A3의 5열 “-”는 대응 잔기가 없는 gap; B1의 11열 X는 잔기 정체 미상·가림.</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ee를 대문자화해 2열 추가, 또는 X를 gap으로 바꾸기.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102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102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102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Coverage와 identity · 분모부터 쓰기</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4114800"/>
                <a:gridCol w="4114800"/>
              </a:tblGrid>
              <a:tr h="548640">
                <a:tc>
                  <a:txBody>
                    <a:bodyPr/>
                    <a:lstStyle/>
                    <a:p>
                      <a:pPr>
                        <a:lnSpc>
                          <a:spcPct val="110000"/>
                        </a:lnSpc>
                      </a:pPr>
                      <a:r>
                        <a:rPr sz="1900" b="1" lang="ko-KR">
                          <a:solidFill>
                            <a:srgbClr val="FFFFFF"/>
                          </a:solidFill>
                          <a:latin typeface="Arial Unicode MS"/>
                          <a:ea typeface="Arial Unicode MS"/>
                        </a:rPr>
                        <a:t>가상 hit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Coverage: 짝지어진 수 / 8</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Identity: 동일 수 / 비교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 ACDE----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4/8 = 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4/4 = 100%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 ACNEYGHI</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 = 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6/8 = 75%</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차이의 근거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뒤 4곳 gap; B: gap 없음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4곳 동일; B: D/N·F/Y 다름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계산 순서: 짝지어진 위치 수 → 같은 잔기 수 → 지표별 분모에 대입.</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A의 identity를 4/8로 계산. 여기서는 gap 없는 비교 4곳이 분모.</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102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102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보존·공변이·공진화는 서로 다른 질문</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Conservation</a:t>
                      </a:r>
                    </a:p>
                    <a:p>
                      <a:pPr>
                        <a:lnSpc>
                          <a:spcPct val="110000"/>
                        </a:lnSpc>
                      </a:pPr>
                      <a:r>
                        <a:rPr sz="1900" b="0" lang="ko-KR">
                          <a:solidFill>
                            <a:srgbClr val="183342"/>
                          </a:solidFill>
                          <a:latin typeface="Arial Unicode MS"/>
                          <a:ea typeface="Arial Unicode MS"/>
                        </a:rPr>
                        <a:t>보존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잔기가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p>
                      <a:pPr>
                        <a:lnSpc>
                          <a:spcPct val="110000"/>
                        </a:lnSpc>
                      </a:pPr>
                      <a:r>
                        <a:rPr sz="1900" b="0" lang="ko-KR">
                          <a:solidFill>
                            <a:srgbClr val="183342"/>
                          </a:solidFill>
                          <a:latin typeface="Arial Unicode MS"/>
                          <a:ea typeface="Arial Unicode MS"/>
                        </a:rPr>
                        <a:t>공변이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분포와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p>
                      <a:pPr>
                        <a:lnSpc>
                          <a:spcPct val="110000"/>
                        </a:lnSpc>
                      </a:pPr>
                      <a:r>
                        <a:rPr sz="1900" b="0" lang="ko-KR">
                          <a:solidFill>
                            <a:srgbClr val="183342"/>
                          </a:solidFill>
                          <a:latin typeface="Arial Unicode MS"/>
                          <a:ea typeface="Arial Unicode MS"/>
                        </a:rPr>
                        <a:t>공진화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진화가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구조·기능 제약을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진화적 설명을 구분</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잔기 공변이는 열 사이의 관계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102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접촉을 유지하는 선택이 공진화를 만들 수 있다</a:t>
            </a:r>
          </a:p>
        </p:txBody>
      </p:sp>
      <p:sp>
        <p:nvSpPr>
          <p:cNvPr id="4" name="TextBox 3"/>
          <p:cNvSpPr txBox="1"/>
          <p:nvPr/>
        </p:nvSpPr>
        <p:spPr>
          <a:xfrm>
            <a:off x="731520"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상보적 조합 A</a:t>
            </a:r>
          </a:p>
        </p:txBody>
      </p:sp>
      <p:sp>
        <p:nvSpPr>
          <p:cNvPr id="5" name="TextBox 4"/>
          <p:cNvSpPr txBox="1"/>
          <p:nvPr/>
        </p:nvSpPr>
        <p:spPr>
          <a:xfrm>
            <a:off x="896112"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6" name="TextBox 5"/>
          <p:cNvSpPr txBox="1"/>
          <p:nvPr/>
        </p:nvSpPr>
        <p:spPr>
          <a:xfrm>
            <a:off x="2679191"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7" name="Connector 6"/>
          <p:cNvCxnSpPr/>
          <p:nvPr/>
        </p:nvCxnSpPr>
        <p:spPr>
          <a:xfrm flipV="1">
            <a:off x="777240"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32588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978408"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182112"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82112"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182112" y="3337560"/>
            <a:ext cx="640079"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25880"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960120"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15" name="Oval 14"/>
          <p:cNvSpPr/>
          <p:nvPr/>
        </p:nvSpPr>
        <p:spPr>
          <a:xfrm>
            <a:off x="2816352"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16" name="TextBox 15"/>
          <p:cNvSpPr txBox="1"/>
          <p:nvPr/>
        </p:nvSpPr>
        <p:spPr>
          <a:xfrm>
            <a:off x="731520"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반대 전하 조합</a:t>
            </a:r>
          </a:p>
          <a:p>
            <a:pPr>
              <a:lnSpc>
                <a:spcPct val="113000"/>
              </a:lnSpc>
            </a:pPr>
            <a:r>
              <a:rPr sz="2000" b="0" lang="ko-KR">
                <a:solidFill>
                  <a:srgbClr val="183342"/>
                </a:solidFill>
                <a:latin typeface="Arial Unicode MS"/>
                <a:ea typeface="Arial Unicode MS"/>
              </a:rPr>
              <a:t>이 가정에서는 유리</a:t>
            </a:r>
          </a:p>
        </p:txBody>
      </p:sp>
      <p:sp>
        <p:nvSpPr>
          <p:cNvPr id="17" name="TextBox 16"/>
          <p:cNvSpPr txBox="1"/>
          <p:nvPr/>
        </p:nvSpPr>
        <p:spPr>
          <a:xfrm>
            <a:off x="4535424"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상보적 조합 B</a:t>
            </a:r>
          </a:p>
        </p:txBody>
      </p:sp>
      <p:sp>
        <p:nvSpPr>
          <p:cNvPr id="18" name="TextBox 17"/>
          <p:cNvSpPr txBox="1"/>
          <p:nvPr/>
        </p:nvSpPr>
        <p:spPr>
          <a:xfrm>
            <a:off x="470001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19" name="TextBox 18"/>
          <p:cNvSpPr txBox="1"/>
          <p:nvPr/>
        </p:nvSpPr>
        <p:spPr>
          <a:xfrm>
            <a:off x="648309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20" name="Connector 19"/>
          <p:cNvCxnSpPr/>
          <p:nvPr/>
        </p:nvCxnSpPr>
        <p:spPr>
          <a:xfrm flipV="1">
            <a:off x="4581144"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129784"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782312"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986016"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986016"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986016"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29784"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764024"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28" name="Oval 27"/>
          <p:cNvSpPr/>
          <p:nvPr/>
        </p:nvSpPr>
        <p:spPr>
          <a:xfrm>
            <a:off x="6620256"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29" name="TextBox 28"/>
          <p:cNvSpPr txBox="1"/>
          <p:nvPr/>
        </p:nvSpPr>
        <p:spPr>
          <a:xfrm>
            <a:off x="4535424"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잔기라도</a:t>
            </a:r>
          </a:p>
          <a:p>
            <a:pPr>
              <a:lnSpc>
                <a:spcPct val="113000"/>
              </a:lnSpc>
            </a:pPr>
            <a:r>
              <a:rPr sz="2000" b="0" lang="ko-KR">
                <a:solidFill>
                  <a:srgbClr val="183342"/>
                </a:solidFill>
                <a:latin typeface="Arial Unicode MS"/>
                <a:ea typeface="Arial Unicode MS"/>
              </a:rPr>
              <a:t>반대 전하 조합 유지</a:t>
            </a:r>
          </a:p>
        </p:txBody>
      </p:sp>
      <p:sp>
        <p:nvSpPr>
          <p:cNvPr id="30" name="TextBox 29"/>
          <p:cNvSpPr txBox="1"/>
          <p:nvPr/>
        </p:nvSpPr>
        <p:spPr>
          <a:xfrm>
            <a:off x="8339328"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비상보적 조합</a:t>
            </a:r>
          </a:p>
        </p:txBody>
      </p:sp>
      <p:sp>
        <p:nvSpPr>
          <p:cNvPr id="31" name="TextBox 30"/>
          <p:cNvSpPr txBox="1"/>
          <p:nvPr/>
        </p:nvSpPr>
        <p:spPr>
          <a:xfrm>
            <a:off x="850392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32" name="TextBox 31"/>
          <p:cNvSpPr txBox="1"/>
          <p:nvPr/>
        </p:nvSpPr>
        <p:spPr>
          <a:xfrm>
            <a:off x="1028700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33" name="Connector 32"/>
          <p:cNvCxnSpPr/>
          <p:nvPr/>
        </p:nvCxnSpPr>
        <p:spPr>
          <a:xfrm flipV="1">
            <a:off x="8385048"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933688"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8586216"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0789920"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78992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789920"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933688"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567928"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1" name="Oval 40"/>
          <p:cNvSpPr/>
          <p:nvPr/>
        </p:nvSpPr>
        <p:spPr>
          <a:xfrm>
            <a:off x="10424160"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2" name="TextBox 41"/>
          <p:cNvSpPr txBox="1"/>
          <p:nvPr/>
        </p:nvSpPr>
        <p:spPr>
          <a:xfrm>
            <a:off x="8339328"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전하 조합</a:t>
            </a:r>
          </a:p>
          <a:p>
            <a:pPr>
              <a:lnSpc>
                <a:spcPct val="113000"/>
              </a:lnSpc>
            </a:pPr>
            <a:r>
              <a:rPr sz="2000" b="0" lang="ko-KR">
                <a:solidFill>
                  <a:srgbClr val="183342"/>
                </a:solidFill>
                <a:latin typeface="Arial Unicode MS"/>
                <a:ea typeface="Arial Unicode MS"/>
              </a:rPr>
              <a:t>이 가정에서는 덜 유리</a:t>
            </a:r>
          </a:p>
        </p:txBody>
      </p:sp>
      <p:sp>
        <p:nvSpPr>
          <p:cNvPr id="43" name="TextBox 42"/>
          <p:cNvSpPr txBox="1"/>
          <p:nvPr/>
        </p:nvSpPr>
        <p:spPr>
          <a:xfrm>
            <a:off x="731520" y="4809744"/>
            <a:ext cx="10927080" cy="521207"/>
          </a:xfrm>
          <a:prstGeom prst="rect">
            <a:avLst/>
          </a:prstGeom>
          <a:noFill/>
        </p:spPr>
        <p:txBody>
          <a:bodyPr wrap="square" lIns="18288" rIns="18288" tIns="9144" bIns="9144">
            <a:spAutoFit/>
          </a:bodyPr>
          <a:lstStyle/>
          <a:p>
            <a:pPr>
              <a:lnSpc>
                <a:spcPct val="113000"/>
              </a:lnSpc>
            </a:pPr>
            <a:r>
              <a:rPr sz="2300" b="1" lang="ko-KR">
                <a:solidFill>
                  <a:srgbClr val="277F87"/>
                </a:solidFill>
                <a:latin typeface="Arial Unicode MS"/>
                <a:ea typeface="Arial Unicode MS"/>
              </a:rPr>
              <a:t>한 위치의 변화가 다른 위치의 허용 잔기를 바꿀 수 있다</a:t>
            </a:r>
          </a:p>
        </p:txBody>
      </p:sp>
      <p:sp>
        <p:nvSpPr>
          <p:cNvPr id="44" name="TextBox 43"/>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가까운 두 위치의 반대 전하가 유리하다고 가정. 색=i/j 위치, −/+=측쇄 전하. 진화 순서 아님.</a:t>
            </a:r>
          </a:p>
        </p:txBody>
      </p:sp>
      <p:sp>
        <p:nvSpPr>
          <p:cNvPr id="45" name="TextBox 44"/>
          <p:cNvSpPr txBox="1"/>
          <p:nvPr/>
        </p:nvSpPr>
        <p:spPr>
          <a:xfrm>
            <a:off x="731520" y="5486400"/>
            <a:ext cx="10881360" cy="294767"/>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이런 제약이 상동 서열의 조합 패턴에 남을 수 있어, 진화 정보로 접촉하는 위치 쌍을 추정할 수 있습니다.</a:t>
            </a:r>
          </a:p>
        </p:txBody>
      </p:sp>
      <p:sp>
        <p:nvSpPr>
          <p:cNvPr id="46" name="TextBox 4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102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통계적 의존성이 있음; 그 원인은 아직 모름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102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같은 열 빈도, 다른 조합</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각 자료에서 P(D_i), P(K_j), P(D_i, K_j)를 계산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P(D_i, K_j)를 P(D_i) × P(K_j)와 비교</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보존도만으로 두 자료를 구별할 수 있는가?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102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실습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같은 보존도, 다른 공동 분포</a:t>
            </a:r>
          </a:p>
        </p:txBody>
      </p:sp>
      <p:graphicFrame>
        <p:nvGraphicFramePr>
          <p:cNvPr id="4" name="Table 3"/>
          <p:cNvGraphicFramePr>
            <a:graphicFrameLocks noGrp="1"/>
          </p:cNvGraphicFramePr>
          <p:nvPr/>
        </p:nvGraphicFramePr>
        <p:xfrm>
          <a:off x="612648" y="1417320"/>
          <a:ext cx="10972798" cy="3057144"/>
        </p:xfrm>
        <a:graphic>
          <a:graphicData uri="http://schemas.openxmlformats.org/drawingml/2006/table">
            <a:tbl>
              <a:tblPr firstRow="1" bandRow="1">
                <a:tableStyleId>{5C22544A-7EE6-4342-B048-85BDC9FD1C3A}</a:tableStyleId>
              </a:tblPr>
              <a:tblGrid>
                <a:gridCol w="3474720"/>
                <a:gridCol w="3749039"/>
                <a:gridCol w="3749039"/>
              </a:tblGrid>
              <a:tr h="548640">
                <a:tc>
                  <a:txBody>
                    <a:bodyPr/>
                    <a:lstStyle/>
                    <a:p>
                      <a:pPr>
                        <a:lnSpc>
                          <a:spcPct val="110000"/>
                        </a:lnSpc>
                      </a:pPr>
                      <a:r>
                        <a:rPr sz="1900" b="1" lang="ko-KR">
                          <a:solidFill>
                            <a:srgbClr val="FFFFFF"/>
                          </a:solidFill>
                          <a:latin typeface="Arial Unicode MS"/>
                          <a:ea typeface="Arial Unicode MS"/>
                        </a:rPr>
                        <a:t>계산·판정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한 열씩 센 주변 빈도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함께 나타난 D–K 빈도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4/8 = 1/2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2/8 = 1/4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독립일 때 기대 빈도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경험적 분포의 판정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관찰 1/2 ≠ 기대 1/4</a:t>
                      </a:r>
                    </a:p>
                    <a:p>
                      <a:pPr>
                        <a:lnSpc>
                          <a:spcPct val="110000"/>
                        </a:lnSpc>
                      </a:pPr>
                      <a:r>
                        <a:rPr sz="1900" b="0" lang="ko-KR">
                          <a:solidFill>
                            <a:srgbClr val="183342"/>
                          </a:solidFill>
                          <a:latin typeface="Arial Unicode MS"/>
                          <a:ea typeface="Arial Unicode MS"/>
                        </a:rPr>
                        <a:t>두 열이 독립적이지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네 조합이 모두 각각 1/4</a:t>
                      </a:r>
                    </a:p>
                    <a:p>
                      <a:pPr>
                        <a:lnSpc>
                          <a:spcPct val="110000"/>
                        </a:lnSpc>
                      </a:pPr>
                      <a:r>
                        <a:rPr sz="1900" b="0" lang="ko-KR">
                          <a:solidFill>
                            <a:srgbClr val="183342"/>
                          </a:solidFill>
                          <a:latin typeface="Arial Unicode MS"/>
                          <a:ea typeface="Arial Unicode MS"/>
                        </a:rPr>
                        <a:t>이 표의 두 열은 독립</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열의 빈도·보존도는 같으므로 구별 불가. 두 열의 조합까지 보아야 합니다.</a:t>
            </a:r>
          </a:p>
        </p:txBody>
      </p:sp>
      <p:sp>
        <p:nvSpPr>
          <p:cNvPr id="6" name="TextBox 5"/>
          <p:cNvSpPr txBox="1"/>
          <p:nvPr/>
        </p:nvSpPr>
        <p:spPr>
          <a:xfrm>
            <a:off x="640080" y="515848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계통·간접 연관도 공변이를 만듭니다. 이 계산만으로 직접 접촉을 입증하지는 못합니다.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102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공변화 패턴을 유전자 계통과 함께 해석하기</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33 / 102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공통 조상은 남아 있다</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다른 중복 계열의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계열을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서열은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조상의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계통별 기능·환경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유전자 계열을 정리하는 데 도움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보상 치환 100회</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계통수의 여러 가지에서 반복되었는지는 따로 평가해야 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102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계열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상동 서열을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하위 계열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중복 계열별로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계열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계열을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다양성도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하위 계열이 각각 다른 잔기를 선호하면 혼합 후 공변이가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목적·정렬·계열 구성을 함께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102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계열을 나누면 무엇이 보이나?</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서열: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A/B로 중복 → H/M/R/F 종 분화; 추가 중복·소실 없음</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A_H–A_M, A_H–B_H, A_H–B_M의 진화 관계는?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전체와 계열 내부를 비교: 변화·공변이를 각각 판단</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8행을 독립적인 보상 치환 8회라고 셀 수 있는가?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102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Ortholog·paralog와 공변이 실습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계열 차이와 공진화를 구분</a:t>
            </a:r>
          </a:p>
        </p:txBody>
      </p:sp>
      <p:graphicFrame>
        <p:nvGraphicFramePr>
          <p:cNvPr id="4" name="Table 3"/>
          <p:cNvGraphicFramePr>
            <a:graphicFrameLocks noGrp="1"/>
          </p:cNvGraphicFramePr>
          <p:nvPr/>
        </p:nvGraphicFramePr>
        <p:xfrm>
          <a:off x="612648" y="1417320"/>
          <a:ext cx="10972800" cy="3057144"/>
        </p:xfrm>
        <a:graphic>
          <a:graphicData uri="http://schemas.openxmlformats.org/drawingml/2006/table">
            <a:tbl>
              <a:tblPr firstRow="1" bandRow="1">
                <a:tableStyleId>{5C22544A-7EE6-4342-B048-85BDC9FD1C3A}</a:tableStyleId>
              </a:tblPr>
              <a:tblGrid>
                <a:gridCol w="3474720"/>
                <a:gridCol w="3383280"/>
                <a:gridCol w="41148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정답·관찰</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판정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A_H–A_M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최근 공통 조상에서 종 분화(S)</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A_H–B_H</a:t>
                      </a:r>
                    </a:p>
                    <a:p>
                      <a:pPr>
                        <a:lnSpc>
                          <a:spcPct val="110000"/>
                        </a:lnSpc>
                      </a:pPr>
                      <a:r>
                        <a:rPr sz="1900" b="0" lang="ko-KR">
                          <a:solidFill>
                            <a:srgbClr val="183342"/>
                          </a:solidFill>
                          <a:latin typeface="Arial Unicode MS"/>
                          <a:ea typeface="Arial Unicode MS"/>
                        </a:rPr>
                        <a:t>A_H–B_M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최근 공통 조상에서 중복(D)</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각 계열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D–K만 / B: K–D만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변이가 없어 내부 공진화의</a:t>
                      </a:r>
                    </a:p>
                    <a:p>
                      <a:pPr>
                        <a:lnSpc>
                          <a:spcPct val="110000"/>
                        </a:lnSpc>
                      </a:pPr>
                      <a:r>
                        <a:rPr sz="1900" b="0" lang="ko-KR">
                          <a:solidFill>
                            <a:srgbClr val="183342"/>
                          </a:solidFill>
                          <a:latin typeface="Arial Unicode MS"/>
                          <a:ea typeface="Arial Unicode MS"/>
                        </a:rPr>
                        <a:t>근거를 평가하기 어려움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합친 8행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D–K 4행 / K–D 4행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공변이 패턴이 A/B 구분과 겹침</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8행을 독립적인 보상 치환 8회로 셀 수 없습니다. 조상의 조합을 물려받았을 수 있습니다.</a:t>
            </a:r>
          </a:p>
        </p:txBody>
      </p:sp>
      <p:sp>
        <p:nvSpPr>
          <p:cNvPr id="6" name="TextBox 5"/>
          <p:cNvSpPr txBox="1"/>
          <p:nvPr/>
        </p:nvSpPr>
        <p:spPr>
          <a:xfrm>
            <a:off x="640080" y="515848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계열 혼합만으로도 같은 패턴이 가능하므로, 직접 접촉은 구조·실험 등 추가 근거로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102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단백질 안과 단백질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복합체에서는 어떤 서열끼리 짝지었는가?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단백질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상동 단백질의 서열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서열의 위치 i와 j</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단백질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단백질 P 서열 | Q 서열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같은 종에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단백질의 서열을 같은 행에 대응시킴</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종에 있다는 사실만으로 실제 결합 파트너를 확정할 수 없음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102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공변이에서 구조 예측으로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공변이·MI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분포가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모형화해 직접·간접 통계 효과를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학습한 모형으로 서열·MSA 등 정보를 통합해 구조 예측</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간접 상관이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접촉·작동 기전의 자동 증명이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102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102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102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102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102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예제 파일: examples/calmodulin_P0DP23.fasta · 다운로드는 46번</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단백질 한 사슬, 149개 아미노산을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102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102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서열과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Human CALM1 ·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단백질</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 다운로드: 아래 URL → calmodulin_P0DP23.fasta로 저장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제목(&gt;) 줄 제외 → query_sequence에 서열만 입력 → length 149 확인</a:t>
            </a:r>
          </a:p>
        </p:txBody>
      </p:sp>
      <p:sp>
        <p:nvSpPr>
          <p:cNvPr id="7" name="TextBox 6"/>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https://rest.uniprot.org/uniprotkb/P0DP23.fasta</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102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102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잔기별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.a3m·구조 .pdb·설정/로그를 함께 보관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102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ColabFold 기본 실행</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서열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Header를 뺀 CALM1 서열, length 149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길이면 제목·다른 서열·중복 붙여넣기부터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설정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jobname=calm_baseline, 지정 모델·template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ZIP의 설정·로그와 입력을 함께 보관해야 재현 가능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파일 확인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다운로드 ZIP에 .a3m·.pdb·설정/로그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생성·예측·다운로드가 어디까지 끝났는지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그림 읽기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pLDDT·PAE·MSA coverage를 각각 찾기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지표의 의미는 다음 설명에서 확인</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좌표와 점수에는 고정 정답이 없습니다. seed·GPU·서버·버전에 따라 결과가 달라질 수 있습니다.</a:t>
            </a:r>
          </a:p>
        </p:txBody>
      </p:sp>
      <p:sp>
        <p:nvSpPr>
          <p:cNvPr id="6" name="TextBox 5"/>
          <p:cNvSpPr txBox="1"/>
          <p:nvPr/>
        </p:nvSpPr>
        <p:spPr>
          <a:xfrm>
            <a:off x="640080" y="547243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GPU 대기로 완료되지 않았다면 성공으로 기록하지 말고 마지막 실행 단계와 오류를 기록합니다.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102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lDDT · 기준 구조의 주변 거리가 얼마나 보존되었나?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기준 구조와 비교하는 정확도 점수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원자 단위 평가. 여기서는 AF2의 잔기별 lDDT-Cα를 사용</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기준 구조에서 중심 Cα의 15 Å 미만 이웃을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|예측 거리 − 기준 거리|를 0.5·1·2·4 Å로 검사</a:t>
            </a:r>
          </a:p>
        </p:txBody>
      </p:sp>
      <p:sp>
        <p:nvSpPr>
          <p:cNvPr id="8" name="TextBox 7"/>
          <p:cNvSpPr txBox="1"/>
          <p:nvPr/>
        </p:nvSpPr>
        <p:spPr>
          <a:xfrm>
            <a:off x="685800" y="4143756"/>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구조를 겹칠 필요는 없지만, 대응 잔기와 기준 좌표는 필요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102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직접 계산 · 네 이웃의 거리 오차를 네 번 채점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548640">
                <a:tc>
                  <a:txBody>
                    <a:bodyPr/>
                    <a:lstStyle/>
                    <a:p>
                      <a:pPr>
                        <a:lnSpc>
                          <a:spcPct val="110000"/>
                        </a:lnSpc>
                      </a:pPr>
                      <a:r>
                        <a:rPr sz="1900" b="1" lang="ko-KR">
                          <a:solidFill>
                            <a:srgbClr val="FFFFFF"/>
                          </a:solidFill>
                          <a:latin typeface="Arial Unicode MS"/>
                          <a:ea typeface="Arial Unicode MS"/>
                        </a:rPr>
                        <a:t>이웃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절대 오차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잔기 i의 가상 이웃 4개만 사용. 오차 &lt; 0.5, &lt; 1, &lt; 2, &lt; 4 Å를 각각 검사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102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예측 거리가 더 멀어지면?</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5쪽: 마지막 이웃 d의 예측 거리만 17 → 19 Å로 변경</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기준 거리는 여전히 14 Å. 나머지 세 이웃은 같습니다.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d는 네 검사 중 몇 개를 통과하나요? 새 lDDTᵢ는?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예측 거리가 15 Å를 넘으면 이 이웃을 빼도 될까요?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102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오차가 커져도 이웃은 그대로</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3200400"/>
                <a:gridCol w="5212080"/>
                <a:gridCol w="1645920"/>
              </a:tblGrid>
              <a:tr h="548640">
                <a:tc>
                  <a:txBody>
                    <a:bodyPr/>
                    <a:lstStyle/>
                    <a:p>
                      <a:pPr>
                        <a:lnSpc>
                          <a:spcPct val="110000"/>
                        </a:lnSpc>
                      </a:pPr>
                      <a:r>
                        <a:rPr sz="1900" b="1" lang="ko-KR">
                          <a:solidFill>
                            <a:srgbClr val="FFFFFF"/>
                          </a:solidFill>
                          <a:latin typeface="Arial Unicode MS"/>
                          <a:ea typeface="Arial Unicode MS"/>
                        </a:rPr>
                        <a:t>이웃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절대 오차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통과한 기준: 오차 &lt; …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|4.2 − 4| = 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0.5 · 1 · 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|7.8 − 7| = 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2 · 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|11.5 − 10| = 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|19 − 14| = 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없음: 4 Å 기준도 실패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새 lDDTᵢ = (4 + 3 + 2 + 0) / (4쌍 × 4기준) = 9/16 = 0.5625 → 56.25점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d의 기준 거리 14 Å는 15 Å 미만: 계속 포함합니다. 빼면 분모가 줄어 점수가 부풀려집니다.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102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학습 정답으로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학습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구조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좌표 + 잔기별 내부 표현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좌표 + 학습용 기준 좌표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잔기별 lDDT-Cα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신뢰도 학습</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내부 표현 → 신뢰도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구간에 대한 분포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구간이 학습 정답</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분포가 정답 구간을 맞히도록 학습합니다(cross-entropy).</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기준 좌표는 채점·지도에 사용하며, 신뢰도 head에 정답으로 입력하지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102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새 서열에서는 정답 없이 pLDDT를 출력한다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구간 중심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 잔기별 50 logits → softmax 확률 → pLDDTᵢ = 100 × Σₖ pᵢₖcₖ</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 50개 중 세 구간에만 확률을 둔 단순화 → 100 × 0.810 = 81점</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81은 예측한 lDDT 점수이며 ‘정답 확률 81%’도 ‘오차 81 Å’도 아닙니다.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102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국소 신뢰도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신뢰도,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좌표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신뢰도를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정확도가 갑자기 바뀌지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102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신뢰도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연결부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연결부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잔기별 그래프·3D 색·관심 부위를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102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먼저 pLDDT 문제만 풉니다.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가장 조심해서 해석할 위치 두 곳을 찾으세요.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평균 82.8이면 12개 위치가 모두 믿을 만한가요?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③ A와 B의 상대 방향·연결부의 disorder를 확정할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102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평균으로 낮은 신뢰도 구간을 가리지 않기</a:t>
            </a:r>
          </a:p>
        </p:txBody>
      </p:sp>
      <p:graphicFrame>
        <p:nvGraphicFramePr>
          <p:cNvPr id="4" name="Table 3"/>
          <p:cNvGraphicFramePr>
            <a:graphicFrameLocks noGrp="1"/>
          </p:cNvGraphicFramePr>
          <p:nvPr/>
        </p:nvGraphicFramePr>
        <p:xfrm>
          <a:off x="612648" y="1417320"/>
          <a:ext cx="10972800" cy="3214116"/>
        </p:xfrm>
        <a:graphic>
          <a:graphicData uri="http://schemas.openxmlformats.org/drawingml/2006/table">
            <a:tbl>
              <a:tblPr firstRow="1" bandRow="1">
                <a:tableStyleId>{5C22544A-7EE6-4342-B048-85BDC9FD1C3A}</a:tableStyleId>
              </a:tblPr>
              <a:tblGrid>
                <a:gridCol w="2651760"/>
                <a:gridCol w="3017520"/>
                <a:gridCol w="530352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왜 그렇게 해석하나요?</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특히 주의할 위치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6번 43 · 7번 39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연결부의 국소 신뢰도가 낮습니다.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평균 82.8이면 모두 신뢰?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아니요: 994/12 ≈ 82.8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높은 값들이 연결부 평균41.0을 가립니다.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A·B의 상대 방향 확정?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아직 알 수 없습니다.</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각 부분의 pLDDT는 도메인 간 배치 점수가 아닙니다.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연결부가 disorder임을 확정?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가능한 설명일 뿐입니다.</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정보 부족 등도 낮은 점수를 만들 수 있습니다.</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평균은 각각 91.2: 국소 구조를 검토할 근거가 있습니다. 상대 배치는 PAE도 읽어야 합니다.</a:t>
            </a:r>
          </a:p>
        </p:txBody>
      </p:sp>
      <p:sp>
        <p:nvSpPr>
          <p:cNvPr id="6" name="TextBox 5"/>
          <p:cNvSpPr txBox="1"/>
          <p:nvPr/>
        </p:nvSpPr>
        <p:spPr>
          <a:xfrm>
            <a:off x="640080" y="531545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점수가 같은 두 부분이 같은 모양이라는 뜻은 아닙니다. 여기의 숫자는 설명용 가상 점수입니다.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102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정렬 오차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국소 좌표계를 맞췄다고 할 때 i의 예상 위치 오차</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잔기 사이 거리나 두 실물 구조에서 측정한 RMSD와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102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도메인 내부와 도메인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정렬 기준 j / 도메인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102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상대 배치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도메인 내부 구조를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도메인 사이 PAE → 두 도메인의 상대 배치는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유연성·disorder는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결합·상태 점유율·전이 속도를 증명하지 않음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102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P는 앞의 표, Q는 같은 pLDDT를 갖는 다른 가상 예측</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Q의 선택된 4×4 PAE에서 대각선 밖 값은 모두 1–3 Å</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PAE(A3,B9)=18과 PAE(B9,A3)=24를 각각 말로 풀어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P·Q 중 상대 배치를 더 확신하는 것은? 실제 상태 비율도 알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102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PAE의 기준과 평가 대상을 나누기</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474720"/>
                <a:gridCol w="3291840"/>
                <a:gridCol w="2103120"/>
                <a:gridCol w="2103120"/>
              </a:tblGrid>
              <a:tr h="548640">
                <a:tc>
                  <a:txBody>
                    <a:bodyPr/>
                    <a:lstStyle/>
                    <a:p>
                      <a:pPr>
                        <a:lnSpc>
                          <a:spcPct val="110000"/>
                        </a:lnSpc>
                      </a:pPr>
                      <a:r>
                        <a:rPr sz="1900" b="1" lang="ko-KR">
                          <a:solidFill>
                            <a:srgbClr val="FFFFFF"/>
                          </a:solidFill>
                          <a:latin typeface="Arial Unicode MS"/>
                          <a:ea typeface="Arial Unicode MS"/>
                        </a:rPr>
                        <a:t>읽은 칸: 행 i·열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정렬 기준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평가 대상 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예상 위치 오차</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PAE(A3, 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B9의 국소 좌표틀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PAE(B9, A3)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A3의 국소 좌표틀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24 Å</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B9를 기준으로 보면 A3의 예상 오차는 18 Å; A3을 기준으로 보면 B9는 24 Å입니다.</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기준 좌표틀이 달라 두 방향 값은 달라도 됩니다. A3–B9 사이의 실제 거리를 읽은 것이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102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Q는 제시된 상대 배치를 더 확신한다</a:t>
            </a:r>
          </a:p>
        </p:txBody>
      </p:sp>
      <p:graphicFrame>
        <p:nvGraphicFramePr>
          <p:cNvPr id="4" name="Table 3"/>
          <p:cNvGraphicFramePr>
            <a:graphicFrameLocks noGrp="1"/>
          </p:cNvGraphicFramePr>
          <p:nvPr/>
        </p:nvGraphicFramePr>
        <p:xfrm>
          <a:off x="612648" y="1417320"/>
          <a:ext cx="10972800" cy="3057144"/>
        </p:xfrm>
        <a:graphic>
          <a:graphicData uri="http://schemas.openxmlformats.org/drawingml/2006/table">
            <a:tbl>
              <a:tblPr firstRow="1" bandRow="1">
                <a:tableStyleId>{5C22544A-7EE6-4342-B048-85BDC9FD1C3A}</a:tableStyleId>
              </a:tblPr>
              <a:tblGrid>
                <a:gridCol w="2926080"/>
                <a:gridCol w="2011680"/>
                <a:gridCol w="2011680"/>
                <a:gridCol w="4023360"/>
              </a:tblGrid>
              <a:tr h="548640">
                <a:tc>
                  <a:txBody>
                    <a:bodyPr/>
                    <a:lstStyle/>
                    <a:p>
                      <a:pPr>
                        <a:lnSpc>
                          <a:spcPct val="110000"/>
                        </a:lnSpc>
                      </a:pPr>
                      <a:r>
                        <a:rPr sz="1900" b="1" lang="ko-KR">
                          <a:solidFill>
                            <a:srgbClr val="FFFFFF"/>
                          </a:solidFill>
                          <a:latin typeface="Arial Unicode MS"/>
                          <a:ea typeface="Arial Unicode MS"/>
                        </a:rPr>
                        <a:t>비교할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Q</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허용되는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pLDDT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점수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P와 동일</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국소 신뢰도는 달라지지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내부 PAE: 대각선 밖</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둘 다 제시된 내부 배치를 확신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 사이 PAE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18–24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Q가 이 위치쌍의 상대 배치를 더 확신</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상태의 실제 비율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pLDDT·PAE로 점유율을 계산할 수 없음</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결론: 같은 pLDDT여도 도메인 간 신뢰도는 다를 수 있습니다. 제시한 4×4 범위에서는 Q가 더 높습니다.</a:t>
            </a:r>
          </a:p>
        </p:txBody>
      </p:sp>
      <p:sp>
        <p:nvSpPr>
          <p:cNvPr id="6" name="TextBox 5"/>
          <p:cNvSpPr txBox="1"/>
          <p:nvPr/>
        </p:nvSpPr>
        <p:spPr>
          <a:xfrm>
            <a:off x="640080" y="515848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Q가 실제 정답·우세 상태라는 보장은 없습니다. 생략한 위치와 전체 구조는 별도로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102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66 / 102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102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Custom MSA 입력</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CALM1 서열과 첫 query가 일치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길이149만 같아서는 부족: 잔기 서열도 대조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입력 모드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msa_mode=custom, 선택한 .a3m 한 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조건 파일을 넣었으면 비교 조건이 바뀜</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jobname·파일명·MSA 행 수·설정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query를 유지하고 무엇을 바꿨는지 명시</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ZIP에서 구조·점수·설정/로그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변화가 없어도 정상적인 비교 결과</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실제 실습에는 CALM1에서 얻은 MSA를 사용합니다. 12열 가상 A3M은 파일 읽기 학습용입니다.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68 / 102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102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102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공정한 비교 설계</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102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공정한 비교는 B</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057400"/>
                <a:gridCol w="8915400"/>
              </a:tblGrid>
              <a:tr h="548640">
                <a:tc>
                  <a:txBody>
                    <a:bodyPr/>
                    <a:lstStyle/>
                    <a:p>
                      <a:pPr>
                        <a:lnSpc>
                          <a:spcPct val="110000"/>
                        </a:lnSpc>
                      </a:pPr>
                      <a:r>
                        <a:rPr sz="1900" b="1" lang="ko-KR">
                          <a:solidFill>
                            <a:srgbClr val="FFFFFF"/>
                          </a:solidFill>
                          <a:latin typeface="Arial Unicode MS"/>
                          <a:ea typeface="Arial Unicode MS"/>
                        </a:rPr>
                        <a:t>판단</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B를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query·각 10회: homolog 행 선택의 효과를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A의 문제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삭제·template 추가·5→50회가 함께 변해 원인 구별 불가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고정할 것</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query·모델/가중치·template·예측 seed 집합·recycle·생성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기록할 것</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선택한 행 ID와 행 수 / 행 추출 seed와 MSA 검색 DB·날짜</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MSA 대조군이 있어야 선택 MSA의 변화와 원래 예측 경향을 비교할 수 있습니다.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seed 개수만 맞추거나, 더 많이 만든 쪽의 최고 점수만 비교하기.</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102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102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102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Depth를 줄인 MSA</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1번: query와 A2·A3·B1만 남겨 보세요.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컴퓨터: practice/에서 python3 msa_lab.py 실행</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폴더의 subsample.a3m: 첫 행·행 수·열 수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원본과 비교해 줄어든 진화 정보는 무엇인가요?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102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Query 포함 4행, 정렬 12열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depth=4 / row-sampling seed=7</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example_A2  ACDeeEFGHIKLMN</a:t>
            </a:r>
          </a:p>
          <a:p>
            <a:pPr>
              <a:lnSpc>
                <a:spcPts val="2372"/>
              </a:lnSpc>
            </a:pPr>
            <a:r>
              <a:rPr sz="2100" b="0" lang="ko-KR">
                <a:solidFill>
                  <a:srgbClr val="183342"/>
                </a:solidFill>
                <a:latin typeface="Courier New"/>
                <a:ea typeface="Arial Unicode MS"/>
              </a:rPr>
              <a:t>example_A3  ACDE-GHIKLMN</a:t>
            </a:r>
          </a:p>
          <a:p>
            <a:pPr>
              <a:lnSpc>
                <a:spcPts val="2372"/>
              </a:lnSpc>
            </a:pPr>
            <a:r>
              <a:rPr sz="2100" b="0" lang="ko-KR">
                <a:solidFill>
                  <a:srgbClr val="183342"/>
                </a:solidFill>
                <a:latin typeface="Courier New"/>
                <a:ea typeface="Arial Unicode MS"/>
              </a:rPr>
              <a:t>example_B1  ACDEYGHIKLXN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선택 ID: query, example_A2, example_A3, example_B1</a:t>
            </a:r>
          </a:p>
          <a:p>
            <a:pPr>
              <a:lnSpc>
                <a:spcPct val="113000"/>
              </a:lnSpc>
            </a:pPr>
            <a:r>
              <a:rPr sz="1800" b="0" lang="ko-KR">
                <a:solidFill>
                  <a:srgbClr val="277F87"/>
                </a:solidFill>
                <a:latin typeface="Arial Unicode MS"/>
                <a:ea typeface="Arial Unicode MS"/>
              </a:rPr>
              <a:t>허구 학습 자료: ee는 삽입이므로 A2 원문 14글자, 정렬 12열</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원본 7행 → 4행: homolog는 6개에서 3개로 감소하며 query는 불변입니다.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빠진 A1·B2·B3의 정보 때문에 열별 빈도·coverage·조합 빈도가 달라질 수 있습니다.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depth 4를 homolog 4개로 세기. 4행이 독립 진화 사건 4개라는 뜻도 아닙니다.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102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102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모델·seed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102</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max_msa 두 조건 비교</a:t>
            </a:r>
          </a:p>
        </p:txBody>
      </p:sp>
      <p:graphicFrame>
        <p:nvGraphicFramePr>
          <p:cNvPr id="4" name="Table 3"/>
          <p:cNvGraphicFramePr>
            <a:graphicFrameLocks noGrp="1"/>
          </p:cNvGraphicFramePr>
          <p:nvPr/>
        </p:nvGraphicFramePr>
        <p:xfrm>
          <a:off x="612648" y="1417320"/>
          <a:ext cx="10972800" cy="3214116"/>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공통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CALM1 query와 custom A3M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Query·모델·template·seed 조건도 맞추기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달라지는 값</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calm_depth32: 32:64</a:t>
                      </a:r>
                    </a:p>
                    <a:p>
                      <a:pPr>
                        <a:lnSpc>
                          <a:spcPct val="110000"/>
                        </a:lnSpc>
                      </a:pPr>
                      <a:r>
                        <a:rPr sz="1900" b="0" lang="ko-KR">
                          <a:solidFill>
                            <a:srgbClr val="183342"/>
                          </a:solidFill>
                          <a:latin typeface="Arial Unicode MS"/>
                          <a:ea typeface="Arial Unicode MS"/>
                        </a:rPr>
                        <a:t>calm_depth64: 64:128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 MSA·extra MSA 두 한도만 변경</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한도와 실제 행 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한도96행/192행이라고 합산하지 않기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원본 행 수·중복·전처리 때문에 실제 사용 수는 다를 수 있음</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비교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pLDDT·PAE와 같은 원자/구간의 좌표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값이 바뀌거나 구조가 열려야 성공인 것은 아님</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ZIP과 설정을 보관합니다. 결과 차이가 보이면 동일한 seed 집합으로 반복해 재현성을 확인합니다.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102</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80 / 102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81 / 102</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서열 그룹별 입력 비교</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2번: group_A/B.a3m을 비교하세요.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파일의 첫 query와 homolog 구성을 확인</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그룹에서 5열·11열의 잔기 분포를 읽어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그룹을 ortholog 집합이나 구조 상태라 부를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82 / 102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그룹마다 잔기 분포가 달라진다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1828800"/>
                <a:gridCol w="3291840"/>
                <a:gridCol w="2926080"/>
                <a:gridCol w="2926080"/>
              </a:tblGrid>
              <a:tr h="548640">
                <a:tc>
                  <a:txBody>
                    <a:bodyPr/>
                    <a:lstStyle/>
                    <a:p>
                      <a:pPr>
                        <a:lnSpc>
                          <a:spcPct val="110000"/>
                        </a:lnSpc>
                      </a:pPr>
                      <a:r>
                        <a:rPr sz="1900" b="1" lang="ko-KR">
                          <a:solidFill>
                            <a:srgbClr val="FFFFFF"/>
                          </a:solidFill>
                          <a:latin typeface="Arial Unicode MS"/>
                          <a:ea typeface="Arial Unicode MS"/>
                        </a:rPr>
                        <a:t>파일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포함된 homolog</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정렬 5열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정렬 11열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group_A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A1 · A2 · 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 · F ·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 · M · M</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group_B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B1 · B2 · 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Y · Y · 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X · - · X</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파일 모두 동일 query + homolog 3행 = 4행입니다. 표의 분포는 query를 제외했습니다.</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허구 header의 A/B 라벨로 분리한 결과입니다. AF-Cluster 알고리즘을 실행한 것이 아닙니다.</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A/B를 ortholog 집합이나 열림/닫힘 상태로 부를 근거가 없습니다.</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같은 행 수면 같은 정보량이라 생각하기. X는 불명 잔기, -는 gap입니다.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83 / 102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84 / 102</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85 / 102</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86 / 102</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87 / 102</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정렬 열을 X로 가리기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3번: A2의 5·7·10열을 X로 가리세요.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 ee를 정렬 열로 세지 않고 원문을 다시 쓰기</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masked.a3m에서 query·insertion·기존 gap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어느 열의 빈도와 열 사이 조합 정보가 사라졌나요?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88 / 102</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A2의 완성 문자열과 열 번호</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query       ACDEFGHIKLMN   (unchanged)</a:t>
            </a:r>
          </a:p>
          <a:p>
            <a:pPr>
              <a:lnSpc>
                <a:spcPts val="2372"/>
              </a:lnSpc>
            </a:pPr>
            <a:r>
              <a:rPr sz="2100" b="0" lang="ko-KR">
                <a:solidFill>
                  <a:srgbClr val="183342"/>
                </a:solidFill>
                <a:latin typeface="Courier New"/>
                <a:ea typeface="Arial Unicode MS"/>
              </a:rPr>
              <a:t>A2 before   ACDeeEFGHIKLMN</a:t>
            </a:r>
          </a:p>
          <a:p>
            <a:pPr>
              <a:lnSpc>
                <a:spcPts val="2372"/>
              </a:lnSpc>
            </a:pPr>
            <a:r>
              <a:rPr sz="2100" b="0" lang="ko-KR">
                <a:solidFill>
                  <a:srgbClr val="183342"/>
                </a:solidFill>
                <a:latin typeface="Courier New"/>
                <a:ea typeface="Arial Unicode MS"/>
              </a:rPr>
              <a:t>A2 after    ACDeeEXGXIKXMN</a:t>
            </a:r>
          </a:p>
          <a:p>
            <a:pPr>
              <a:lnSpc>
                <a:spcPts val="2372"/>
              </a:lnSpc>
            </a:pPr>
            <a:r>
              <a:rPr sz="2100" b="0" lang="ko-KR">
                <a:solidFill>
                  <a:srgbClr val="183342"/>
                </a:solidFill>
                <a:latin typeface="Courier New"/>
                <a:ea typeface="Arial Unicode MS"/>
              </a:rPr>
              <a:t>A2 aligned  ACDEXGXIKXMN</a:t>
            </a:r>
          </a:p>
          <a:p>
            <a:pPr>
              <a:lnSpc>
                <a:spcPts val="2372"/>
              </a:lnSpc>
            </a:pPr>
            <a:r>
              <a:rPr sz="2100" b="0" lang="ko-KR">
                <a:solidFill>
                  <a:srgbClr val="183342"/>
                </a:solidFill>
                <a:latin typeface="Courier New"/>
                <a:ea typeface="Arial Unicode MS"/>
              </a:rPr>
              <a:t>A3 after    ACDE-GXIKXMN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5·7·10열(F·H·L) → A2 원문 7·9·12번째 글자를 X로 변경</a:t>
            </a:r>
          </a:p>
          <a:p>
            <a:pPr>
              <a:lnSpc>
                <a:spcPct val="113000"/>
              </a:lnSpc>
            </a:pPr>
            <a:r>
              <a:rPr sz="1800" b="0" lang="ko-KR">
                <a:solidFill>
                  <a:srgbClr val="277F87"/>
                </a:solidFill>
                <a:latin typeface="Arial Unicode MS"/>
                <a:ea typeface="Arial Unicode MS"/>
              </a:rPr>
              <a:t>ee는 정렬 3열 뒤/4열 앞 삽입: 원문 4·5번째 글자이며 정렬 열은 없음</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 번호는 1부터 셉니다. A2 결과는 ACDeeEXGXIKXMN입니다.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소문자 ee·query 전체·기존 gap을 보존합니다. A3의 5열 -도 그대로입니다.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원문 5·7·10번째 글자를 가리거나, 먼저 대문자화해 삽입을 정렬 열로 세기.</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89 / 102</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X로 가린 정보와 남긴 정보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194560"/>
                <a:gridCol w="8778240"/>
              </a:tblGrid>
              <a:tr h="548640">
                <a:tc>
                  <a:txBody>
                    <a:bodyPr/>
                    <a:lstStyle/>
                    <a:p>
                      <a:pPr>
                        <a:lnSpc>
                          <a:spcPct val="110000"/>
                        </a:lnSpc>
                      </a:pPr>
                      <a:r>
                        <a:rPr sz="1900" b="1" lang="ko-KR">
                          <a:solidFill>
                            <a:srgbClr val="FFFFFF"/>
                          </a:solidFill>
                          <a:latin typeface="Arial Unicode MS"/>
                          <a:ea typeface="Arial Unicode MS"/>
                        </a:rPr>
                        <a:t>확인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전체 보존: 같은 표적에서 homolog 정보만 바꾸기 위해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소문자 ee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보존: 삽입 정보를 남기고 정렬 열 대응을 유지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기존 gap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보존: X와 뜻이 다름. 열을 삭제하거나 잔기를 새로 넣지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5·7·10열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homolog 잔기 정체를 X로 가려 빈도·다른 열과의 조합 정보를 약화</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원본 MSA를 대조군으로 남깁니다. X는 잔기 정체를 가린 표식이며 gap과 같지 않습니다.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이것은 문자열 생성 실습입니다. AFsample2 실행·특정 접촉 제거·대안 구조 발견을 뜻하지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90 / 102</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91 / 102</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92 / 102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93 / 102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94 / 102</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95 / 102</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96 / 102</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거리와 신뢰도를 함께 비교</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2286000"/>
                <a:gridCol w="3657600"/>
                <a:gridCol w="5029200"/>
              </a:tblGrid>
              <a:tr h="548640">
                <a:tc>
                  <a:txBody>
                    <a:bodyPr/>
                    <a:lstStyle/>
                    <a:p>
                      <a:pPr>
                        <a:lnSpc>
                          <a:spcPct val="110000"/>
                        </a:lnSpc>
                      </a:pPr>
                      <a:r>
                        <a:rPr sz="1900" b="1" lang="ko-KR">
                          <a:solidFill>
                            <a:srgbClr val="FFFFFF"/>
                          </a:solidFill>
                          <a:latin typeface="Arial Unicode MS"/>
                          <a:ea typeface="Arial Unicode MS"/>
                        </a:rPr>
                        <a:t>후보 묶음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수치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판단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 · F2 · A1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거리 8.2 · 8.6 · 8.5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가까운 거리 후보로 묶어 검토</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 · B1 · M1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거리 16.4 · 16.0 · 15.8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첫 묶음과 다른 배치인지 검토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S2 · M2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 50 · 49</a:t>
                      </a:r>
                    </a:p>
                    <a:p>
                      <a:pPr>
                        <a:lnSpc>
                          <a:spcPct val="110000"/>
                        </a:lnSpc>
                      </a:pPr>
                      <a:r>
                        <a:rPr sz="1900" b="0" lang="ko-KR">
                          <a:solidFill>
                            <a:srgbClr val="183342"/>
                          </a:solidFill>
                          <a:latin typeface="Arial Unicode MS"/>
                          <a:ea typeface="Arial Unicode MS"/>
                        </a:rPr>
                        <a:t>PAE 18 · 19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큰 거리 22 · 24 Å만으로</a:t>
                      </a:r>
                    </a:p>
                    <a:p>
                      <a:pPr>
                        <a:lnSpc>
                          <a:spcPct val="110000"/>
                        </a:lnSpc>
                      </a:pPr>
                      <a:r>
                        <a:rPr sz="1900" b="0" lang="ko-KR">
                          <a:solidFill>
                            <a:srgbClr val="183342"/>
                          </a:solidFill>
                          <a:latin typeface="Arial Unicode MS"/>
                          <a:ea typeface="Arial Unicode MS"/>
                        </a:rPr>
                        <a:t>대안 구조라 부르기 어려움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F2만 고르면 S1 등의 다른 배치 후보를 놓칩니다. 각 묶음에서 대표 후보를 남깁니다.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개의 거리는 구조 전체를 요약하지 못합니다. 같은 구간을 정렬해 도메인 배치와 접촉을 비교합니다.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97 / 102</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3/8은 평형 점유율이 아니다</a:t>
            </a:r>
          </a:p>
        </p:txBody>
      </p:sp>
      <p:graphicFrame>
        <p:nvGraphicFramePr>
          <p:cNvPr id="4" name="Table 3"/>
          <p:cNvGraphicFramePr>
            <a:graphicFrameLocks noGrp="1"/>
          </p:cNvGraphicFramePr>
          <p:nvPr/>
        </p:nvGraphicFramePr>
        <p:xfrm>
          <a:off x="612648" y="1417320"/>
          <a:ext cx="10972799" cy="3057144"/>
        </p:xfrm>
        <a:graphic>
          <a:graphicData uri="http://schemas.openxmlformats.org/drawingml/2006/table">
            <a:tbl>
              <a:tblPr firstRow="1" bandRow="1">
                <a:tableStyleId>{5C22544A-7EE6-4342-B048-85BDC9FD1C3A}</a:tableStyleId>
              </a:tblPr>
              <a:tblGrid>
                <a:gridCol w="3474720"/>
                <a:gridCol w="7498079"/>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약16 Å 후보가 3/8개?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S1·B1·M1: 생성물에서 37.5%라는 뜻</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열린 상태가 37.5% 존재?</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판정 불가: 모델 생성 빈도가 물리적 평형분포라는 근거가 없음</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조건별 후보를 더 비교하려면?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query·모델·seed 집합·생성 수로 반복하고 입력 조건을 기록</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실제 구조·점유율을 판단하려면?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구조의 물리적 타당성과 독립적인 구조·분광학 등 실험 근거 확인</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MSA·seed·선별 기준을 바꾸면 생성 비율도 바뀔 수 있습니다. 높은 pLDDT도 상태의 존재 확률은 아닙니다.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98 / 102</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공변화가 곧 직접 접촉이다.”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99 / 102</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세 주장을 근거에 맞게 고치기</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3931920"/>
                <a:gridCol w="7040880"/>
              </a:tblGrid>
              <a:tr h="548640">
                <a:tc>
                  <a:txBody>
                    <a:bodyPr/>
                    <a:lstStyle/>
                    <a:p>
                      <a:pPr>
                        <a:lnSpc>
                          <a:spcPct val="110000"/>
                        </a:lnSpc>
                      </a:pPr>
                      <a:r>
                        <a:rPr sz="1900" b="1" lang="ko-KR">
                          <a:solidFill>
                            <a:srgbClr val="FFFFFF"/>
                          </a:solidFill>
                          <a:latin typeface="Arial Unicode MS"/>
                          <a:ea typeface="Arial Unicode MS"/>
                        </a:rPr>
                        <a:t>원래 주장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빠진 근거와 수정한 설명</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Ortholog의 공변화 = 직접 접촉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조상·간접 연관이 남습니다. 공변화는 접촉을 탐색하는 단서이며 구조 검증이 필요합니다.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MSA cluster 3개 = 구조 상태 3개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서열을 나눈 결과입니다. 서로 다른 입력에서 같은 구조가 나올 수도 있어 예측 좌표를 따로 비교합니다.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100개 중20개 = 평형 점유율20%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이는 생성물 비율입니다. 물리적 평형분포를 표집했다는 근거와 실험 검증이 필요합니다.</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좋은 답은 “틀렸다”에서 끝나지 않고, 무엇을 관측했으며 어떤 근거가 더 필요한지 설명합니다.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100 / 102</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공변화는 단서이며 공통 조상·기능 분화를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101 / 102</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102 / 102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
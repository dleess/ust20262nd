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0–3분 (3분)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3–7분 (4분)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7–10분 (3분)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10–12분 (2분)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12–15분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15–18분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18–20분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29–32분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32–35분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35–37분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37–40분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40–43분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43–46분 (3분)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a:t>
            </a:r>
          </a:p>
          <a:p/>
          <a:p>
            <a:r>
              <a:t>추가 설명</a:t>
            </a:r>
          </a:p>
          <a:p>
            <a:r>
              <a:t>아미노산 20개를 외우기보다 곁사슬의 특징을 먼저 읽는다.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46–49분 (3분)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49–52분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52–55분 (3분)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55–57분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57–59분 (2분)</a:t>
            </a:r>
          </a:p>
          <a:p/>
          <a:p>
            <a:r>
              <a:t>PDB(Protein Data Bank)라는 자료 저장소의 이름과 확장자 .pdb인 legacy 파일 포맷을 구별합니다. 이 예시는 assets/structures/2ITY.pdb의 첫 ATOM 두 행을 발췌했고 내부 공백과 실제 값을 유지했습니다. ATOM/HETATM 좌표 레코드 한 행은 원자 위치 하나를 기술합니다. 정확한 문자 열은 레코드 1–6, 일련번호 7–11, 원자 이름 13–16, 대체 위치 17, 잔기 이름 18–20, 사슬 22, 잔기 번호 23–26, 삽입 코드 27, x 31–38, y 39–46, z 47–54, occupancy 55–60, B factor 61–66, 원소 77–78, 전하 79–80입니다. 표시한 두 행의 대체 위치·삽입 코드·전하 칸은 비어 있습니다. 전하 공백을 중성의 증거로 읽지 않습니다. GLU는 glutamate(글루탐산) 잔기이고 N은 그 잔기의 주사슬 질소 원자입니다. 둘째 행의 CA는 calcium이 아니라 alpha carbon이며 실제 원소는 C 열에서 확인합니다. 학생에게 A / GLU / 697을 읽고 두 원자가 같은 잔기인지 설명하게 합니다. HETATM은 약물뿐 아니라 물·이온·비표준 잔기에도 쓰입니다. 파일에는 HEADER, TITLE, REMARK 등 다른 종류의 레코드도 있고 여기서는 원자 좌표 부분만 발췌했습니다.</a:t>
            </a:r>
          </a:p>
          <a:p/>
          <a:p>
            <a:r>
              <a:t>출처</a:t>
            </a:r>
          </a:p>
          <a:p>
            <a:r>
              <a:t>wwPDB: PDB Format v3.3, ATOM / HETATM coordinate records</a:t>
            </a:r>
          </a:p>
          <a:p>
            <a:r>
              <a:t>https://www.wwpdb.org/documentation/file-format-content/format33/sect9.html</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59–61분 (2분)</a:t>
            </a:r>
          </a:p>
          <a:p/>
          <a:p>
            <a:r>
              <a:t>PDBx/mmCIF는 생체고분자 구조를 위한 CIF 계열 텍스트 포맷이며 PDBx는 PDB exchange, mmCIF는 macromolecular Crystallographic Information File의 약자입니다. 이 예시는 원본 2ITY.cif의 _atom_site 표에서 10개 열과 첫 두 행을 선별한 교육용 발췌입니다. 전체 파일을 그대로 재현한 것은 아니며 나머지 열과 행, 메타데이터를 생략했습니다. 값은 원본에서 바꾸지 않았고 앞 슬라이드 PDB의 동일한 두 원자입니다. data_2ITY는 블록 이름, loop_는 반복 데이터 표의 시작, _atom_site.는 원자 정보를 담는 범주입니다. 데이터 값은 태그의 나열 순서에 대응하며 고정 문자 열에 맞출 필요가 없습니다. 한 논리적 행을 물리적 여러 줄에 나누어 쓸 수도 있으므로 한 줄에 원자 하나라는 설명은 이 예시의 표시 방식에 한정합니다. 첫 행에서 type_symbol=N, label_atom_id=N, label_comp_id=GLU, auth_asym_id=A, auth_seq_id=697입니다. 둘째 행의 C와 CA를 원소와 원자 이름에 각각 연결하게 합니다. CIF는 태그 이름으로 의미를 식별하므로 사슬·번호를 읽을 때 label과 auth 접두사를 함께 확인해야 합니다. 좌표가 앞 슬라이드와 같은지 학생에게 확인하게 합니다.</a:t>
            </a:r>
          </a:p>
          <a:p/>
          <a:p>
            <a:r>
              <a:t>출처</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61–63분 (2분)</a:t>
            </a:r>
          </a:p>
          <a:p/>
          <a:p>
            <a:r>
              <a:t>표의 값은 원본 assets/structures/2ITY.cif의 첫 원자에서 확인했습니다. occupancy 1.00은 모델에서 해당 원자 위치를 완전히 점유한다고 기술한 값이며 위치 정확도 100%나 약물 결합률 100%가 아닙니다. B_iso_or_equiv는 등방성 또는 등가 등방성 원자 변위 매개변수이고 여기서는 55.89 Å²입니다. 움직임, 무질서, 모델링 등의 영향을 받으므로 직접적인 결합 세기나 정확도 백분율로 읽지 않습니다. 이 설명은 2ITY 실험 결정구조에 관한 것이며 예측 구조 파일은 같은 필드에 신뢰도 점수 등을 넣을 수 있어 생성 도구의 정의를 확인해야 합니다. mmCIF의 label_seq_id는 등록 고분자 서열의 위치이고 auth_seq_id는 저자 번호입니다. 같은 GLU 잔기에 label 2와 auth 697이 붙습니다. 첫 좌표가 label 2라고 해서 모든 CIF가 2부터 번호를 매기는 것은 아닙니다. 수업의 그림 라벨과 PDB 형식은 저자 번호를 기준으로 맞춥니다. 원자 일련번호 1과 잔기 번호 697도 구별합니다. 따옴표 없는 마침표(.)는 해당 값이 없거나 의도적으로 생략되었음을, 물음표(?)는 값이 미상임을 뜻하며 숫자 0과 다릅니다. 원본 첫 원자의 label_alt_id는 점, pdbx_PDB_ins_code는 물음표입니다. 이 기호가 원자 자체가 없다는 뜻은 아닙니다. 구두 확인: 같은 원자의 좌표는 같은데 잔기 번호가 2와 697로 다르면 구조가 달라졌는가? 정답: 번호 체계가 다른 것이므로 어떤 태그인지 먼저 확인한다. 공식 사전: https://mmcif.wwpdb.org/dictionaries/mmcif_pdbx_v50.dic/Items/_atom_site.label_seq_id.html 및 https://mmcif.wwpdb.org/dictionaries/mmcif_pdbx_v50.dic/Items/_atom_site.auth_seq_id.html</a:t>
            </a:r>
          </a:p>
          <a:p/>
          <a:p>
            <a:r>
              <a:t>출처</a:t>
            </a:r>
          </a:p>
          <a:p>
            <a:r>
              <a:t>RCSB PDB-101: Dealing with Coordinates</a:t>
            </a:r>
          </a:p>
          <a:p>
            <a:r>
              <a:t>https://pdb101.rcsb.org/learn/guide-to-understanding-pdb-data/dealing-with-coordinates</a:t>
            </a:r>
          </a:p>
          <a:p>
            <a:r>
              <a:t>wwPDB: PDBx/mmCIF syntax and loop tables</a:t>
            </a:r>
          </a:p>
          <a:p>
            <a:r>
              <a:t>https://mmcif.wwpdb.org/docs/tutorials/mechanics/pdbx-mmcif-syntax.html</a:t>
            </a:r>
          </a:p>
          <a:p>
            <a:r>
              <a:t>RCSB PDB: 2ITY PDBx/mmCIF original coordinates</a:t>
            </a:r>
          </a:p>
          <a:p>
            <a:r>
              <a:t>https://files.rcsb.org/download/2ITY.cif</a:t>
            </a:r>
          </a:p>
          <a:p>
            <a:r>
              <a:t>2026-09-12다운로드. assets/structures/2ITY.cif에 원본 보관. 예시는 _atom_site에서 10개 열과 첫 두 행을 선별한 발췌. 첫 원자: GLU, auth A697, label A2, xyz (-68.144, -7.449, -50.184) Å, occupancy 1.00, B_iso_or_equiv 55.89 Å².</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63–66분 (3분)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66–69분 (3분)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69–71분 (2분)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71–81분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81–84분 (3분)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84–86분 (2분)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86–88분 (2분)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88–90분 (2분)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90–92분 (2분)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92–96분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96–98분 (2분)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98–100분 (2분)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100–104분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104–108분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108–112분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112–117분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117–120분 (3분)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120–125분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125–135분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135–138분 (3분)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138–142분 (4분)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142–146분 (4분)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146–151분 (5분)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155–160분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160–167분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167–172분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172–175분 (3분)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175–178분 (3분)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178–180분 (2분)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5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약물이 놓인 결합공간과 주변 잔기 두 개를 찾는다.</a:t>
            </a:r>
          </a:p>
          <a:p>
            <a:pPr algn="l">
              <a:lnSpc>
                <a:spcPct val="115000"/>
              </a:lnSpc>
              <a:spcAft>
                <a:spcPts val="1800"/>
              </a:spcAft>
            </a:pPr>
            <a:r>
              <a:rPr sz="2700" b="0" lang="ko-KR">
                <a:solidFill>
                  <a:srgbClr val="183342"/>
                </a:solidFill>
                <a:latin typeface="Arial Unicode MS"/>
                <a:ea typeface="Arial Unicode MS"/>
                <a:cs typeface="Arial Unicode MS"/>
              </a:rPr>
              <a:t>주사슬·곁사슬의 특징을 근거로 가능한 결합 기여를 설명한다.</a:t>
            </a:r>
          </a:p>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wrap="square"/>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0–71분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화학 기초와 단백질 구성 · 구조 파일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71–81분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81–125분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125–135분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135–180분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wrap="square"/>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wrap="square"/>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73151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공유결합은 원자들이 전자를 공유하는 연결이다.</a:t>
            </a:r>
          </a:p>
          <a:p>
            <a:pPr algn="l">
              <a:lnSpc>
                <a:spcPct val="115000"/>
              </a:lnSpc>
              <a:spcAft>
                <a:spcPts val="1800"/>
              </a:spcAft>
            </a:pPr>
            <a:r>
              <a:rPr sz="2500" b="0" lang="ko-KR">
                <a:solidFill>
                  <a:srgbClr val="183342"/>
                </a:solidFill>
                <a:latin typeface="Arial Unicode MS"/>
                <a:ea typeface="Arial Unicode MS"/>
                <a:cs typeface="Arial Unicode MS"/>
              </a:rPr>
              <a:t>구조식의 선은 어떤 원자들이 연결되어 있는지 보여준다.</a:t>
            </a:r>
          </a:p>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물의 전자는 산소 쪽으로 치우칩니다.</a:t>
            </a:r>
          </a:p>
          <a:p>
            <a:pPr algn="l">
              <a:lnSpc>
                <a:spcPct val="115000"/>
              </a:lnSpc>
              <a:spcAft>
                <a:spcPts val="1800"/>
              </a:spcAft>
            </a:pPr>
            <a:r>
              <a:rPr sz="2200" b="0" lang="ko-KR">
                <a:solidFill>
                  <a:srgbClr val="183342"/>
                </a:solidFill>
                <a:latin typeface="Arial Unicode MS"/>
                <a:ea typeface="Arial Unicode MS"/>
                <a:cs typeface="Arial Unicode MS"/>
              </a:rPr>
              <a:t>O는 δ⁻, H는 δ⁺이며 물 전체의 순전하는 0입니다.</a:t>
            </a:r>
          </a:p>
          <a:p>
            <a:pPr algn="l">
              <a:lnSpc>
                <a:spcPct val="115000"/>
              </a:lnSpc>
            </a:pPr>
            <a:r>
              <a:rPr sz="2200" b="0" lang="ko-KR">
                <a:solidFill>
                  <a:srgbClr val="183342"/>
                </a:solidFill>
                <a:latin typeface="Arial Unicode MS"/>
                <a:ea typeface="Arial Unicode MS"/>
                <a:cs typeface="Arial Unicode MS"/>
              </a:rPr>
              <a:t>주변의 물도 단백질·약물과 상호작용합니다.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O나 N에 붙은 H가 적절한 받개 원자와 상호작용할 수 있다.</a:t>
            </a:r>
          </a:p>
          <a:p>
            <a:pPr algn="l">
              <a:lnSpc>
                <a:spcPct val="115000"/>
              </a:lnSpc>
              <a:spcAft>
                <a:spcPts val="1800"/>
              </a:spcAft>
            </a:pPr>
            <a:r>
              <a:rPr sz="2500" b="0" lang="ko-KR">
                <a:solidFill>
                  <a:srgbClr val="183342"/>
                </a:solidFill>
                <a:latin typeface="Arial Unicode MS"/>
                <a:ea typeface="Arial Unicode MS"/>
                <a:cs typeface="Arial Unicode MS"/>
              </a:rPr>
              <a:t>실선은 공유결합, 점선은 수소결합을 나타내는 데 흔히 사용한다.</a:t>
            </a:r>
          </a:p>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물의 순전하가 0이면 물은 비극성이다. O / X</a:t>
            </a:r>
          </a:p>
          <a:p>
            <a:pPr algn="l">
              <a:lnSpc>
                <a:spcPct val="115000"/>
              </a:lnSpc>
              <a:spcAft>
                <a:spcPts val="1800"/>
              </a:spcAft>
            </a:pPr>
            <a:r>
              <a:rPr sz="2800" b="0" lang="ko-KR">
                <a:solidFill>
                  <a:srgbClr val="183342"/>
                </a:solidFill>
                <a:latin typeface="Arial Unicode MS"/>
                <a:ea typeface="Arial Unicode MS"/>
                <a:cs typeface="Arial Unicode MS"/>
              </a:rPr>
              <a:t>② O—H의 실선과 O—H···O의 점선은 같은 종류의 결합이다. O / X</a:t>
            </a:r>
          </a:p>
          <a:p>
            <a:pPr algn="l">
              <a:lnSpc>
                <a:spcPct val="115000"/>
              </a:lnSpc>
            </a:pPr>
            <a:r>
              <a:rPr sz="2800" b="0" lang="ko-KR">
                <a:solidFill>
                  <a:srgbClr val="183342"/>
                </a:solidFill>
                <a:latin typeface="Arial Unicode MS"/>
                <a:ea typeface="Arial Unicode MS"/>
                <a:cs typeface="Arial Unicode MS"/>
              </a:rPr>
              <a:t>③ 한 약물에 극성·비극성 부분이 함께 있을 수 있다. O / X</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① X · 전체 순전하가 0이어도 전자가 한쪽으로 치우칠 수 있다.</a:t>
            </a:r>
          </a:p>
          <a:p>
            <a:pPr algn="l">
              <a:lnSpc>
                <a:spcPct val="115000"/>
              </a:lnSpc>
              <a:spcAft>
                <a:spcPts val="1800"/>
              </a:spcAft>
            </a:pPr>
            <a:r>
              <a:rPr sz="2700" b="0" lang="ko-KR">
                <a:solidFill>
                  <a:srgbClr val="183342"/>
                </a:solidFill>
                <a:latin typeface="Arial Unicode MS"/>
                <a:ea typeface="Arial Unicode MS"/>
                <a:cs typeface="Arial Unicode MS"/>
              </a:rPr>
              <a:t>② X · 실선은 공유결합, 여기의 점선은 수소결합을 나타낸다.</a:t>
            </a:r>
          </a:p>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3063240"/>
          </a:xfrm>
          <a:prstGeom prst="rect">
            <a:avLst/>
          </a:prstGeom>
          <a:noFill/>
        </p:spPr>
        <p:txBody>
          <a:bodyPr wrap="square" lIns="18288" rIns="18288" tIns="18288" bIns="18288">
            <a:spAutoFit/>
          </a:bodyPr>
          <a:lstStyle/>
          <a:p>
            <a:pPr algn="l">
              <a:lnSpc>
                <a:spcPct val="115000"/>
              </a:lnSpc>
              <a:spcAft>
                <a:spcPts val="1800"/>
              </a:spcAft>
            </a:pPr>
            <a:r>
              <a:rPr sz="2500" b="0" lang="ko-KR">
                <a:solidFill>
                  <a:srgbClr val="183342"/>
                </a:solidFill>
                <a:latin typeface="Arial Unicode MS"/>
                <a:ea typeface="Arial Unicode MS"/>
                <a:cs typeface="Arial Unicode MS"/>
              </a:rPr>
              <a:t>대표적인 α-아미노산은 중심 탄소 Cα에 아미노기·카복실기·H·R이 연결된다.</a:t>
            </a:r>
          </a:p>
          <a:p>
            <a:pPr algn="l">
              <a:lnSpc>
                <a:spcPct val="115000"/>
              </a:lnSpc>
              <a:spcAft>
                <a:spcPts val="1800"/>
              </a:spcAft>
            </a:pPr>
            <a:r>
              <a:rPr sz="2500" b="0" lang="ko-KR">
                <a:solidFill>
                  <a:srgbClr val="183342"/>
                </a:solidFill>
                <a:latin typeface="Arial Unicode MS"/>
                <a:ea typeface="Arial Unicode MS"/>
                <a:cs typeface="Arial Unicode MS"/>
              </a:rPr>
              <a:t>R은 곁사슬이며 아미노산마다 달라지는 부분이다.</a:t>
            </a:r>
          </a:p>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26056" b="25360"/>
          <a:stretch>
            <a:fillRect/>
          </a:stretch>
        </p:blipFill>
        <p:spPr>
          <a:xfrm>
            <a:off x="502920" y="1636344"/>
            <a:ext cx="6857999" cy="3905351"/>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주사슬은 여러 잔기를 이어 주는 공통 연결 경로다.</a:t>
            </a:r>
          </a:p>
          <a:p>
            <a:pPr algn="l">
              <a:lnSpc>
                <a:spcPct val="115000"/>
              </a:lnSpc>
              <a:spcAft>
                <a:spcPts val="1800"/>
              </a:spcAft>
            </a:pPr>
            <a:r>
              <a:rPr sz="2200" b="0" lang="ko-KR">
                <a:solidFill>
                  <a:srgbClr val="183342"/>
                </a:solidFill>
                <a:latin typeface="Arial Unicode MS"/>
                <a:ea typeface="Arial Unicode MS"/>
                <a:cs typeface="Arial Unicode MS"/>
              </a:rPr>
              <a:t>곁사슬은 중심 탄소 Cα에서 갈라져 나오는 부분이다.</a:t>
            </a:r>
          </a:p>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한 아미노산의 카복실기 쪽 C와 다음 아미노산의 N이 연결된다.</a:t>
            </a:r>
          </a:p>
          <a:p>
            <a:pPr algn="l">
              <a:lnSpc>
                <a:spcPct val="115000"/>
              </a:lnSpc>
              <a:spcAft>
                <a:spcPts val="1800"/>
              </a:spcAft>
            </a:pPr>
            <a:r>
              <a:rPr sz="2200" b="0" lang="ko-KR">
                <a:solidFill>
                  <a:srgbClr val="183342"/>
                </a:solidFill>
                <a:latin typeface="Arial Unicode MS"/>
                <a:ea typeface="Arial Unicode MS"/>
                <a:cs typeface="Arial Unicode MS"/>
              </a:rPr>
              <a:t>펩타이드결합은 단백질 주사슬을 잇는 공유결합이다.</a:t>
            </a:r>
          </a:p>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아미노산이 사슬에 들어간 한 단위를 잔기(residue)라 한다.</a:t>
            </a:r>
          </a:p>
          <a:p>
            <a:pPr algn="l">
              <a:lnSpc>
                <a:spcPct val="115000"/>
              </a:lnSpc>
              <a:spcAft>
                <a:spcPts val="1800"/>
              </a:spcAft>
            </a:pPr>
            <a:r>
              <a:rPr sz="2200" b="0" lang="ko-KR">
                <a:solidFill>
                  <a:srgbClr val="183342"/>
                </a:solidFill>
                <a:latin typeface="Arial Unicode MS"/>
                <a:ea typeface="Arial Unicode MS"/>
                <a:cs typeface="Arial Unicode MS"/>
              </a:rPr>
              <a:t>연속된 폴리펩타이드에 A·B 같은 사슬(chain) 표지를 붙여 구별한다.</a:t>
            </a:r>
          </a:p>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PDB 텍스트: 문자 위치로 읽는 원자 정보</a:t>
            </a:r>
          </a:p>
        </p:txBody>
      </p:sp>
      <p:sp>
        <p:nvSpPr>
          <p:cNvPr id="3" name="TextBox 2"/>
          <p:cNvSpPr txBox="1"/>
          <p:nvPr/>
        </p:nvSpPr>
        <p:spPr>
          <a:xfrm>
            <a:off x="594360" y="132588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2ITY.pdb의 실제 두 행입니다. 각 필드는 정해진 문자 열을 차지합니다.</a:t>
            </a:r>
          </a:p>
        </p:txBody>
      </p:sp>
      <p:sp>
        <p:nvSpPr>
          <p:cNvPr id="4" name="TextBox 3"/>
          <p:cNvSpPr txBox="1"/>
          <p:nvPr/>
        </p:nvSpPr>
        <p:spPr>
          <a:xfrm>
            <a:off x="594360" y="18288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GLU A 697     -68.144  -7.449 -50.184  1.00 55.89           N</a:t>
            </a:r>
          </a:p>
          <a:p>
            <a:pPr algn="l">
              <a:lnSpc>
                <a:spcPts val="1954"/>
              </a:lnSpc>
            </a:pPr>
            <a:r>
              <a:rPr sz="1700" b="0" lang="ko-KR">
                <a:solidFill>
                  <a:srgbClr val="183342"/>
                </a:solidFill>
                <a:latin typeface="Courier New"/>
                <a:ea typeface="Arial Unicode MS"/>
                <a:cs typeface="Arial Unicode MS"/>
              </a:rPr>
              <a:t>ATOM      2  CA  GLU A 697     -67.658  -6.829 -48.889  1.00 55.39           C</a:t>
            </a:r>
          </a:p>
        </p:txBody>
      </p:sp>
      <p:graphicFrame>
        <p:nvGraphicFramePr>
          <p:cNvPr id="5" name="Table 4"/>
          <p:cNvGraphicFramePr>
            <a:graphicFrameLocks noGrp="1"/>
          </p:cNvGraphicFramePr>
          <p:nvPr/>
        </p:nvGraphicFramePr>
        <p:xfrm>
          <a:off x="594360" y="2606040"/>
          <a:ext cx="10972799" cy="3127248"/>
        </p:xfrm>
        <a:graphic>
          <a:graphicData uri="http://schemas.openxmlformats.org/drawingml/2006/table">
            <a:tbl>
              <a:tblPr firstRow="1" bandRow="1">
                <a:tableStyleId>{5C22544A-7EE6-4342-B048-85BDC9FD1C3A}</a:tableStyleId>
              </a:tblPr>
              <a:tblGrid>
                <a:gridCol w="4389120"/>
                <a:gridCol w="6583679"/>
              </a:tblGrid>
              <a:tr h="521208">
                <a:tc>
                  <a:txBody>
                    <a:bodyPr wrap="square"/>
                    <a:lstStyle/>
                    <a:p>
                      <a:pPr>
                        <a:lnSpc>
                          <a:spcPct val="108000"/>
                        </a:lnSpc>
                      </a:pPr>
                      <a:r>
                        <a:rPr sz="1800" b="1" lang="ko-KR">
                          <a:solidFill>
                            <a:srgbClr val="FFFFFF"/>
                          </a:solidFill>
                          <a:latin typeface="Arial Unicode MS"/>
                          <a:ea typeface="Arial Unicode MS"/>
                          <a:cs typeface="Arial Unicode MS"/>
                        </a:rPr>
                        <a:t>문자 열 / 첫 행의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1–11: ATOM / 1</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좌표 레코드 / 원자 일련번호</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13–26: N / GLU / A / 697</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이름 / 잔기 이름 / 사슬 / 잔기 번호</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31–54: −68.144, −7.449, −50.184</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x, y, z 좌표 (Å). 1 Å = 0.1 nm</a:t>
                      </a:r>
                    </a:p>
                  </a:txBody>
                  <a:tcPr marL="164592" marR="146304" marT="73152" marB="45720" anchor="ctr">
                    <a:solidFill>
                      <a:srgbClr val="F2F6F6"/>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55–66: 1.00 / 55.89</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점유율 (occupancy) / B factor (Å²)</a:t>
                      </a:r>
                    </a:p>
                  </a:txBody>
                  <a:tcPr marL="164592" marR="146304" marT="73152" marB="45720" anchor="ctr">
                    <a:solidFill>
                      <a:srgbClr val="FFFFFF"/>
                    </a:solidFill>
                  </a:tcPr>
                </a:tc>
              </a:tr>
              <a:tr h="521208">
                <a:tc>
                  <a:txBody>
                    <a:bodyPr wrap="square"/>
                    <a:lstStyle/>
                    <a:p>
                      <a:pPr>
                        <a:lnSpc>
                          <a:spcPct val="108000"/>
                        </a:lnSpc>
                      </a:pPr>
                      <a:r>
                        <a:rPr sz="2000" b="0" lang="ko-KR">
                          <a:solidFill>
                            <a:srgbClr val="183342"/>
                          </a:solidFill>
                          <a:latin typeface="Arial Unicode MS"/>
                          <a:ea typeface="Arial Unicode MS"/>
                          <a:cs typeface="Arial Unicode MS"/>
                        </a:rPr>
                        <a:t>77–78: N</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원소 기호. N은 질소</a:t>
                      </a:r>
                    </a:p>
                  </a:txBody>
                  <a:tcPr marL="164592" marR="146304" marT="73152" marB="45720" anchor="ctr">
                    <a:solidFill>
                      <a:srgbClr val="F2F6F6"/>
                    </a:solidFill>
                  </a:tcPr>
                </a:tc>
              </a:tr>
            </a:tbl>
          </a:graphicData>
        </a:graphic>
      </p:graphicFrame>
      <p:sp>
        <p:nvSpPr>
          <p:cNvPr id="6" name="TextBox 5"/>
          <p:cNvSpPr txBox="1"/>
          <p:nvPr/>
        </p:nvSpPr>
        <p:spPr>
          <a:xfrm>
            <a:off x="594360" y="5925312"/>
            <a:ext cx="10972800" cy="36576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둘째 행의 CA는 Cα 원자 이름이고, 마지막 C는 탄소 원소입니다.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PDBFMT,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mmCIF 텍스트: 태그 순서로 읽는 원자 정보</a:t>
            </a:r>
          </a:p>
        </p:txBody>
      </p:sp>
      <p:sp>
        <p:nvSpPr>
          <p:cNvPr id="3" name="TextBox 2"/>
          <p:cNvSpPr txBox="1"/>
          <p:nvPr/>
        </p:nvSpPr>
        <p:spPr>
          <a:xfrm>
            <a:off x="594360" y="1280160"/>
            <a:ext cx="10972800" cy="36576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수업의 .cif는 PDBx/mmCIF입니다. 2ITY.cif에서 필요한 열과 두 행을 선별했습니다.</a:t>
            </a:r>
          </a:p>
        </p:txBody>
      </p:sp>
      <p:sp>
        <p:nvSpPr>
          <p:cNvPr id="4" name="TextBox 3"/>
          <p:cNvSpPr txBox="1"/>
          <p:nvPr/>
        </p:nvSpPr>
        <p:spPr>
          <a:xfrm>
            <a:off x="594360" y="1810512"/>
            <a:ext cx="5212080" cy="306324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data_2ITY</a:t>
            </a:r>
          </a:p>
          <a:p>
            <a:pPr algn="l">
              <a:lnSpc>
                <a:spcPts val="1954"/>
              </a:lnSpc>
            </a:pPr>
            <a:r>
              <a:rPr sz="1700" b="0" lang="ko-KR">
                <a:solidFill>
                  <a:srgbClr val="183342"/>
                </a:solidFill>
                <a:latin typeface="Courier New"/>
                <a:ea typeface="Arial Unicode MS"/>
                <a:cs typeface="Arial Unicode MS"/>
              </a:rPr>
              <a:t>loop_</a:t>
            </a:r>
          </a:p>
          <a:p>
            <a:pPr algn="l">
              <a:lnSpc>
                <a:spcPts val="1954"/>
              </a:lnSpc>
            </a:pPr>
            <a:r>
              <a:rPr sz="1700" b="0" lang="ko-KR">
                <a:solidFill>
                  <a:srgbClr val="183342"/>
                </a:solidFill>
                <a:latin typeface="Courier New"/>
                <a:ea typeface="Arial Unicode MS"/>
                <a:cs typeface="Arial Unicode MS"/>
              </a:rPr>
              <a:t>_atom_site.group_PDB</a:t>
            </a:r>
          </a:p>
          <a:p>
            <a:pPr algn="l">
              <a:lnSpc>
                <a:spcPts val="1954"/>
              </a:lnSpc>
            </a:pPr>
            <a:r>
              <a:rPr sz="1700" b="0" lang="ko-KR">
                <a:solidFill>
                  <a:srgbClr val="183342"/>
                </a:solidFill>
                <a:latin typeface="Courier New"/>
                <a:ea typeface="Arial Unicode MS"/>
                <a:cs typeface="Arial Unicode MS"/>
              </a:rPr>
              <a:t>_atom_site.id</a:t>
            </a:r>
          </a:p>
          <a:p>
            <a:pPr algn="l">
              <a:lnSpc>
                <a:spcPts val="1954"/>
              </a:lnSpc>
            </a:pPr>
            <a:r>
              <a:rPr sz="1700" b="0" lang="ko-KR">
                <a:solidFill>
                  <a:srgbClr val="183342"/>
                </a:solidFill>
                <a:latin typeface="Courier New"/>
                <a:ea typeface="Arial Unicode MS"/>
                <a:cs typeface="Arial Unicode MS"/>
              </a:rPr>
              <a:t>_atom_site.type_symbol</a:t>
            </a:r>
          </a:p>
          <a:p>
            <a:pPr algn="l">
              <a:lnSpc>
                <a:spcPts val="1954"/>
              </a:lnSpc>
            </a:pPr>
            <a:r>
              <a:rPr sz="1700" b="0" lang="ko-KR">
                <a:solidFill>
                  <a:srgbClr val="183342"/>
                </a:solidFill>
                <a:latin typeface="Courier New"/>
                <a:ea typeface="Arial Unicode MS"/>
                <a:cs typeface="Arial Unicode MS"/>
              </a:rPr>
              <a:t>_atom_site.label_atom_id</a:t>
            </a:r>
          </a:p>
          <a:p>
            <a:pPr algn="l">
              <a:lnSpc>
                <a:spcPts val="1954"/>
              </a:lnSpc>
            </a:pPr>
            <a:r>
              <a:rPr sz="1700" b="0" lang="ko-KR">
                <a:solidFill>
                  <a:srgbClr val="183342"/>
                </a:solidFill>
                <a:latin typeface="Courier New"/>
                <a:ea typeface="Arial Unicode MS"/>
                <a:cs typeface="Arial Unicode MS"/>
              </a:rPr>
              <a:t>_atom_site.label_comp_id</a:t>
            </a:r>
          </a:p>
          <a:p>
            <a:pPr algn="l">
              <a:lnSpc>
                <a:spcPts val="1954"/>
              </a:lnSpc>
            </a:pPr>
            <a:r>
              <a:rPr sz="1700" b="0" lang="ko-KR">
                <a:solidFill>
                  <a:srgbClr val="183342"/>
                </a:solidFill>
                <a:latin typeface="Courier New"/>
                <a:ea typeface="Arial Unicode MS"/>
                <a:cs typeface="Arial Unicode MS"/>
              </a:rPr>
              <a:t>_atom_site.auth_asym_id</a:t>
            </a:r>
          </a:p>
          <a:p>
            <a:pPr algn="l">
              <a:lnSpc>
                <a:spcPts val="1954"/>
              </a:lnSpc>
            </a:pPr>
            <a:r>
              <a:rPr sz="1700" b="0" lang="ko-KR">
                <a:solidFill>
                  <a:srgbClr val="183342"/>
                </a:solidFill>
                <a:latin typeface="Courier New"/>
                <a:ea typeface="Arial Unicode MS"/>
                <a:cs typeface="Arial Unicode MS"/>
              </a:rPr>
              <a:t>_atom_site.auth_seq_id</a:t>
            </a:r>
          </a:p>
          <a:p>
            <a:pPr algn="l">
              <a:lnSpc>
                <a:spcPts val="1954"/>
              </a:lnSpc>
            </a:pPr>
            <a:r>
              <a:rPr sz="1700" b="0" lang="ko-KR">
                <a:solidFill>
                  <a:srgbClr val="183342"/>
                </a:solidFill>
                <a:latin typeface="Courier New"/>
                <a:ea typeface="Arial Unicode MS"/>
                <a:cs typeface="Arial Unicode MS"/>
              </a:rPr>
              <a:t>_atom_site.Cartn_x</a:t>
            </a:r>
          </a:p>
          <a:p>
            <a:pPr algn="l">
              <a:lnSpc>
                <a:spcPts val="1954"/>
              </a:lnSpc>
            </a:pPr>
            <a:r>
              <a:rPr sz="1700" b="0" lang="ko-KR">
                <a:solidFill>
                  <a:srgbClr val="183342"/>
                </a:solidFill>
                <a:latin typeface="Courier New"/>
                <a:ea typeface="Arial Unicode MS"/>
                <a:cs typeface="Arial Unicode MS"/>
              </a:rPr>
              <a:t>_atom_site.Cartn_y</a:t>
            </a:r>
          </a:p>
          <a:p>
            <a:pPr algn="l">
              <a:lnSpc>
                <a:spcPts val="1954"/>
              </a:lnSpc>
            </a:pPr>
            <a:r>
              <a:rPr sz="1700" b="0" lang="ko-KR">
                <a:solidFill>
                  <a:srgbClr val="183342"/>
                </a:solidFill>
                <a:latin typeface="Courier New"/>
                <a:ea typeface="Arial Unicode MS"/>
                <a:cs typeface="Arial Unicode MS"/>
              </a:rPr>
              <a:t>_atom_site.Cartn_z</a:t>
            </a:r>
          </a:p>
        </p:txBody>
      </p:sp>
      <p:sp>
        <p:nvSpPr>
          <p:cNvPr id="5" name="TextBox 4"/>
          <p:cNvSpPr txBox="1"/>
          <p:nvPr/>
        </p:nvSpPr>
        <p:spPr>
          <a:xfrm>
            <a:off x="6080760" y="1810512"/>
            <a:ext cx="5486400" cy="3063240"/>
          </a:xfrm>
          <a:prstGeom prst="rect">
            <a:avLst/>
          </a:prstGeom>
          <a:noFill/>
        </p:spPr>
        <p:txBody>
          <a:bodyPr wrap="square" lIns="18288" rIns="18288" tIns="18288" bIns="18288">
            <a:spAutoFit/>
          </a:bodyPr>
          <a:lstStyle/>
          <a:p>
            <a:pPr algn="l">
              <a:lnSpc>
                <a:spcPts val="1954"/>
              </a:lnSpc>
            </a:pPr>
            <a:r>
              <a:rPr sz="1700" b="0" lang="ko-KR">
                <a:solidFill>
                  <a:srgbClr val="183342"/>
                </a:solidFill>
                <a:latin typeface="Arial Unicode MS"/>
                <a:ea typeface="Arial Unicode MS"/>
                <a:cs typeface="Arial Unicode MS"/>
              </a:rPr>
              <a:t>2ITY 데이터 묶음의 시작</a:t>
            </a:r>
          </a:p>
          <a:p>
            <a:pPr algn="l">
              <a:lnSpc>
                <a:spcPts val="1954"/>
              </a:lnSpc>
            </a:pPr>
            <a:r>
              <a:rPr sz="1700" b="0" lang="ko-KR">
                <a:solidFill>
                  <a:srgbClr val="183342"/>
                </a:solidFill>
                <a:latin typeface="Arial Unicode MS"/>
                <a:ea typeface="Arial Unicode MS"/>
                <a:cs typeface="Arial Unicode MS"/>
              </a:rPr>
              <a:t>표의 시작. 아래 태그 순서대로 값을 읽음</a:t>
            </a:r>
          </a:p>
          <a:p>
            <a:pPr algn="l">
              <a:lnSpc>
                <a:spcPts val="1954"/>
              </a:lnSpc>
            </a:pPr>
            <a:r>
              <a:rPr sz="1700" b="0" lang="ko-KR">
                <a:solidFill>
                  <a:srgbClr val="183342"/>
                </a:solidFill>
                <a:latin typeface="Arial Unicode MS"/>
                <a:ea typeface="Arial Unicode MS"/>
                <a:cs typeface="Arial Unicode MS"/>
              </a:rPr>
              <a:t>레코드 종류</a:t>
            </a:r>
          </a:p>
          <a:p>
            <a:pPr algn="l">
              <a:lnSpc>
                <a:spcPts val="1954"/>
              </a:lnSpc>
            </a:pPr>
            <a:r>
              <a:rPr sz="1700" b="0" lang="ko-KR">
                <a:solidFill>
                  <a:srgbClr val="183342"/>
                </a:solidFill>
                <a:latin typeface="Arial Unicode MS"/>
                <a:ea typeface="Arial Unicode MS"/>
                <a:cs typeface="Arial Unicode MS"/>
              </a:rPr>
              <a:t>원자 일련번호</a:t>
            </a:r>
          </a:p>
          <a:p>
            <a:pPr algn="l">
              <a:lnSpc>
                <a:spcPts val="1954"/>
              </a:lnSpc>
            </a:pPr>
            <a:r>
              <a:rPr sz="1700" b="0" lang="ko-KR">
                <a:solidFill>
                  <a:srgbClr val="183342"/>
                </a:solidFill>
                <a:latin typeface="Arial Unicode MS"/>
                <a:ea typeface="Arial Unicode MS"/>
                <a:cs typeface="Arial Unicode MS"/>
              </a:rPr>
              <a:t>원소 기호</a:t>
            </a:r>
          </a:p>
          <a:p>
            <a:pPr algn="l">
              <a:lnSpc>
                <a:spcPts val="1954"/>
              </a:lnSpc>
            </a:pPr>
            <a:r>
              <a:rPr sz="1700" b="0" lang="ko-KR">
                <a:solidFill>
                  <a:srgbClr val="183342"/>
                </a:solidFill>
                <a:latin typeface="Arial Unicode MS"/>
                <a:ea typeface="Arial Unicode MS"/>
                <a:cs typeface="Arial Unicode MS"/>
              </a:rPr>
              <a:t>원자 이름</a:t>
            </a:r>
          </a:p>
          <a:p>
            <a:pPr algn="l">
              <a:lnSpc>
                <a:spcPts val="1954"/>
              </a:lnSpc>
            </a:pPr>
            <a:r>
              <a:rPr sz="1700" b="0" lang="ko-KR">
                <a:solidFill>
                  <a:srgbClr val="183342"/>
                </a:solidFill>
                <a:latin typeface="Arial Unicode MS"/>
                <a:ea typeface="Arial Unicode MS"/>
                <a:cs typeface="Arial Unicode MS"/>
              </a:rPr>
              <a:t>잔기 이름</a:t>
            </a:r>
          </a:p>
          <a:p>
            <a:pPr algn="l">
              <a:lnSpc>
                <a:spcPts val="1954"/>
              </a:lnSpc>
            </a:pPr>
            <a:r>
              <a:rPr sz="1700" b="0" lang="ko-KR">
                <a:solidFill>
                  <a:srgbClr val="183342"/>
                </a:solidFill>
                <a:latin typeface="Arial Unicode MS"/>
                <a:ea typeface="Arial Unicode MS"/>
                <a:cs typeface="Arial Unicode MS"/>
              </a:rPr>
              <a:t>저자 사슬 표지</a:t>
            </a:r>
          </a:p>
          <a:p>
            <a:pPr algn="l">
              <a:lnSpc>
                <a:spcPts val="1954"/>
              </a:lnSpc>
            </a:pPr>
            <a:r>
              <a:rPr sz="1700" b="0" lang="ko-KR">
                <a:solidFill>
                  <a:srgbClr val="183342"/>
                </a:solidFill>
                <a:latin typeface="Arial Unicode MS"/>
                <a:ea typeface="Arial Unicode MS"/>
                <a:cs typeface="Arial Unicode MS"/>
              </a:rPr>
              <a:t>저자 잔기 번호</a:t>
            </a:r>
          </a:p>
          <a:p>
            <a:pPr algn="l">
              <a:lnSpc>
                <a:spcPts val="1954"/>
              </a:lnSpc>
            </a:pPr>
            <a:r>
              <a:rPr sz="1700" b="0" lang="ko-KR">
                <a:solidFill>
                  <a:srgbClr val="183342"/>
                </a:solidFill>
                <a:latin typeface="Arial Unicode MS"/>
                <a:ea typeface="Arial Unicode MS"/>
                <a:cs typeface="Arial Unicode MS"/>
              </a:rPr>
              <a:t>x 좌표 (Å)</a:t>
            </a:r>
          </a:p>
          <a:p>
            <a:pPr algn="l">
              <a:lnSpc>
                <a:spcPts val="1954"/>
              </a:lnSpc>
            </a:pPr>
            <a:r>
              <a:rPr sz="1700" b="0" lang="ko-KR">
                <a:solidFill>
                  <a:srgbClr val="183342"/>
                </a:solidFill>
                <a:latin typeface="Arial Unicode MS"/>
                <a:ea typeface="Arial Unicode MS"/>
                <a:cs typeface="Arial Unicode MS"/>
              </a:rPr>
              <a:t>y 좌표 (Å)</a:t>
            </a:r>
          </a:p>
          <a:p>
            <a:pPr algn="l">
              <a:lnSpc>
                <a:spcPts val="1954"/>
              </a:lnSpc>
            </a:pPr>
            <a:r>
              <a:rPr sz="1700" b="0" lang="ko-KR">
                <a:solidFill>
                  <a:srgbClr val="183342"/>
                </a:solidFill>
                <a:latin typeface="Arial Unicode MS"/>
                <a:ea typeface="Arial Unicode MS"/>
                <a:cs typeface="Arial Unicode MS"/>
              </a:rPr>
              <a:t>z 좌표 (Å)</a:t>
            </a:r>
          </a:p>
        </p:txBody>
      </p:sp>
      <p:sp>
        <p:nvSpPr>
          <p:cNvPr id="6" name="TextBox 5"/>
          <p:cNvSpPr txBox="1"/>
          <p:nvPr/>
        </p:nvSpPr>
        <p:spPr>
          <a:xfrm>
            <a:off x="594360" y="5029200"/>
            <a:ext cx="10972800" cy="594360"/>
          </a:xfrm>
          <a:prstGeom prst="rect">
            <a:avLst/>
          </a:prstGeom>
          <a:noFill/>
        </p:spPr>
        <p:txBody>
          <a:bodyPr wrap="none" lIns="18288" rIns="18288" tIns="18288" bIns="18288">
            <a:spAutoFit/>
          </a:bodyPr>
          <a:lstStyle/>
          <a:p>
            <a:pPr algn="l">
              <a:lnSpc>
                <a:spcPts val="1954"/>
              </a:lnSpc>
            </a:pPr>
            <a:r>
              <a:rPr sz="1700" b="0" lang="ko-KR">
                <a:solidFill>
                  <a:srgbClr val="183342"/>
                </a:solidFill>
                <a:latin typeface="Courier New"/>
                <a:ea typeface="Arial Unicode MS"/>
                <a:cs typeface="Arial Unicode MS"/>
              </a:rPr>
              <a:t>ATOM 1 N N  GLU A 697 -68.144 -7.449 -50.184</a:t>
            </a:r>
          </a:p>
          <a:p>
            <a:pPr algn="l">
              <a:lnSpc>
                <a:spcPts val="1954"/>
              </a:lnSpc>
            </a:pPr>
            <a:r>
              <a:rPr sz="1700" b="0" lang="ko-KR">
                <a:solidFill>
                  <a:srgbClr val="183342"/>
                </a:solidFill>
                <a:latin typeface="Courier New"/>
                <a:ea typeface="Arial Unicode MS"/>
                <a:cs typeface="Arial Unicode MS"/>
              </a:rPr>
              <a:t>ATOM 2 C CA GLU A 697 -67.658 -6.829 -48.889</a:t>
            </a:r>
          </a:p>
        </p:txBody>
      </p:sp>
      <p:sp>
        <p:nvSpPr>
          <p:cNvPr id="7" name="TextBox 6"/>
          <p:cNvSpPr txBox="1"/>
          <p:nvPr/>
        </p:nvSpPr>
        <p:spPr>
          <a:xfrm>
            <a:off x="594360" y="5897880"/>
            <a:ext cx="10972800" cy="411480"/>
          </a:xfrm>
          <a:prstGeom prst="rect">
            <a:avLst/>
          </a:prstGeom>
          <a:noFill/>
        </p:spPr>
        <p:txBody>
          <a:bodyPr wrap="square" lIns="18288" rIns="18288" tIns="18288" bIns="18288">
            <a:spAutoFit/>
          </a:bodyPr>
          <a:lstStyle/>
          <a:p>
            <a:pPr algn="l">
              <a:lnSpc>
                <a:spcPct val="115000"/>
              </a:lnSpc>
            </a:pPr>
            <a:r>
              <a:rPr sz="2000" b="0" lang="ko-KR">
                <a:solidFill>
                  <a:srgbClr val="183342"/>
                </a:solidFill>
                <a:latin typeface="Arial Unicode MS"/>
                <a:ea typeface="Arial Unicode MS"/>
                <a:cs typeface="Arial Unicode MS"/>
              </a:rPr>
              <a:t>각 행의 10개 값은 위의 10개 태그와 같은 순서로 대응합니다.</a:t>
            </a:r>
          </a:p>
        </p:txBody>
      </p:sp>
      <p:sp>
        <p:nvSpPr>
          <p:cNvPr id="8" name="TextBox 7"/>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CIFSYNTAX, CIF2ITY  ·  상세 출처는 발표자 노트와 마지막 참고 자료에 수록</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좌표 외의 값과 잔기 번호 읽기</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wrap="square"/>
                    <a:lstStyle/>
                    <a:p>
                      <a:pPr>
                        <a:lnSpc>
                          <a:spcPct val="108000"/>
                        </a:lnSpc>
                      </a:pPr>
                      <a:r>
                        <a:rPr sz="1800" b="1" lang="ko-KR">
                          <a:solidFill>
                            <a:srgbClr val="FFFFFF"/>
                          </a:solidFill>
                          <a:latin typeface="Arial Unicode MS"/>
                          <a:ea typeface="Arial Unicode MS"/>
                          <a:cs typeface="Arial Unicode MS"/>
                        </a:rPr>
                        <a:t>필드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2ITY 첫 원자의 값</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occupancy</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1.00</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원자 위치의 점유율</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B factor</a:t>
                      </a:r>
                    </a:p>
                    <a:p>
                      <a:pPr>
                        <a:lnSpc>
                          <a:spcPct val="108000"/>
                        </a:lnSpc>
                      </a:pPr>
                      <a:r>
                        <a:rPr sz="2000" b="0" lang="ko-KR">
                          <a:solidFill>
                            <a:srgbClr val="183342"/>
                          </a:solidFill>
                          <a:latin typeface="Arial Unicode MS"/>
                          <a:ea typeface="Arial Unicode MS"/>
                          <a:cs typeface="Arial Unicode MS"/>
                        </a:rPr>
                        <a:t>B_iso_or_equiv</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55.89 Å²</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원자 위치의 퍼짐</a:t>
                      </a:r>
                    </a:p>
                    <a:p>
                      <a:pPr>
                        <a:lnSpc>
                          <a:spcPct val="108000"/>
                        </a:lnSpc>
                      </a:pPr>
                      <a:r>
                        <a:rPr sz="2000" b="0" lang="ko-KR">
                          <a:solidFill>
                            <a:srgbClr val="183342"/>
                          </a:solidFill>
                          <a:latin typeface="Arial Unicode MS"/>
                          <a:ea typeface="Arial Unicode MS"/>
                          <a:cs typeface="Arial Unicode MS"/>
                        </a:rPr>
                        <a:t>(이 결정구조의 모델 값)</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label_seq_id / auth_seq_id</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2 / 697</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등록 서열 위치 /</a:t>
                      </a:r>
                    </a:p>
                    <a:p>
                      <a:pPr>
                        <a:lnSpc>
                          <a:spcPct val="108000"/>
                        </a:lnSpc>
                      </a:pPr>
                      <a:r>
                        <a:rPr sz="2000" b="0" lang="ko-KR">
                          <a:solidFill>
                            <a:srgbClr val="183342"/>
                          </a:solidFill>
                          <a:latin typeface="Arial Unicode MS"/>
                          <a:ea typeface="Arial Unicode MS"/>
                          <a:cs typeface="Arial Unicode MS"/>
                        </a:rPr>
                        <a:t>저자 잔기 번호</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label_alt_id /</a:t>
                      </a:r>
                    </a:p>
                    <a:p>
                      <a:pPr>
                        <a:lnSpc>
                          <a:spcPct val="108000"/>
                        </a:lnSpc>
                      </a:pPr>
                      <a:r>
                        <a:rPr sz="2000" b="0" lang="ko-KR">
                          <a:solidFill>
                            <a:srgbClr val="183342"/>
                          </a:solidFill>
                          <a:latin typeface="Arial Unicode MS"/>
                          <a:ea typeface="Arial Unicode MS"/>
                          <a:cs typeface="Arial Unicode MS"/>
                        </a:rPr>
                        <a:t>pdbx_PDB_ins_code</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 / ?</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해당 없음·생략 / 값 미상</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점유율과 B factor로 결합 세기를 판단하지 않습니다. 이 수업의 잔기 번호는 auth 기준입니다.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COORDREAD, CIFSYNTAX, CIF2ITY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연결된 사슬이 접히면서 잔기들이 3차원으로 배치된다.</a:t>
            </a:r>
          </a:p>
          <a:p>
            <a:pPr algn="l">
              <a:lnSpc>
                <a:spcPct val="115000"/>
              </a:lnSpc>
              <a:spcAft>
                <a:spcPts val="1800"/>
              </a:spcAft>
            </a:pPr>
            <a:r>
              <a:rPr sz="2200" b="0" lang="ko-KR">
                <a:solidFill>
                  <a:srgbClr val="183342"/>
                </a:solidFill>
                <a:latin typeface="Arial Unicode MS"/>
                <a:ea typeface="Arial Unicode MS"/>
                <a:cs typeface="Arial Unicode MS"/>
              </a:rPr>
              <a:t>이 배치가 약물이나 다른 분자가 만나는 공간을 만든다.</a:t>
            </a:r>
          </a:p>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α-나선과 β-시트는 주사슬이 만드는 대표적인 국소 구조다.</a:t>
            </a:r>
          </a:p>
          <a:p>
            <a:pPr algn="l">
              <a:lnSpc>
                <a:spcPct val="115000"/>
              </a:lnSpc>
              <a:spcAft>
                <a:spcPts val="1800"/>
              </a:spcAft>
            </a:pPr>
            <a:r>
              <a:rPr sz="2200" b="0" lang="ko-KR">
                <a:solidFill>
                  <a:srgbClr val="183342"/>
                </a:solidFill>
                <a:latin typeface="Arial Unicode MS"/>
                <a:ea typeface="Arial Unicode MS"/>
                <a:cs typeface="Arial Unicode MS"/>
              </a:rPr>
              <a:t>반복되는 주사슬의 수소결합이 이 구조들을 안정화하는 데 기여한다.</a:t>
            </a:r>
          </a:p>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5" name="TextBox 4"/>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6" name="TextBox 5"/>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a:p>
            <a:pPr algn="l">
              <a:lnSpc>
                <a:spcPct val="115000"/>
              </a:lnSpc>
              <a:spcAft>
                <a:spcPts val="1800"/>
              </a:spcAft>
            </a:pPr>
            <a:r>
              <a:rPr sz="2200" b="0" lang="ko-KR">
                <a:solidFill>
                  <a:srgbClr val="183342"/>
                </a:solidFill>
                <a:latin typeface="Arial Unicode MS"/>
                <a:ea typeface="Arial Unicode MS"/>
                <a:cs typeface="Arial Unicode MS"/>
              </a:rPr>
              <a:t>Leu718과 Met793은 같은 gefitinib 주변에서 살펴볼 잔기다.</a:t>
            </a:r>
          </a:p>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같은 분자를 서로 다른 그림으로 읽기</a:t>
            </a:r>
          </a:p>
          <a:p>
            <a:pPr algn="l">
              <a:lnSpc>
                <a:spcPct val="115000"/>
              </a:lnSpc>
            </a:pPr>
            <a:r>
              <a:rPr sz="2400" b="0" lang="ko-KR">
                <a:solidFill>
                  <a:srgbClr val="FFFFFF"/>
                </a:solidFill>
                <a:latin typeface="Arial Unicode MS"/>
                <a:ea typeface="Arial Unicode MS"/>
                <a:cs typeface="Arial Unicode MS"/>
              </a:rPr>
              <a:t>수업 시작 후 81분에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나선과 시트, 사슬의 전체 경로를 봅니다.</a:t>
            </a:r>
          </a:p>
          <a:p>
            <a:pPr algn="l">
              <a:lnSpc>
                <a:spcPct val="115000"/>
              </a:lnSpc>
              <a:spcAft>
                <a:spcPts val="1800"/>
              </a:spcAft>
            </a:pPr>
            <a:r>
              <a:rPr sz="2200" b="0" lang="ko-KR">
                <a:solidFill>
                  <a:srgbClr val="183342"/>
                </a:solidFill>
                <a:latin typeface="Arial Unicode MS"/>
                <a:ea typeface="Arial Unicode MS"/>
                <a:cs typeface="Arial Unicode MS"/>
              </a:rPr>
              <a:t>곁사슬 원자는 대부분 생략합니다.</a:t>
            </a:r>
          </a:p>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막대는 원자를 잇는 공유결합을 나타냅니다.</a:t>
            </a:r>
          </a:p>
          <a:p>
            <a:pPr algn="l">
              <a:lnSpc>
                <a:spcPct val="115000"/>
              </a:lnSpc>
              <a:spcAft>
                <a:spcPts val="1800"/>
              </a:spcAft>
            </a:pPr>
            <a:r>
              <a:rPr sz="2200" b="0" lang="ko-KR">
                <a:solidFill>
                  <a:srgbClr val="183342"/>
                </a:solidFill>
                <a:latin typeface="Arial Unicode MS"/>
                <a:ea typeface="Arial Unicode MS"/>
                <a:cs typeface="Arial Unicode MS"/>
              </a:rPr>
              <a:t>탄소 C는 주황, 질소 N은 파랑, 산소 O는 빨강입니다.</a:t>
            </a:r>
          </a:p>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단백질의 경계와 움푹한 공간을 봅니다.</a:t>
            </a:r>
          </a:p>
          <a:p>
            <a:pPr algn="l">
              <a:lnSpc>
                <a:spcPct val="115000"/>
              </a:lnSpc>
              <a:spcAft>
                <a:spcPts val="1800"/>
              </a:spcAft>
            </a:pPr>
            <a:r>
              <a:rPr sz="2200" b="0" lang="ko-KR">
                <a:solidFill>
                  <a:srgbClr val="183342"/>
                </a:solidFill>
                <a:latin typeface="Arial Unicode MS"/>
                <a:ea typeface="Arial Unicode MS"/>
                <a:cs typeface="Arial Unicode MS"/>
              </a:rPr>
              <a:t>약물은 단백질 표면의 틈에 놓여 있습니다.</a:t>
            </a:r>
          </a:p>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사슬이 어떻게 접혔는지 보려면 어떤 표현이 유용할까요?</a:t>
            </a:r>
          </a:p>
          <a:p>
            <a:pPr algn="l">
              <a:lnSpc>
                <a:spcPct val="115000"/>
              </a:lnSpc>
              <a:spcAft>
                <a:spcPts val="1800"/>
              </a:spcAft>
            </a:pPr>
            <a:r>
              <a:rPr sz="2800" b="0" lang="ko-KR">
                <a:solidFill>
                  <a:srgbClr val="183342"/>
                </a:solidFill>
                <a:latin typeface="Arial Unicode MS"/>
                <a:ea typeface="Arial Unicode MS"/>
                <a:cs typeface="Arial Unicode MS"/>
              </a:rPr>
              <a:t>약물의 질소 원자를 찾으려면 어떤 표현이 유용할까요?</a:t>
            </a:r>
          </a:p>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실험 자료를 바탕으로 만든 원자 좌표 모델입니다.</a:t>
            </a:r>
          </a:p>
          <a:p>
            <a:pPr algn="l">
              <a:lnSpc>
                <a:spcPct val="115000"/>
              </a:lnSpc>
              <a:spcAft>
                <a:spcPts val="1800"/>
              </a:spcAft>
            </a:pPr>
            <a:r>
              <a:rPr sz="2700" b="0" lang="ko-KR">
                <a:solidFill>
                  <a:srgbClr val="183342"/>
                </a:solidFill>
                <a:latin typeface="Arial Unicode MS"/>
                <a:ea typeface="Arial Unicode MS"/>
                <a:cs typeface="Arial Unicode MS"/>
              </a:rPr>
              <a:t>수소나 유연한 구간의 좌표가 빠질 수 있습니다.</a:t>
            </a:r>
          </a:p>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1051559"/>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청록색은 반투명 단백질 표면입니다.</a:t>
            </a:r>
          </a:p>
          <a:p>
            <a:pPr algn="l">
              <a:lnSpc>
                <a:spcPct val="115000"/>
              </a:lnSpc>
              <a:spcAft>
                <a:spcPts val="1800"/>
              </a:spcAft>
            </a:pPr>
            <a:r>
              <a:rPr sz="2200" b="0" lang="ko-KR">
                <a:solidFill>
                  <a:srgbClr val="183342"/>
                </a:solidFill>
                <a:latin typeface="Arial Unicode MS"/>
                <a:ea typeface="Arial Unicode MS"/>
                <a:cs typeface="Arial Unicode MS"/>
              </a:rPr>
              <a:t>주황색 약물 주변에 단백질 공간이 형성됩니다.</a:t>
            </a:r>
          </a:p>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Leu718의 탄소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비극성 부분의 접촉이 결합에 기여할 수 있습니다.</a:t>
            </a:r>
          </a:p>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보라색 점선: Met793 주사슬 N과 약물 고리 N 사이</a:t>
            </a:r>
          </a:p>
          <a:p>
            <a:pPr algn="l">
              <a:lnSpc>
                <a:spcPct val="115000"/>
              </a:lnSpc>
              <a:spcAft>
                <a:spcPts val="1800"/>
              </a:spcAft>
            </a:pPr>
            <a:r>
              <a:rPr sz="2200" b="0" lang="ko-KR">
                <a:solidFill>
                  <a:srgbClr val="183342"/>
                </a:solidFill>
                <a:latin typeface="Arial Unicode MS"/>
                <a:ea typeface="Arial Unicode MS"/>
                <a:cs typeface="Arial Unicode MS"/>
              </a:rPr>
              <a:t>원자 좌표로 계산한 N···N 거리 약 2.7 Å</a:t>
            </a:r>
          </a:p>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결합하기 전에도 약물과 단백질은 물과 상호작용합니다.</a:t>
            </a:r>
          </a:p>
          <a:p>
            <a:pPr algn="l">
              <a:lnSpc>
                <a:spcPct val="115000"/>
              </a:lnSpc>
              <a:spcAft>
                <a:spcPts val="1800"/>
              </a:spcAft>
            </a:pPr>
            <a:r>
              <a:rPr sz="2700" b="0" lang="ko-KR">
                <a:solidFill>
                  <a:srgbClr val="183342"/>
                </a:solidFill>
                <a:latin typeface="Arial Unicode MS"/>
                <a:ea typeface="Arial Unicode MS"/>
                <a:cs typeface="Arial Unicode MS"/>
              </a:rPr>
              <a:t>새 접촉의 이득과 기존 접촉의 변화를 함께 고려합니다.</a:t>
            </a:r>
          </a:p>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① Leu718의 곁사슬 탄소가 약물 가까이에 있다.</a:t>
            </a:r>
          </a:p>
          <a:p>
            <a:pPr algn="l">
              <a:lnSpc>
                <a:spcPct val="115000"/>
              </a:lnSpc>
              <a:spcAft>
                <a:spcPts val="1800"/>
              </a:spcAft>
            </a:pPr>
            <a:r>
              <a:rPr sz="2800" b="0" lang="ko-KR">
                <a:solidFill>
                  <a:srgbClr val="183342"/>
                </a:solidFill>
                <a:latin typeface="Arial Unicode MS"/>
                <a:ea typeface="Arial Unicode MS"/>
                <a:cs typeface="Arial Unicode MS"/>
              </a:rPr>
              <a:t>② Met793 주사슬이 수소결합에 기여할 수 있다.</a:t>
            </a:r>
          </a:p>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1554480"/>
          </a:xfrm>
          <a:prstGeom prst="rect">
            <a:avLst/>
          </a:prstGeom>
          <a:noFill/>
        </p:spPr>
        <p:txBody>
          <a:bodyPr wrap="square" lIns="18288" rIns="18288" tIns="18288" bIns="18288">
            <a:spAutoFit/>
          </a:bodyPr>
          <a:lstStyle/>
          <a:p>
            <a:pPr algn="l">
              <a:lnSpc>
                <a:spcPct val="115000"/>
              </a:lnSpc>
              <a:spcAft>
                <a:spcPts val="1800"/>
              </a:spcAft>
            </a:pPr>
            <a:r>
              <a:rPr sz="2400" b="0" lang="ko-KR">
                <a:solidFill>
                  <a:srgbClr val="FFFFFF"/>
                </a:solidFill>
                <a:latin typeface="Arial Unicode MS"/>
                <a:ea typeface="Arial Unicode MS"/>
                <a:cs typeface="Arial Unicode MS"/>
              </a:rPr>
              <a:t>다음: 학생의 설명으로 구조 탐색하기</a:t>
            </a:r>
          </a:p>
          <a:p>
            <a:pPr algn="l">
              <a:lnSpc>
                <a:spcPct val="115000"/>
              </a:lnSpc>
            </a:pPr>
            <a:r>
              <a:rPr sz="2400" b="0" lang="ko-KR">
                <a:solidFill>
                  <a:srgbClr val="FFFFFF"/>
                </a:solidFill>
                <a:latin typeface="Arial Unicode MS"/>
                <a:ea typeface="Arial Unicode MS"/>
                <a:cs typeface="Arial Unicode MS"/>
              </a:rPr>
              <a:t>수업 시작 후 135분에 다시 시작합니다.</a:t>
            </a:r>
          </a:p>
        </p:txBody>
      </p:sp>
      <p:sp>
        <p:nvSpPr>
          <p:cNvPr id="4" name="TextBox 3"/>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단백질과 약물을 각각 가리켜 보세요.</a:t>
            </a:r>
          </a:p>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약물이 놓인 포켓을 손가락으로 짚어 보세요.</a:t>
            </a:r>
          </a:p>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약물 주변 잔기를 sticks로 표시했습니다.</a:t>
            </a:r>
          </a:p>
          <a:p>
            <a:pPr algn="l">
              <a:lnSpc>
                <a:spcPct val="115000"/>
              </a:lnSpc>
              <a:spcAft>
                <a:spcPts val="1800"/>
              </a:spcAft>
            </a:pPr>
            <a:r>
              <a:rPr sz="2200" b="0" lang="ko-KR">
                <a:solidFill>
                  <a:srgbClr val="183342"/>
                </a:solidFill>
                <a:latin typeface="Arial Unicode MS"/>
                <a:ea typeface="Arial Unicode MS"/>
                <a:cs typeface="Arial Unicode MS"/>
              </a:rPr>
              <a:t>가까운 잔기는 서열에서 연속하지 않을 수 있습니다.</a:t>
            </a:r>
          </a:p>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Leu718: 어느 부분의 어떤 특징을 보고 있나요?</a:t>
            </a:r>
          </a:p>
          <a:p>
            <a:pPr algn="l">
              <a:lnSpc>
                <a:spcPct val="115000"/>
              </a:lnSpc>
              <a:spcAft>
                <a:spcPts val="1800"/>
              </a:spcAft>
            </a:pPr>
            <a:r>
              <a:rPr sz="2200" b="0" lang="ko-KR">
                <a:solidFill>
                  <a:srgbClr val="183342"/>
                </a:solidFill>
                <a:latin typeface="Arial Unicode MS"/>
                <a:ea typeface="Arial Unicode MS"/>
                <a:cs typeface="Arial Unicode MS"/>
              </a:rPr>
              <a:t>Met793: 곁사슬과 주사슬 중 어디가 약물과 마주하나요?</a:t>
            </a:r>
          </a:p>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약물은 EGFR kinase의 포켓에 놓여 있습니다.</a:t>
            </a:r>
          </a:p>
          <a:p>
            <a:pPr algn="l">
              <a:lnSpc>
                <a:spcPct val="115000"/>
              </a:lnSpc>
              <a:spcAft>
                <a:spcPts val="1800"/>
              </a:spcAft>
            </a:pPr>
            <a:r>
              <a:rPr sz="2700" b="0" lang="ko-KR">
                <a:solidFill>
                  <a:srgbClr val="183342"/>
                </a:solidFill>
                <a:latin typeface="Arial Unicode MS"/>
                <a:ea typeface="Arial Unicode MS"/>
                <a:cs typeface="Arial Unicode MS"/>
              </a:rPr>
              <a:t>Leu718의 비극성 곁사슬과 Met793의 주사슬 접촉이 결합에 기여할 수 있습니다.</a:t>
            </a:r>
          </a:p>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9333" t="28720" r="7167" b="23520"/>
          <a:stretch>
            <a:fillRect/>
          </a:stretch>
        </p:blipFill>
        <p:spPr>
          <a:xfrm>
            <a:off x="6240780" y="2064905"/>
            <a:ext cx="5372100" cy="213382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777240"/>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3840480"/>
          </a:xfrm>
          <a:prstGeom prst="rect">
            <a:avLst/>
          </a:prstGeom>
          <a:noFill/>
        </p:spPr>
        <p:txBody>
          <a:bodyPr wrap="square" lIns="18288" rIns="18288" tIns="18288" bIns="18288">
            <a:spAutoFit/>
          </a:bodyPr>
          <a:lstStyle/>
          <a:p>
            <a:pPr algn="l">
              <a:lnSpc>
                <a:spcPct val="115000"/>
              </a:lnSpc>
              <a:spcAft>
                <a:spcPts val="1800"/>
              </a:spcAft>
            </a:pPr>
            <a:r>
              <a:rPr sz="2800" b="0" lang="ko-KR">
                <a:solidFill>
                  <a:srgbClr val="183342"/>
                </a:solidFill>
                <a:latin typeface="Arial Unicode MS"/>
                <a:ea typeface="Arial Unicode MS"/>
                <a:cs typeface="Arial Unicode MS"/>
              </a:rPr>
              <a:t>포켓을 표시하고, 주변 잔기 두 개를 그림에 연결하세요.</a:t>
            </a:r>
          </a:p>
          <a:p>
            <a:pPr algn="l">
              <a:lnSpc>
                <a:spcPct val="115000"/>
              </a:lnSpc>
              <a:spcAft>
                <a:spcPts val="1800"/>
              </a:spcAft>
            </a:pPr>
            <a:r>
              <a:rPr sz="2800" b="0" lang="ko-KR">
                <a:solidFill>
                  <a:srgbClr val="183342"/>
                </a:solidFill>
                <a:latin typeface="Arial Unicode MS"/>
                <a:ea typeface="Arial Unicode MS"/>
                <a:cs typeface="Arial Unicode MS"/>
              </a:rPr>
              <a:t>주어진 범례를 사용해 각 잔기의 가능한 기여를 한 문장씩 쓰세요.</a:t>
            </a:r>
          </a:p>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9333" t="28720" r="7167" b="23520"/>
          <a:stretch>
            <a:fillRect/>
          </a:stretch>
        </p:blipFill>
        <p:spPr>
          <a:xfrm>
            <a:off x="502920" y="2227002"/>
            <a:ext cx="6858000" cy="2724035"/>
          </a:xfrm>
          <a:prstGeom prst="rect">
            <a:avLst/>
          </a:prstGeom>
        </p:spPr>
      </p:pic>
      <p:sp>
        <p:nvSpPr>
          <p:cNvPr id="4" name="TextBox 3"/>
          <p:cNvSpPr txBox="1"/>
          <p:nvPr/>
        </p:nvSpPr>
        <p:spPr>
          <a:xfrm>
            <a:off x="7635240" y="1645920"/>
            <a:ext cx="3886200" cy="4251960"/>
          </a:xfrm>
          <a:prstGeom prst="rect">
            <a:avLst/>
          </a:prstGeom>
          <a:noFill/>
        </p:spPr>
        <p:txBody>
          <a:bodyPr wrap="square" lIns="18288" rIns="18288" tIns="18288" bIns="18288">
            <a:spAutoFit/>
          </a:bodyPr>
          <a:lstStyle/>
          <a:p>
            <a:pPr algn="l">
              <a:lnSpc>
                <a:spcPct val="115000"/>
              </a:lnSpc>
              <a:spcAft>
                <a:spcPts val="1800"/>
              </a:spcAft>
            </a:pPr>
            <a:r>
              <a:rPr sz="2200" b="0" lang="ko-KR">
                <a:solidFill>
                  <a:srgbClr val="183342"/>
                </a:solidFill>
                <a:latin typeface="Arial Unicode MS"/>
                <a:ea typeface="Arial Unicode MS"/>
                <a:cs typeface="Arial Unicode MS"/>
              </a:rPr>
              <a:t>Leu764의 비극성 곁사슬이 약물 탄소 근처에 있습니다.</a:t>
            </a:r>
          </a:p>
          <a:p>
            <a:pPr algn="l">
              <a:lnSpc>
                <a:spcPct val="115000"/>
              </a:lnSpc>
              <a:spcAft>
                <a:spcPts val="1800"/>
              </a:spcAft>
            </a:pPr>
            <a:r>
              <a:rPr sz="2200" b="0" lang="ko-KR">
                <a:solidFill>
                  <a:srgbClr val="183342"/>
                </a:solidFill>
                <a:latin typeface="Arial Unicode MS"/>
                <a:ea typeface="Arial Unicode MS"/>
                <a:cs typeface="Arial Unicode MS"/>
              </a:rPr>
              <a:t>Met769 주사슬과 약물 고리 N 사이에 수소결합이 가능해 보입니다.</a:t>
            </a:r>
          </a:p>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5" name="TextBox 4"/>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wrap="square"/>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wrap="square"/>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MD (마지막 수업)</a:t>
                      </a:r>
                    </a:p>
                  </a:txBody>
                  <a:tcPr marL="164592" marR="146304" marT="73152" marB="45720" anchor="ctr">
                    <a:solidFill>
                      <a:srgbClr val="FFFFFF"/>
                    </a:solidFill>
                  </a:tcPr>
                </a:tc>
                <a:tc>
                  <a:txBody>
                    <a:bodyPr wrap="square"/>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wrap="square"/>
                    <a:lstStyle/>
                    <a:p>
                      <a:pPr>
                        <a:lnSpc>
                          <a:spcPct val="108000"/>
                        </a:lnSpc>
                      </a:pPr>
                      <a:r>
                        <a:rPr sz="2000" b="0" lang="ko-KR">
                          <a:solidFill>
                            <a:srgbClr val="183342"/>
                          </a:solidFill>
                          <a:latin typeface="Arial Unicode MS"/>
                          <a:ea typeface="Arial Unicode MS"/>
                          <a:cs typeface="Arial Unicode MS"/>
                        </a:rPr>
                        <a:t>Docking (마지막 수업)</a:t>
                      </a:r>
                    </a:p>
                  </a:txBody>
                  <a:tcPr marL="164592" marR="146304" marT="73152" marB="45720" anchor="ctr">
                    <a:solidFill>
                      <a:srgbClr val="F2F6F6"/>
                    </a:solidFill>
                  </a:tcPr>
                </a:tc>
                <a:tc>
                  <a:txBody>
                    <a:bodyPr wrap="square"/>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1746503"/>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MD와 docking은 합쳐 3시간이며, 서로 다른 질문을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343400"/>
          </a:xfrm>
          <a:prstGeom prst="rect">
            <a:avLst/>
          </a:prstGeom>
          <a:noFill/>
        </p:spPr>
        <p:txBody>
          <a:bodyPr wrap="square" lIns="18288" rIns="18288" tIns="18288" bIns="18288">
            <a:spAutoFit/>
          </a:bodyPr>
          <a:lstStyle/>
          <a:p>
            <a:pPr algn="l">
              <a:lnSpc>
                <a:spcPct val="115000"/>
              </a:lnSpc>
              <a:spcAft>
                <a:spcPts val="1800"/>
              </a:spcAft>
            </a:pPr>
            <a:r>
              <a:rPr sz="2700" b="0" lang="ko-KR">
                <a:solidFill>
                  <a:srgbClr val="183342"/>
                </a:solidFill>
                <a:latin typeface="Arial Unicode MS"/>
                <a:ea typeface="Arial Unicode MS"/>
                <a:cs typeface="Arial Unicode MS"/>
              </a:rPr>
              <a:t>단백질, 약물, 결합 공간을 그림에서 구별합니다.</a:t>
            </a:r>
          </a:p>
          <a:p>
            <a:pPr algn="l">
              <a:lnSpc>
                <a:spcPct val="115000"/>
              </a:lnSpc>
              <a:spcAft>
                <a:spcPts val="1800"/>
              </a:spcAft>
            </a:pPr>
            <a:r>
              <a:rPr sz="2700" b="0" lang="ko-KR">
                <a:solidFill>
                  <a:srgbClr val="183342"/>
                </a:solidFill>
                <a:latin typeface="Arial Unicode MS"/>
                <a:ea typeface="Arial Unicode MS"/>
                <a:cs typeface="Arial Unicode MS"/>
              </a:rPr>
              <a:t>주변 잔기의 어느 부분이 어떤 특징을 갖는지 설명합니다.</a:t>
            </a:r>
          </a:p>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4" name="TextBox 3"/>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
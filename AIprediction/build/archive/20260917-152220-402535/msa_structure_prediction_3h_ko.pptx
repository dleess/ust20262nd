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MSA와 단백질 구조 예측</a:t>
            </a:r>
          </a:p>
          <a:p>
            <a:r>
              <a:t>시간: 0–1분 (1분)</a:t>
            </a:r>
          </a:p>
          <a:p/>
          <a:p>
            <a:r>
              <a:t>이 강의에서는 생물학에서 익숙한 공통 조상과 유전자 중복을 출발점으로 삼습니다. 먼저 ortholog와 paralog를 사건에 따라 구분하고, 실제 파일처럼 보이는 짧은 정렬을 직접 읽겠습니다. 이후에는 MSA의 어떤 정보를 바꾸면 구조 예측 결과가 달라질 수 있는지 살펴봅니다. 교육용 가상 서열과 가상 계통수는 개념 학습용이며 실제 단백질이나 실제 진화 역사를 나타내지 않습니다. 이번 개정에서는 설명 직후 활동지를 바로 풉니다. 활동지 1쪽은 진화 관계, 2쪽은 A3M, 3쪽은 coevolution, 4쪽은 입력 조작, 5쪽은 결과 해석입니다. 실습용 가상 자료와 실제 예측 입력을 구분합니다.</a:t>
            </a:r>
          </a:p>
          <a:p/>
          <a:p>
            <a:r>
              <a:t>출처</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Homology: 얼마나 닮았나보다 어디에서 왔나</a:t>
            </a:r>
          </a:p>
          <a:p>
            <a:r>
              <a:t>시간: 1–3분 (2분)</a:t>
            </a:r>
          </a:p>
          <a:p/>
          <a:p>
            <a:r>
              <a:t>상동성은 두 서열의 진화적 기원에 대한 관계이고, 동일성은 정렬에서 측정하는 양입니다. 실제 분석에서는 상동 여부의 근거가 강하거나 약할 수 있지만, 상동성을 백분율로 표시하지 않습니다. 높은 서열 동일성은 상동성 추론의 근거가 될 수 있으나 짧은 구간의 우연한 일치만으로 전체 단백질의 기원을 판단하지 않습니다. Similarity는 어떤 치환을 비슷하다고 볼지 점수 체계에 의존한다는 점도 구분합니다.</a:t>
            </a:r>
          </a:p>
          <a:p/>
          <a:p>
            <a:r>
              <a:t>출처</a:t>
            </a:r>
          </a:p>
          <a:p>
            <a:r>
              <a:t>[evo_ncbi_glossary] NCBI BLAST Glossary</a:t>
            </a:r>
          </a:p>
          <a:p>
            <a:r>
              <a:t>https://www.ncbi.nlm.nih.gov/books/NBK62051/?report=reader</a:t>
            </a:r>
          </a:p>
          <a:p>
            <a:r>
              <a:t>[evo_ebi_sequence] EMBL-EBI Training: Primary structure—Why sequence matters</a:t>
            </a:r>
          </a:p>
          <a:p>
            <a:r>
              <a:t>https://www.ebi.ac.uk/training/online/courses/foundations-protein-structure/fundamentals-of-protein-composition/the-peptide-bond-and-primary-structure/ss/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Ortholog와 paralog: 갈라진 사건을 묻는다</a:t>
            </a:r>
          </a:p>
          <a:p>
            <a:r>
              <a:t>시간: 3–5분 (2분)</a:t>
            </a:r>
          </a:p>
          <a:p/>
          <a:p>
            <a:r>
              <a:t>오늘은 유전자 중복과 종 분화를 중심으로 한 단순한 진화 모형을 사용합니다. 두 유전자를 거슬러 올라가 만나는 가장 최근 공통 조상 노드가 종 분화이면 ortholog, 유전자 중복이면 paralog입니다. 서로 다른 종에 존재하는 paralog도 있으므로 종이 다르다는 이유만으로 ortholog라고 부르면 안 됩니다. 이 관계는 기능 실험 결과가 아니라 진화 사건으로 정의됩니다.</a:t>
            </a:r>
          </a:p>
          <a:p/>
          <a:p>
            <a:r>
              <a:t>출처</a:t>
            </a:r>
          </a:p>
          <a:p>
            <a:r>
              <a:t>[evo_sonnhammer] Sonnhammer &amp; Koonin (2002). Orthology, paralogy and proposed classification for paralog subtypes.</a:t>
            </a:r>
          </a:p>
          <a:p>
            <a:r>
              <a:t>https://sonnhammer.org/download/papers/2002_TIG_18:619-620.pdf</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Species tree와 gene tree는 다른 질문</a:t>
            </a:r>
          </a:p>
          <a:p>
            <a:r>
              <a:t>시간: 5–7분 (2분)</a:t>
            </a:r>
          </a:p>
          <a:p/>
          <a:p>
            <a:r>
              <a:t>종 계통수의 말단은 종이고 유전자 계통수의 말단은 개별 유전자입니다. 따라서 한 종에서 유전자가 중복되면 gene tree에는 같은 종 이름을 가진 말단이 여러 개 나타납니다. 실제 연구에서는 유전자 계통수를 종 계통수와 대조하는 reconciliation을 통해 중복과 종 분화를 추론합니다. 여기서는 분기 길이와 시간 축은 생략하고 사건의 순서만 읽습니다.</a:t>
            </a:r>
          </a:p>
          <a:p/>
          <a:p>
            <a:r>
              <a:t>출처</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1: 종 분화보다 먼저 중복되었다면</a:t>
            </a:r>
          </a:p>
          <a:p>
            <a:r>
              <a:t>시간: 7–9분 (2분)</a:t>
            </a:r>
          </a:p>
          <a:p/>
          <a:p>
            <a:r>
              <a:t>먼저 조상 유전자가 1번과 2번 계열로 중복되고, 이후 A와 B가 종 분화한 가상 사례입니다. A_1과 B_1의 가장 최근 공통 조상은 왼쪽 S이므로 ortholog입니다. A_1과 A_2 또는 A_1과 B_2를 거슬러 올라가면 가장 최근 공통 조상은 맨 위 D이므로 두 쌍 모두 paralog입니다. 특히 A_1과 B_2는 다른 종에 있는 paralog라는 점을 손가락으로 경로를 짚어 설명합니다.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2: 종 분화 뒤에 중복되었다면</a:t>
            </a:r>
          </a:p>
          <a:p>
            <a:r>
              <a:t>시간: 9–11분 (2분)</a:t>
            </a:r>
          </a:p>
          <a:p/>
          <a:p>
            <a:r>
              <a:t>이번에는 종 분화가 먼저 발생하고 A 계통 안에서만 유전자가 중복되었습니다. A_1과 A_2를 비교하면 D에서 만나지만, 어느 쪽을 B_1과 비교하든 S에서 만나므로 각각 ortholog입니다. 따라서 orthology는 반드시 일대일 관계일 필요가 없으며 여기서는 일대다 관계입니다. Co-ortholog라는 표현은 무엇에 대한 관계인지 기준 상대인 B_1을 함께 말해야 정확합니다.</a:t>
            </a:r>
          </a:p>
          <a:p/>
          <a:p>
            <a:r>
              <a:t>출처</a:t>
            </a:r>
          </a:p>
          <a:p>
            <a:r>
              <a:t>[evo_sonnhammer] Sonnhammer &amp; Koonin (2002). Orthology, paralogy and proposed classification for paralog subtypes.</a:t>
            </a:r>
          </a:p>
          <a:p>
            <a:r>
              <a:t>https://sonnhammer.org/download/papers/2002_TIG_18:619-620.pdf</a:t>
            </a:r>
          </a:p>
          <a:p>
            <a:r>
              <a:t>[evo_ensembl_types] Ensembl: Homology types</a:t>
            </a:r>
          </a:p>
          <a:p>
            <a:r>
              <a:t>https://mart.ensembl.org/info/genome/compara/homology_types.html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Paralog는 종 안에도, 종 사이에도 있다</a:t>
            </a:r>
          </a:p>
          <a:p>
            <a:r>
              <a:t>시간: 11–13분 (2분)</a:t>
            </a:r>
          </a:p>
          <a:p/>
          <a:p>
            <a:r>
              <a:t>이 표는 앞의 두 계통수를 한 번 더 정리하는 장입니다. Within-species와 between-species는 현재 유전자가 어느 종에 있는지를 말하고, inparalog와 outparalog는 기준 종 분화보다 중복이 나중인지 이전인지를 말합니다. 따라서 같은 종에 있는 paralog라는 사실만으로 중복이 그 종에서 최근에 일어났다고 결론 내릴 수 없습니다. 초보 단계에서는 세부 명칭 암기보다 D와 S의 순서를 먼저 설명하게 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유전자 소실: 남은 하나끼리 비교하면 생기는 착시</a:t>
            </a:r>
          </a:p>
          <a:p>
            <a:r>
              <a:t>시간: 13–15분 (2분)</a:t>
            </a:r>
          </a:p>
          <a:p/>
          <a:p>
            <a:r>
              <a:t>고대 중복 후 A에서는 2번 계열, B에서는 1번 계열이 사라진 가상 사례입니다. 현재 남은 A_1과 B_2만 보면 각 종에 하나씩 있는 대응처럼 보이지만, 이들의 가장 최근 공통 조상은 D입니다. 그러므로 서로 paralog이며 단순한 일대일 검색 결과로 진화 역사를 확정할 수 없습니다. 실제 자료에서는 소실뿐 아니라 불완전한 조립이나 주석 누락도 유전자가 없어 보이는 이유가 될 수 있음을 덧붙입니다.</a:t>
            </a:r>
          </a:p>
          <a:p/>
          <a:p>
            <a:r>
              <a:t>출처</a:t>
            </a:r>
          </a:p>
          <a:p>
            <a:r>
              <a:t>[evo_ensembl_loss] Ensembl archived documentation: Gene Orthology/Paralogy prediction method</a:t>
            </a:r>
          </a:p>
          <a:p>
            <a:r>
              <a:t>https://may2009.archive.ensembl.org/info/docs/compara/homology_method.html</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Ortholog와 paralog 판정</a:t>
            </a:r>
          </a:p>
          <a:p>
            <a:r>
              <a:t>시간: 15–19분 (4분)</a:t>
            </a:r>
          </a:p>
          <a:p/>
          <a:p>
            <a:r>
              <a:t>개인 풀이 1분, 짝 토론 1분, 전체 해설 2분으로 운영합니다. 정답은 A_x–A_y가 D에서 만나는 paralog, A_x–B_z와 A_y–B_z가 각각 S에서 만나는 ortholog입니다. A_x와 A_y는 B_z에 대한 co-orthologs이며, 서로가 ortholog라는 뜻은 아닙니다. 종이 다르다는 이유만 쓴 답에는 가장 최근 공통 조상 노드를 표시하도록 다시 요청하고, 화면을 읽기 어려운 학생에게는 동일 내용을 구두로 설명합니다. 활동지 1쪽을 이어서 사용합니다. 상황 A의 H_A–M_A는 S에 의한 ortholog, H_A–H_B와 H_A–M_B는 D에 의한 paralog입니다. 상황 B에서 H1–H2는 paralog, H1/H2는 각각 M의 ortholog이며 M에 대한 co-orthologs입니다. 4분 안에는 화면 예제와 활동지 1번을 우선 풀고 나머지는 해설·확장 문항으로 둡니다.</a:t>
            </a:r>
          </a:p>
          <a:p/>
          <a:p>
            <a:r>
              <a:t>출처</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Ortholog여도 기능이 완전히 같지는 않다</a:t>
            </a:r>
          </a:p>
          <a:p>
            <a:r>
              <a:t>시간: 19–21분 (2분)</a:t>
            </a:r>
          </a:p>
          <a:p/>
          <a:p>
            <a:r>
              <a:t>Ortholog는 기능을 추론할 때 유용하지만 모든 생물학적 기능이 동일하다는 정의는 아닙니다. 기능은 촉매 작용, 기질, 발현 조직, 상호작용 상대 등 여러 층위로 나뉘므로 어느 층위의 유사성을 말하는지 명시해야 합니다. 실제 기능 자료를 비교한 연구도 ortholog와 paralog의 차이를 통계적 경향으로 다루며 절대 규칙으로 다루지 않습니다. 구조 예측용 MSA에는 목적에 따라 여러 상동 계열이 포함될 수 있으므로 ortholog만 남겨야 한다는 규칙도 자동으로 적용하지 않습니다.</a:t>
            </a:r>
          </a:p>
          <a:p/>
          <a:p>
            <a:r>
              <a:t>출처</a:t>
            </a:r>
          </a:p>
          <a:p>
            <a:r>
              <a:t>[evo_function] Altenhoff et al. (2012). Resolving the Ortholog Conjecture. PLOS Computational Biology.</a:t>
            </a:r>
          </a:p>
          <a:p>
            <a:r>
              <a:t>https://journals.plos.org/ploscompbiol/article?id=10.1371/journal.pcbi.1002514</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유전자 가족에서 MSA로: 대응 위치를 제안한다</a:t>
            </a:r>
          </a:p>
          <a:p>
            <a:r>
              <a:t>시간: 21–23분 (2분)</a:t>
            </a:r>
          </a:p>
          <a:p/>
          <a:p>
            <a:r>
              <a:t>계통수를 통해 누가 누구와 관련되는지 생각했다면, 이제 각 서열의 어느 위치끼리 비교할지 정해야 합니다. MSA는 삽입과 결실을 고려해 대응한다고 보는 잔기들을 같은 열에 배치합니다. 특히 짧은 반복, 매우 다른 길이, 도메인 구성이 다른 서열에서는 정렬의 불확실성이 커질 수 있습니다. 이후 구조 예측에서 사용되는 정보는 이런 대응 관계에 영향을 받으므로 행 수를 세기 전에 정렬 자체를 읽는 습관을 들입니다.</a:t>
            </a:r>
          </a:p>
          <a:p/>
          <a:p>
            <a:r>
              <a:t>출처</a:t>
            </a:r>
          </a:p>
          <a:p>
            <a:r>
              <a:t>[evo_ebi_msa] EMBL-EBI Training: Multiple sequence alignment</a:t>
            </a:r>
          </a:p>
          <a:p>
            <a:r>
              <a:t>https://www.ebi.ac.uk/training/online/courses/guide-to-sequence-analysis-tools/sequence-alignment/multiple-sequence-alignment/</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 읽기: 행·열·query·gap</a:t>
            </a:r>
          </a:p>
          <a:p>
            <a:r>
              <a:t>시간: 23–26분 (3분)</a:t>
            </a:r>
          </a:p>
          <a:p/>
          <a:p>
            <a:r>
              <a:t>가상 정렬에서 한 행을 가로로 읽으면 하나의 단백질 서열을, 한 열을 세로로 읽으면 대응한다고 본 위치들의 상태를 읽습니다. Query의 세 번째 열에는 잔기가 없으므로 이 열의 정렬 번호와 query의 잔기 번호는 다릅니다. Gap은 이 위치에 정렬된 잔기가 없다는 표시이지 미지의 아미노산이라는 기호가 아닙니다. 이 짧은 예시는 MSA 문법을 위한 것이며 실제 단백질의 구조나 기능을 예측할 수 있는 자료가 아닙니다.</a:t>
            </a:r>
          </a:p>
          <a:p/>
          <a:p>
            <a:r>
              <a:t>출처</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Gap 하나가 잔기 번호를 바꾼다</a:t>
            </a:r>
          </a:p>
          <a:p>
            <a:r>
              <a:t>시간: 26–28분 (2분)</a:t>
            </a:r>
          </a:p>
          <a:p/>
          <a:p>
            <a:r>
              <a:t>같은 정렬을 다시 사용해 query의 D가 정렬에서는 4열이지만 원래 서열에서는 3번 잔기임을 확인합니다. 구조 파일의 잔기 번호나 실험에서 사용한 construct 번호는 여기서도 다시 달라질 수 있으므로 별도 대응이 필요합니다. 또한 seq_A의 Q를 query 대비 삽입으로 표현할 수 있어도 어느 조상에서 실제 삽입 또는 결실이 일어났는지는 이 정렬만으로 결정하지 못합니다. 이후 마스킹 위치를 정할 때 번호 체계를 혼동하지 않도록 기록 단위를 명시합니다.</a:t>
            </a:r>
          </a:p>
          <a:p/>
          <a:p>
            <a:r>
              <a:t>출처</a:t>
            </a:r>
          </a:p>
          <a:p>
            <a:r>
              <a:t>[evo_ebi_pairwise] EMBL-EBI Training: Pairwise sequence alignment</a:t>
            </a:r>
          </a:p>
          <a:p>
            <a:r>
              <a:t>https://www.ebi.ac.uk/training/online/courses/guide-to-sequence-analysis-tools/sequence-alignment/pairwise-sequence-alignment/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이름 줄과 서열 줄부터 읽기</a:t>
            </a:r>
          </a:p>
          <a:p>
            <a:r>
              <a:t>시간: 28–30분 (2분)</a:t>
            </a:r>
          </a:p>
          <a:p/>
          <a:p>
            <a:r>
              <a:t>헤더와 서열을 분리해 읽는 것만으로 많은 입력 실수를 줄일 수 있습니다. 첫 번째 줄의 synthetic이라는 말은 자료의 출처 설명이며 단백질 서열에 포함되지 않습니다. 서열 길이가 서로 다를 수 있는 일반 FASTA와 gap을 넣어 대응 열을 맞춘 aligned FASTA를 구분합니다. 일반 FASTA에서 대소문자가 가지는 의미는 도구에 따라 다를 수 있으므로 다음 장의 A3M 규칙을 모든 FASTA 파일에 그대로 적용하지 않습니다.</a:t>
            </a:r>
          </a:p>
          <a:p/>
          <a:p>
            <a:r>
              <a:t>출처</a:t>
            </a:r>
          </a:p>
          <a:p>
            <a:r>
              <a:t>[evo_ncbi_fasta] NCBI: BLAST QuickStart—Query and Database Sequence Formats</a:t>
            </a:r>
          </a:p>
          <a:p>
            <a:r>
              <a:t>https://www.ncbi.nlm.nih.gov/books/NBK1734/?report=reader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A3M: 대문자와 소문자는 서로 다른 역할</a:t>
            </a:r>
          </a:p>
          <a:p>
            <a:r>
              <a:t>시간: 30–33분 (3분)</a:t>
            </a:r>
          </a:p>
          <a:p/>
          <a:p>
            <a:r>
              <a:t>A3M에서는 삽입 열의 빈칸을 생략할 수 있어 텍스트 줄의 길이가 달라 보입니다. 예시의 소문자 q는 삽입 잔기이고 대문자 Y는 query의 F와 다른 잔기지만 같은 match 열에 대응합니다. 소문자를 제외해 읽으면 각 행의 match와 deletion 위치는 여덟 개이며 query의 위치와 맞출 수 있습니다. 삽입 정보의 처리 방식은 예측 파이프라인마다 다르므로 파일 원본을 무조건 대문자로 바꾸거나 모든 소문자를 임의 삭제해서 저장하지 않습니다.</a:t>
            </a:r>
          </a:p>
          <a:p/>
          <a:p>
            <a:r>
              <a:t>출처</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A3M의 열과 삽입 읽기</a:t>
            </a:r>
          </a:p>
          <a:p>
            <a:r>
              <a:t>시간: 33–37분 (4분)</a:t>
            </a:r>
          </a:p>
          <a:p/>
          <a:p>
            <a:r>
              <a:t>실제 실습 파일 이름은 practice/README.md를 따른다. 소문자 insertion은 정렬 열로 세지 않는다. 다만 파서가 그 삽입 길이를 별도 특징으로 활용할 수 있으므로 소문자를 무의미한 문자라고 설명하지 않는다. Gap은 해당 정렬 위치의 잔기가 없는 대응, X는 잔기 종류를 알 수 없거나 가렸다는 표식이다. Subsampling은 진화적 다양성과 특정 위치의 coverage를 함께 바꿀 수 있다. 컴퓨터가 없는 학생은 활동지의 A3M 발췌를 사용한다. 진행 2분 풀이+2분 해설. 답: query 포함7행, homolog6행, 정렬12열. A2의 ee는4열 직전 insertion이며 원문14글자와 정렬12열은 다릅니다. A3의 gap은5열, B1의 X는11열입니다. 활동지2쪽4번 Neff 질문은 해당 설명 직후 구두로 이어갑니다.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Coverage와 identity: 분모를 함께 적는다</a:t>
            </a:r>
          </a:p>
          <a:p>
            <a:r>
              <a:t>시간: 37–40분 (3분)</a:t>
            </a:r>
          </a:p>
          <a:p/>
          <a:p>
            <a:r>
              <a:t>이 강의의 계산 예에서는 coverage를 query 전체 잔기 중 상대 잔기와 짝지어진 위치의 비율로 정의합니다. Identity는 두 서열 모두 잔기가 있는 비교 위치 중 같은 잔기의 비율로 계산합니다. 실제 프로그램은 gap 포함 여부나 길이 기준이 달라질 수 있으므로 출력 문서를 확인하고 숫자만 비교하지 않습니다. 100% identity라도 query의 아주 짧은 부분만 덮는 hit는 전체 단백질이 동일한 특징을 가진다는 근거가 되지 않습니다.</a:t>
            </a:r>
          </a:p>
          <a:p/>
          <a:p>
            <a:r>
              <a:t>출처</a:t>
            </a:r>
          </a:p>
          <a:p>
            <a:r>
              <a:t>[evo_ncbi_glossary] NCBI BLAST Glossary</a:t>
            </a:r>
          </a:p>
          <a:p>
            <a:r>
              <a:t>https://www.ncbi.nlm.nih.gov/books/NBK62051/?report=reader</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Coverage와 identity 계산</a:t>
            </a:r>
          </a:p>
          <a:p>
            <a:r>
              <a:t>시간: 40–43분 (3분)</a:t>
            </a:r>
          </a:p>
          <a:p/>
          <a:p>
            <a:r>
              <a:t>개인 계산 1분 후 짝과 분모를 확인하고 1분 동안 해설합니다. 정답은 A가 비교 위치 4개 모두 같으므로 coverage 4/8=50%, identity 4/4=100%입니다. B는 비교 위치 8개 중 6개가 같으므로 coverage 8/8=100%, identity 6/8=75%입니다. 어느 하나가 무조건 더 좋은 MSA 입력이라고 정하기보다는 길이, 상동성 근거, 정렬 신뢰도와 분석 목적을 함께 확인한다는 답으로 마무리합니다.</a:t>
            </a:r>
          </a:p>
          <a:p/>
          <a:p>
            <a:r>
              <a:t>출처</a:t>
            </a:r>
          </a:p>
          <a:p>
            <a:r>
              <a:t>[evo_ncbi_glossary] NCBI BLAST Glossary</a:t>
            </a:r>
          </a:p>
          <a:p>
            <a:r>
              <a:t>https://www.ncbi.nlm.nih.gov/books/NBK62051/?report=reader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Conservation: 한 열에서 무엇이 유지되는가?</a:t>
            </a:r>
          </a:p>
          <a:p>
            <a:r>
              <a:t>시간: 43–45분 (2분)</a:t>
            </a:r>
          </a:p>
          <a:p/>
          <a:p>
            <a:r>
              <a:t>각 열을 세로로 읽고 어떤 잔기가 얼마나 자주 나타나는지 확인합니다. 예시에서 첫 번째 열은 모두 A이지만 두 번째 열은 C와 S로 달라집니다. 보존은 구조 안정성이나 기능적 제약과 관련될 수 있지만 표집된 서열이 서로 너무 비슷해 보존적으로 보이는 경우도 있습니다. 네 개의 짧은 가상 서열만으로 생물학적 중요도를 추정하지 않고 개념을 익히는 데만 사용합니다.</a:t>
            </a:r>
          </a:p>
          <a:p/>
          <a:p>
            <a:r>
              <a:t>출처</a:t>
            </a:r>
          </a:p>
          <a:p>
            <a:r>
              <a:t>[evo_ebi_sequence] EMBL-EBI Training: Primary structure—Why sequence matters</a:t>
            </a:r>
          </a:p>
          <a:p>
            <a:r>
              <a:t>https://www.ebi.ac.uk/training/online/courses/foundations-protein-structure/fundamentals-of-protein-composition/the-peptide-bond-and-primary-structure/ss/</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보존·공변이·공진화는 서로 다른 질문</a:t>
            </a:r>
          </a:p>
          <a:p>
            <a:r>
              <a:t>시간: 45–47분 (2분)</a:t>
            </a:r>
          </a:p>
          <a:p/>
          <a:p>
            <a:r>
              <a:t>학생에게 MSA를 세로와 가로로 번갈아 보게 합니다. Ortholog와 paralog는 서로 다른 행인 유전자들의 기원에 붙이는 이름이고, residue coevolution은 정렬에서 대응하는 위치들의 진화적 의존성을 묻습니다. 두 잔기가 ortholog라는 표현은 이 문맥에 맞지 않습니다. 문헌에서는 covariation과 coevolution을 넓게 섞어 쓰기도 하지만, 오늘은 관찰된 통계적 의존성과 그 원인에 관한 진화적 해석을 구별합니다. 공변이를 보았다고 구조적 상호작용 때문에 공진화했다고 바로 결론 내리지 않습니다. 두 열이 완전히 보존되어 있으면 중요한 접촉이 실제 존재하더라도 이 자료의 변화 패턴으로 의존성을 판별하기 어렵다는 점도 짚습니다. 여기서 함께 진화한다는 것은 여러 세대에 걸친 서열 제약의 의존성을 뜻합니다. 단백질의 두 잔기가 시간에 따라 같은 방향으로 움직이는 동역학적 상관과는 다른 개념입니다.</a:t>
            </a:r>
          </a:p>
          <a:p/>
          <a:p>
            <a:r>
              <a:t>출처</a:t>
            </a:r>
          </a:p>
          <a:p>
            <a:r>
              <a:t>[coevo_miyazawa] Miyazawa (2013). Prediction of Contact Residue Pairs Based on Co-Substitution between Sites in Protein Structures. PLOS ONE.</a:t>
            </a:r>
          </a:p>
          <a:p>
            <a:r>
              <a:t>https://journals.plos.org/plosone/article?id=10.1371/journal.pone.0054252</a:t>
            </a:r>
          </a:p>
          <a:p>
            <a:r>
              <a:t>[evo_morcos] Morcos et al. (2011). Direct-coupling analysis of residue coevolution captures native contacts across many protein families. PNAS.</a:t>
            </a:r>
          </a:p>
          <a:p>
            <a:r>
              <a:t>https://doi.org/10.1073/pnas.1111471108</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위치의 선택은 다른 위치에 달릴 수 있다</a:t>
            </a:r>
          </a:p>
          <a:p>
            <a:r>
              <a:t>시간: 47–49분 (2분)</a:t>
            </a:r>
          </a:p>
          <a:p/>
          <a:p>
            <a:r>
              <a:t>D는 aspartate, K는 lysine이며 보통의 생리적 pH에서 측쇄가 각각 음전하와 양전하를 띤다는 단순화를 사용합니다. 실제 전하와 안정성은 환경, 거리, 배향, 용매, 다른 잔기 등에 의존하므로 이 표를 모든 단백질의 규칙으로 설명하지 않습니다. 한 위치의 치환 효과가 다른 위치의 상태에 달라지는 생각이 epistasis입니다. 보상적 치환은 한 변화의 영향을 다른 변화가 완화하는 가능한 설명입니다. 그러나 D–K와 K–D 두 조합을 나란히 보았다고 D–K에서 K–K를 거쳐 K–D로 진화했다고 읽을 수 없습니다. 화살표나 시간 순서를 그리지 않은 이유를 말해 줍니다. 이 장은 물리적 직관을 위한 가상 모형이며 다음 MSA 빈도 예제에 실제 접촉이나 보상 치환을 부여하지 않습니다. 접촉하는 잔기들이 서로 맞는 크기나 전하 조합을 유지하면 단백질의 접힘과 기능을 보존하는 데 기여할 수 있습니다. 따라서 서로 먼 서열 위치 사이의 조합 정보가 3차원 공간의 근접성을 추정하는 단서가 됩니다. 공진화가 두 돌연변이의 동시 발생을 뜻하지는 않습니다.</a:t>
            </a:r>
          </a:p>
          <a:p/>
          <a:p>
            <a:r>
              <a:t>출처</a:t>
            </a:r>
          </a:p>
          <a:p>
            <a:r>
              <a:t>[coevo_miyazawa] Miyazawa (2013). Prediction of Contact Residue Pairs Based on Co-Substitution between Sites in Protein Structures. PLOS ONE.</a:t>
            </a:r>
          </a:p>
          <a:p>
            <a:r>
              <a:t>https://journals.plos.org/plosone/article?id=10.1371/journal.pone.0054252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열의 빈도와 조합 빈도를 따로 센다</a:t>
            </a:r>
          </a:p>
          <a:p>
            <a:r>
              <a:t>시간: 49–52분 (3분)</a:t>
            </a:r>
          </a:p>
          <a:p/>
          <a:p>
            <a:r>
              <a:t>표의 각 숫자는 그 잔기 조합을 가진 서열 행의 수입니다. 예를 들어 오른쪽 위의 4는 i에 D와 j에 K가 같은 서열 안에서 함께 나타난 행이 네 개라는 뜻입니다. 주변 빈도 marginal frequency는 한 열만 보고 셉니다. i가 D인 행은 4/8, j가 K인 행도 4/8입니다. 두 열이 독립적이라면 이 비율들을 곱한 1/4, 즉 여덟 행 중 두 행 정도의 조합 빈도를 기대하지만 여기서는 네 행입니다. 이는 교육용 자료에서 관찰한 분포와 독립 분포를 비교한 것이며, 여덟 개 생물학적 독립 표본으로 유의성 검정을 한 것이 아닙니다. 원하면 MI = sum P(a,b) log2[P(a,b)/(P(a)P(b))]라고 소개합니다. 이 가상 표의 경험적 MI는 1 bit이며 0 빈도 항의 기여는 0으로 처리합니다. 계산값 자체는 계통 효과를 제거하지 않으며 접촉 점수나 AlphaFold 신뢰도도 아닙니다.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즉시 실습: 같은 열 빈도, 다른 조합</a:t>
            </a:r>
          </a:p>
          <a:p>
            <a:r>
              <a:t>시간: 52–55분 (3분)</a:t>
            </a:r>
          </a:p>
          <a:p/>
          <a:p>
            <a:r>
              <a:t>학생 실습지의 coevolution 페이지 첫 계산과 연결합니다. 1분 개인 계산, 1분 짝 비교, 1분 강사 해설로 운영합니다. 두 자료 모두 P(D_i)=1/2, P(K_j)=1/2이므로 독립일 때 D–K의 빈도는 1/4입니다. 자료 P의 실제 D–K 빈도는 4/8=1/2, 자료 Q는 2/8=1/4입니다. Q에서는 네 조합이 모두 각각 1/4이므로 이 경험적 분포는 독립입니다. 단일 열의 잔기 분포와 보존도는 동일하므로 그것만으로 둘을 구분할 수 없습니다. 선택 심화 답은 경험적 MI가 P에서 1 bit, Q에서 0 bit라는 것입니다. Q에 공변이가 없다는 관찰도 실제 단백질에서 접촉이 없음을 입증하지 않습니다. P에 공변이가 있다는 관찰도 직접 접촉을 입증하지 않습니다. 작은 가상 표로 통계적 유의성이나 실제 공진화를 판정하지 않는다고 마무리합니다.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55–65분 (10분)</a:t>
            </a:r>
          </a:p>
          <a:p/>
          <a:p>
            <a:r>
              <a:t>첫 번째 휴식. 방금 계산한 두 열의 상관이 무엇 때문에 생겼는지 생각해 두게 합니다. 다음 구간에서 ortholog의 공통 조상과 paralog 혼합을 같은 데이터에 연결합니다.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Ortholog를 모아도 공통 조상은 남아 있다</a:t>
            </a:r>
          </a:p>
          <a:p>
            <a:r>
              <a:t>시간: 65–68분 (3분)</a:t>
            </a:r>
          </a:p>
          <a:p/>
          <a:p>
            <a:r>
              <a:t>Ortholog는 종 분화로 갈라진 유전자 관계이지 서로 독립적으로 실험한 시료라는 뜻이 아닙니다. 어느 조상 가지에서 D–K 조합이 생긴 뒤 많은 후손에게 전달되었다면, 말단 서열의 반복 개수를 치환 사건 수로 셀 수 없습니다. 여러 떨어진 가지에서 관련 변화가 반복되는지 묻는 것이 더 적절하지만, 이를 판단하려면 계통수와 치환 모형 등 추가 가정이 필요합니다. Ortholog를 선택하면 고대 중복으로 분리된 다른 계열을 섞는 일을 줄일 수 있으나 phylogenetic non-independence 자체를 없애지는 못합니다. 서열 재가중도 이 문제를 완벽히 제거하지 않습니다. 따라서 ortholog 선택, 정렬 품질, 계통 구조, 서열 다양성은 서로 다른 확인 항목입니다.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a:p>
            <a:r>
              <a:t>[evo_weighting] Hockenberry &amp; Wilke (2019). Phylogenetic Weighting Does Little to Improve the Accuracy of Evolutionary Coupling Analyses.</a:t>
            </a:r>
          </a:p>
          <a:p>
            <a:r>
              <a:t>https://www.mdpi.com/1099-4300/21/10/1000</a:t>
            </a:r>
          </a:p>
          <a:p>
            <a:r>
              <a:t>[coevo_miyazawa] Miyazawa (2013). Prediction of Contact Residue Pairs Based on Co-Substitution between Sites in Protein Structures. PLOS ONE.</a:t>
            </a:r>
          </a:p>
          <a:p>
            <a:r>
              <a:t>https://journals.plos.org/plosone/article?id=10.1371/journal.pone.0054252</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Paralog 혼합은 계열 차이를 함께 섞는다</a:t>
            </a:r>
          </a:p>
          <a:p>
            <a:r>
              <a:t>시간: 68–70분 (2분)</a:t>
            </a:r>
          </a:p>
          <a:p/>
          <a:p>
            <a:r>
              <a:t>계열 A에서는 i가 D이고 j가 K, 계열 B에서는 반대라고 가정하면 A와 B의 비중이 두 열의 조합 빈도를 함께 결정합니다. 이런 패턴에는 계열 분기 역사가 들어 있으므로 전체 MSA의 상관만으로 반복적인 잔기 보상을 추론할 수 없습니다. 곧바로 다음 장의 숫자를 직접 나눠 보게 합니다. 구조 예측과 DCA는 일반적으로 상동 단백질 가족의 정보를 활용하며 입력을 반드시 ortholog-only로 제한하는 정의가 아닙니다. Paralog도 공통 구조 제약을 알려 줄 수 있으므로 모두 제거하면 충분한 다양성까지 잃을 수 있습니다. 반대로 정렬되지 않는 도메인이나 매우 다른 기능 계열을 무조건 합치는 것도 바람직하지 않습니다. 가족별 비교는 원인을 점검하는 분석이며, 진짜 공진화가 전혀 없다는 증명이 아닙니다.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[coevo_pairing] Gandarilla-Pérez et al. (2023). Combining phylogeny and coevolution improves the inference of interaction partners among paralogous proteins. PLOS Computational Biology.</a:t>
            </a:r>
          </a:p>
          <a:p>
            <a:r>
              <a:t>https://journals.plos.org/ploscompbiol/article?id=10.1371/journal.pcbi.1011010</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즉시 실습: 계열을 나누면 무엇이 보이나?</a:t>
            </a:r>
          </a:p>
          <a:p>
            <a:r>
              <a:t>시간: 70–73분 (3분)</a:t>
            </a:r>
          </a:p>
          <a:p/>
          <a:p>
            <a:r>
              <a:t>화면 표를 읽기 전에 다음 가정이 화면과 실습지에 제시되어 있음을 확인합니다: H/M/R/F는 네 가상 종이며, 유전자 중복으로 A/B가 나뉜 뒤 네 종이 분화했고 추가 중복·소실은 없습니다. 실제 종의 약자가 아닙니다. 이 가정은 반드시 학생에게 읽어 줍니다. 1분 관계 판정, 1분 전체·계열별 비교, 1분 해설로 운영합니다. 정답: A_H–A_M은 ortholog, A_H–B_H와 A_H–B_M은 paralog입니다. 각 A 또는 B 계열 안에서는 이 두 위치에 변이가 없으므로 이 표만으로 계열 내부의 coevolution을 검출할 근거가 없습니다. 전체에서는 앞 장의 자료 P와 같이 D–K와 K–D만 각각 네 번 나타납니다. 이 의존성은 계열 구분과 겹치므로 반복적인 보상 치환이나 직접 접촉으로 바로 해석하면 안 됩니다. 여덟 행은 여덟 번의 독립 치환이 아니며 조상 상태와 실제 변화 횟수도 이 표로 결정하지 못합니다. 추가 근거로 더 넓은 계통 표집, 신뢰할 만한 정렬·계통수, 계열 내부 변이, 실제 구조 등을 제안하게 합니다. 여기 A/B는 주어진 가상 유전자 역사에 따른 중복 계열입니다. 별도 파일 practice/fictional_learning.a3m의 group A/B는 편의를 위한 교육용 라벨이며 ortholog/paralog 관계를 추론한 집단이 아닙니다. 두 자료를 같은 MSA로 연결하지 않습니다.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복합체에서는 어떤 서열끼리 짝지었는가?</a:t>
            </a:r>
          </a:p>
          <a:p>
            <a:r>
              <a:t>시간: 73–75분 (2분)</a:t>
            </a:r>
          </a:p>
          <a:p/>
          <a:p>
            <a:r>
              <a:t>앞의 A/B 하위 계열 예제와 혼동하지 않도록 이번에는 서로 상호작용할 수 있는 두 단백질 가족을 P와 Q라고 부릅니다. 단백질 내부의 coevolution은 한 가족의 MSA에서 열쌍을 비교합니다. 단백질 사이의 분석에서는 P와 Q의 MSA 행을 상호작용 상대에 맞춰 대응시키는 문제가 추가됩니다. 한 종에 P1/P2와 Q1/Q2가 모두 있으면 종 이름만으로 올바른 상대가 정해지지 않습니다. 다른 종의 ortholog 관계, 유전체 맥락, 알려진 상호작용 및 서열 신호가 pairing을 돕지만 보장은 아닙니다. 잘못 연결한 행은 단백질 사이 신호를 약화시키거나 왜곡할 수 있습니다. AlphaFold 3의 입력 문서에서 말하는 MSA pairing 역시 행 대응을 구성하는 절차이며 실험적인 결합 확인을 뜻하지 않습니다. 단일 단백질의 상동 MSA 선택과 복합체의 파트너 pairing을 구분하게 합니다.</a:t>
            </a:r>
          </a:p>
          <a:p/>
          <a:p>
            <a:r>
              <a:t>출처</a:t>
            </a:r>
          </a:p>
          <a:p>
            <a:r>
              <a:t>[coevo_pairing] Gandarilla-Pérez et al. (2023). Combining phylogeny and coevolution improves the inference of interaction partners among paralogous proteins. PLOS Computational Biology.</a:t>
            </a:r>
          </a:p>
          <a:p>
            <a:r>
              <a:t>https://journals.plos.org/ploscompbiol/article?id=10.1371/journal.pcbi.1011010</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함께 변한다고 모두 직접 연결된 것은 아니다</a:t>
            </a:r>
          </a:p>
          <a:p>
            <a:r>
              <a:t>시간: 75–78분 (3분)</a:t>
            </a:r>
          </a:p>
          <a:p/>
          <a:p>
            <a:r>
              <a:t>칠판에 i—k—j를 그리고 i와 j 사이의 직접 선은 그리지 않습니다. 가운데 k를 통한 연결만으로 두 끝 위치의 관찰 분포가 연관될 수 있다는 직관을 설명합니다. Direct Coupling Analysis는 모든 위치를 함께 고려하는 통계 모형에서 쌍별 coupling을 추정해 단순한 두 열 상관의 간접 효과를 분리하려는 접근입니다. 여기서 direct는 해당 통계 모형 안에서의 뜻이지 물리적 인과 관계가 검증되었다는 뜻이 아닙니다. 표집, 계통 효과, 정렬 오류와 모형 한계가 남을 수 있습니다. AlphaFold 2는 Evoformer에서 MSA 표현과 잔기쌍 표현을 상호 갱신하며 구조 학습을 활용합니다. 따라서 MI를 계산해 높은 값끼리 붙이거나 고전적 DCA만 실행하는 절차로 설명하면 부정확합니다. AlphaFold 3 역시 이 장의 가상 MI 계산을 그대로 구조로 변환하는 도구가 아니며 세부 구조는 AF2와 다릅니다. 이 장에서는 입력 정보와 학습된 추론을 구분하는 데 초점을 둡니다.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Depth·clustering·masking은 무엇을 바꾸나?</a:t>
            </a:r>
          </a:p>
          <a:p>
            <a:r>
              <a:t>시간: 78–80분 (2분)</a:t>
            </a:r>
          </a:p>
          <a:p/>
          <a:p>
            <a:r>
              <a:t>앞의 혼합 예제로 돌아가 A와 B를 함께 넣을 때와 A만 넣을 때는 관찰하는 분포 자체가 달라짐을 상기시킵니다. 실제 MSA clustering은 주어진 ortholog/paralog 이름을 그대로 읽는 절차가 아니며 결과 군집이 유전자 중복 계열이나 물리적 구조 상태라는 보장도 없습니다. Depth를 줄이면 드문 조합을 잃고 표집 변동이 커질 수 있습니다. Masking은 해당 위치의 정보와 다른 위치와의 조합 정보를 일부 가리지만 특정 접촉 하나만 정밀하게 끄는 조작은 아닙니다. 이런 조작으로 다른 구조 후보가 보고된 방법들을 다음 절에서 배웁니다. 원래 학습된 가중치를 그대로 쓰는 입력 조작이며, 시도할 때마다 정확도가 향상되거나 원하는 상태가 얻어진다는 뜻은 아닙니다. 예측된 후보의 수를 실제 상태의 확률이나 전이 경로로 해석하지 않습니다.</a:t>
            </a:r>
          </a:p>
          <a:p/>
          <a:p>
            <a:r>
              <a:t>출처</a:t>
            </a:r>
          </a:p>
          <a:p>
            <a:r>
              <a:t>[subsampling_paper] del Alamo et al. (2022), Sampling alternative conformational states of transporters and receptors with AlphaFold2</a:t>
            </a:r>
          </a:p>
          <a:p>
            <a:r>
              <a:t>https://elifesciences.org/articles/75751</a:t>
            </a:r>
          </a:p>
          <a:p>
            <a:r>
              <a:t>[afcluster_paper] Wayment-Steele et al. (2024), Predicting multiple conformations via sequence clustering and AlphaFold2</a:t>
            </a:r>
          </a:p>
          <a:p>
            <a:r>
              <a:t>https://www.nature.com/articles/s41586-023-06832-9</a:t>
            </a:r>
          </a:p>
          <a:p>
            <a:r>
              <a:t>[afsample2_paper] Kalakoti and Wallner (2025), AFsample2 predicts multiple conformations and ensembles with AlphaFold2</a:t>
            </a:r>
          </a:p>
          <a:p>
            <a:r>
              <a:t>https://www.nature.com/articles/s42003-025-07791-9</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 depth와 Neff: 행 수와 다양성은 다르다</a:t>
            </a:r>
          </a:p>
          <a:p>
            <a:r>
              <a:t>시간: 80–83분 (3분)</a:t>
            </a:r>
          </a:p>
          <a:p/>
          <a:p>
            <a:r>
              <a:t>가중치 합으로 정의하는 한 방식에서는 각 서열과 충분히 비슷한 이웃 수를 자기 자신까지 포함해 센 뒤 그 역수를 가중치로 사용합니다. 모두 같은 서열 100개라면 각 가중치는 1/100이므로 합은 1입니다. 이것은 교육용 재가중 예시이며 HH-suite의 엔트로피 기반 Neff 등 다른 정의와 수치를 그대로 비교할 수 없습니다. Neff는 실제 독립 표본 수의 정답도 아니고 구조 예측 정확도를 보장하는 점수도 아닙니다. 마지막30초에 활동지2쪽4번을 구두로 확인합니다. 같은 행 복제는 raw depth를 높여도 새로운 독립적 진화 사건을 만들지 않습니다.</a:t>
            </a:r>
          </a:p>
          <a:p/>
          <a:p>
            <a:r>
              <a:t>출처</a:t>
            </a:r>
          </a:p>
          <a:p>
            <a:r>
              <a:t>[evo_morcos] Morcos et al. (2011). Direct-coupling analysis of residue coevolution captures native contacts across many protein families. PNAS.</a:t>
            </a:r>
          </a:p>
          <a:p>
            <a:r>
              <a:t>https://doi.org/10.1073/pnas.1111471108</a:t>
            </a:r>
          </a:p>
          <a:p>
            <a:r>
              <a:t>[evo_hhsuite] HH-suite official wiki: Multiple sequence alignment formats and model format</a:t>
            </a:r>
          </a:p>
          <a:p>
            <a:r>
              <a:t>https://github.com/soedinglab/hh-suite/wiki</a:t>
            </a:r>
          </a:p>
          <a:p>
            <a:r>
              <a:t>[evo_weighting] Hockenberry &amp; Wilke (2019). Phylogenetic Weighting Does Little to Improve the Accuracy of Evolutionary Coupling Analyses.</a:t>
            </a:r>
          </a:p>
          <a:p>
            <a:r>
              <a:t>https://www.mdpi.com/1099-4300/21/10/1000</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 단계: MSA의 어떤 정보를 바꿀 것인가?</a:t>
            </a:r>
          </a:p>
          <a:p>
            <a:r>
              <a:t>시간: 83–84분 (1분)</a:t>
            </a:r>
          </a:p>
          <a:p/>
          <a:p>
            <a:r>
              <a:t>지금까지의 개념을 다음 구조 예측 실습의 관찰 항목으로 연결합니다. Depth 변경은 몇 행을 제공하는지, clustering은 어떤 서열 집단을 선택하는지, masking은 어떤 위치의 정보를 감추는지에 관한 조작입니다. 어떤 변경이든 정보가 줄거나 치우칠 수 있으므로 무조건 정확도를 높이는 방법으로 소개하지 않습니다. 학생에게 앞으로 결과를 비교할 때 구조가 달라졌다는 관찰과 실제 생물학적 상태가 존재한다는 결론을 구분하도록 안내하고 실제 입력 흐름으로 넘어갑니다.</a:t>
            </a:r>
          </a:p>
          <a:p/>
          <a:p>
            <a:r>
              <a:t>출처</a:t>
            </a:r>
          </a:p>
          <a:p>
            <a:r>
              <a:t>[evo_ebi_msa] EMBL-EBI Training: Multiple sequence alignment</a:t>
            </a:r>
          </a:p>
          <a:p>
            <a:r>
              <a:t>https://www.ebi.ac.uk/training/online/courses/guide-to-sequence-analysis-tools/sequence-alignment/multiple-sequence-alignment/</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서열에서 예측 구조까지</a:t>
            </a:r>
          </a:p>
          <a:p>
            <a:r>
              <a:t>시간: 84–86분 (2분)</a:t>
            </a:r>
          </a:p>
          <a:p/>
          <a:p>
            <a:r>
              <a:t>1강에서 본 PDB/mmCIF와 연결한다. FASTA는 입력 서열, A3M은 정렬, PDB/mmCIF는 좌표를 담는다. 구조 예측기는 MSA를 3차원 사진처럼 읽지 않는다. 각 위치의 보존과 상관관계, 학습한 구조적 규칙을 함께 사용한다. Template은 기존 구조에서 얻는 추가 정보이며 MSA와 구분한다. 모델이 반환한 파일은 실험에서 직접 측정한 좌표가 아니다. 학생에게 어떤 파일에 원자 좌표가 들어 있는지 질문한다.</a:t>
            </a:r>
          </a:p>
          <a:p/>
          <a:p>
            <a:r>
              <a:t>출처</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AlphaFold2와 AlphaFold3</a:t>
            </a:r>
          </a:p>
          <a:p>
            <a:r>
              <a:t>시간: 86–88분 (2분)</a:t>
            </a:r>
          </a:p>
          <a:p/>
          <a:p>
            <a:r>
              <a:t>AF2와 AF3를 단순한 정확도 순위로 소개하지 않는다. AF2의 monomer 모델은 단백질 중심이며 복합체용 AlphaFold-Multimer가 별도로 있다. AF3는 단백질 외 분자들을 함께 다루고 diffusion 기반 좌표 생성을 사용한다. 단백질 MSA는 AF3에도 사용된다. AF2에서 관찰한 MSA 조작 효과가 AF3에서도 동일한 크기와 방식으로 나타난다고 가정하면 안 된다. 모델을 바꾸면 MSA 처리 방식과 점수의 의미도 함께 확인한다.</a:t>
            </a:r>
          </a:p>
          <a:p/>
          <a:p>
            <a:r>
              <a:t>출처</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웹 서버와 로컬 실행</a:t>
            </a:r>
          </a:p>
          <a:p>
            <a:r>
              <a:t>시간: 88–90분 (2분)</a:t>
            </a:r>
          </a:p>
          <a:p/>
          <a:p>
            <a:r>
              <a:t>AlphaFold Server와 공개 AF3 로컬 코드는 입력 기능과 실행 환경이 같지 않다. 웹 화면에서 로컬 JSON의 모든 항목을 조절할 수 있다고 설명하지 않는다. 초보자는 ColabFold 노트북에서 서열 입력과 결과 파일을 먼저 경험한다. 교사는 강의 전에 접속 가능 여부와 GPU 할당을 확인하고 동일한 실습 파일을 준비한다. 수업은 오프라인 정렬 실습과 결과 판독만으로도 끝낼 수 있으며, 실제 예측 시연은 사전 준비한 환경에서 선택적으로 진행한다. 실행법은 examples/README.md에 제공한다.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 MSA의 기본 조건</a:t>
            </a:r>
          </a:p>
          <a:p>
            <a:r>
              <a:t>시간: 90–92분 (2분)</a:t>
            </a:r>
          </a:p>
          <a:p/>
          <a:p>
            <a:r>
              <a:t>같은 단백질의 대안 구조를 비교하는 실습이므로 query를 고정한다. 소문자를 대문자로 바꾸면 삽입이 정렬 열로 오해되어 열 대응이 깨질 수 있다. 줄마다 문자열 길이가 달라도 lowercase insertion을 제외한 정렬 길이는 같아야 한다. Gap과 unknown X의 의미는 다르다. 헤더는 서열 식별과 일부 파이프라인의 종 정보 해석에 쓰일 수 있으므로 무작위로 바꾸는 것을 구조 제어 방법이라고 가르치지 않는다. 복합체 pairing은 별도의 대응 문제다.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1 · 접속과 실습 준비</a:t>
            </a:r>
          </a:p>
          <a:p>
            <a:r>
              <a:t>시간: 92–94분 (2분)</a:t>
            </a:r>
          </a:p>
          <a:p/>
          <a:p>
            <a:r>
              <a:t>공식 주소는 아래 링크와 examples/colabfold_walkthrough.md에 있습니다. ColabFold의 AlphaFold2 노트북이며 AlphaFold Server의 AF3 화면과 다릅니다. 브라우저에서 링크를 열고 실행 가능한 Google 계정으로 로그인합니다. 개인 사본 저장은 노트북 설정을 보존하는 선택 사항이며 Colab에서 임시 실행할 수도 있습니다. 먼저 교사가 공개 calmodulin 서열과 수업용 폴더를 학생에게 제공합니다. 12열짜리 fictional_learning.a3m은 실제 예측기에 넣지 않습니다. 수업 중에는 실행 준비와 결과 읽기를 함께 연습하고 실제 GPU 대기 시간은 보장하지 않습니다.</a:t>
            </a:r>
          </a:p>
          <a:p/>
          <a:p>
            <a:r>
              <a:t>출처</a:t>
            </a:r>
          </a:p>
          <a:p>
            <a:r>
              <a:t>[core_cf_nb] ColabFold AlphaFold2 official notebook</a:t>
            </a:r>
          </a:p>
          <a:p>
            <a:r>
              <a:t>https://colab.research.google.com/github/sokrypton/ColabFold/blob/main/AlphaFold2.ipynb</a:t>
            </a:r>
          </a:p>
          <a:p>
            <a:r>
              <a:t>[core_calm] UniProt P0DP23, human calmodulin-1</a:t>
            </a:r>
          </a:p>
          <a:p>
            <a:r>
              <a:t>https://www.uniprot.org/uniprotkb/P0DP23/entry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2 · GPU와 노트북 실행 방식</a:t>
            </a:r>
          </a:p>
          <a:p>
            <a:r>
              <a:t>시간: 94–96분 (2분)</a:t>
            </a:r>
          </a:p>
          <a:p/>
          <a:p>
            <a:r>
              <a:t>Google Colab 공식 FAQ는 Runtime→Change runtime type에서 hardware accelerator를 고르도록 안내합니다. GPU 종류와 메뉴 표시는 계정·시점에 따라 달라질 수 있으므로 특정 T4가 항상 제공된다고 약속하지 않습니다. 선택 후 연결 상태를 확인합니다. 처음 쓰는 학생에게 셀은 코드와 결과가 붙어 있는 실행 단위라고 설명합니다. 입력 값을 먼저 정한 다음 Run all을 실행합니다. 학생 개인의 승인·로그인이 필요한 화면은 본인이 내용을 확인하고 처리합니다. GPU 사용량과 실행 수명은 제한되며 실제 대기 시간을 수업 시간에 보장하지 않습니다.</a:t>
            </a:r>
          </a:p>
          <a:p/>
          <a:p>
            <a:r>
              <a:t>출처</a:t>
            </a:r>
          </a:p>
          <a:p>
            <a:r>
              <a:t>[core_cf_nb] ColabFold AlphaFold2 official notebook</a:t>
            </a:r>
          </a:p>
          <a:p>
            <a:r>
              <a:t>https://colab.research.google.com/github/sokrypton/ColabFold/blob/main/AlphaFold2.ipynb</a:t>
            </a:r>
          </a:p>
          <a:p>
            <a:r>
              <a:t>[core_colab_faq] Google Colab official FAQ</a:t>
            </a:r>
          </a:p>
          <a:p>
            <a:r>
              <a:t>https://research.google.com/colaboratory/faq.html</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3 · 서열과 기본 조건 입력</a:t>
            </a:r>
          </a:p>
          <a:p>
            <a:r>
              <a:t>시간: 96–98분 (2분)</a:t>
            </a:r>
          </a:p>
          <a:p/>
          <a:p>
            <a:r>
              <a:t>examples/calmodulin_P0DP23.fasta를 텍스트로 열고 &gt;sp로 시작하는 설명 줄은 제외합니다. 나머지 서열 줄은 이어 붙이거나 줄바꿈 포함 복사해도 공백이 제거됩니다. 단일 사슬 실습이므로 콜론을 추가하지 않습니다. query_sequence에 기본 예제 서열이 남아 있지 않은지 학생이 확인합니다. jobname은 영문·숫자·밑줄로 간단히 지정합니다. 이 calmodulin 예측에는 Ca2+를 입력하지 않으므로 결과를 실험적 apo 또는 holo 상태로 단정하지 않습니다. num_relax는 후처리 모델 수이며 예측할 서열 수가 아닙니다.</a:t>
            </a:r>
          </a:p>
          <a:p/>
          <a:p>
            <a:r>
              <a:t>출처</a:t>
            </a:r>
          </a:p>
          <a:p>
            <a:r>
              <a:t>[core_cf_nb] ColabFold AlphaFold2 official notebook</a:t>
            </a:r>
          </a:p>
          <a:p>
            <a:r>
              <a:t>https://colab.research.google.com/github/sokrypton/ColabFold/blob/main/AlphaFold2.ipynb</a:t>
            </a:r>
          </a:p>
          <a:p>
            <a:r>
              <a:t>[core_calm] UniProt P0DP23, human calmodulin-1</a:t>
            </a:r>
          </a:p>
          <a:p>
            <a:r>
              <a:t>https://www.uniprot.org/uniprotkb/P0DP23/entry</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4 · Run all과 계산 진행 확인</a:t>
            </a:r>
          </a:p>
          <a:p>
            <a:r>
              <a:t>시간: 98–100분 (2분)</a:t>
            </a:r>
          </a:p>
          <a:p/>
          <a:p>
            <a:r>
              <a:t>입력 폼을 먼저 모두 설정한 뒤 Runtime→Run all을 누릅니다. 공식 노트북은 설치, MSA 옵션, 고급 설정, 예측 셀을 순서대로 실행합니다. 초기 모델 다운로드와 MSA 서버 대기 등이 포함되므로 완료 시간은 고정하지 않습니다. num_seeds=1이 구조 하나를 뜻하지 않습니다. 현재 노트북의 Run Prediction은 num_models=5로 실행합니다. 첫 기준 예측과 후속 조건에서 모델 수와 seed 수를 맞춥니다. 중간에 실패하면 에러가 발생한 셀과 마지막 문구를 기록하고, 입력 변경 뒤에는 마지막 셀만 다시 누르지 않고 위쪽 입력부터 다시 실행합니다. 코드를 수정하지 않는 초급 경로를 가르칩니다.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5 · 결과와 MSA 다운로드</a:t>
            </a:r>
          </a:p>
          <a:p>
            <a:r>
              <a:t>시간: 100–102분 (2분)</a:t>
            </a:r>
          </a:p>
          <a:p/>
          <a:p>
            <a:r>
              <a:t>공식 노트북의 Package and download results 셀은 생성한 결과 ZIP을 다운로드합니다. 브라우저가 다운로드를 막았거나 자동 다운로드가 보이지 않으면 셀 결과와 왼쪽 Files 패널의 jobname.result.zip을 확인해 직접 다운로드합니다. 작업 폴더 이름에는 query 해시와 재실행 번호가 붙을 수 있습니다. 압축을 풀어 .a3m을 찾아 실제 calmodulin MSA로 보존하고, 다음 custom 조건에 이 파일을 재사용합니다. 3D 화면의 lDDT 색은 모델 pLDDT 신뢰도 표시이며 experimental B-factor와 같은 뜻이 아닙니다. 순위1이 물리적으로 가장 많이 존재하는 상태라는 뜻도 아닙니다. 실제 ZIP 파일 이름은 jobname 출력값을 기준으로 확인합니다.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6 · Custom MSA 업로드</a:t>
            </a:r>
          </a:p>
          <a:p>
            <a:r>
              <a:t>시간: 102–104분 (2분)</a:t>
            </a:r>
          </a:p>
          <a:p/>
          <a:p>
            <a:r>
              <a:t>MSA options 코드 셀이 실행될 때 파일 업로드 창이 나타납니다. 단순히 드롭다운만 바꾸어서는 업로드가 시작되지 않습니다. 현재 코드는 첫 번째 선택 파일을 사용하고 첫 서열로 query_sequence를 갱신하므로, UI 입력만 같다고 안심하지 말고 업로드한 A3M의 query를 반드시 비교합니다. 기본 검색 결과 A3M을 그대로 올려 custom 입력 경로를 먼저 확인한 뒤 depth를 비교합니다. 실제 AF-Cluster의 각 cluster A3M도 같은 경로로 한 번에 한 파일씩 넣습니다. Masking 파일도 도구가 만든 정상 A3M과 동일 query일 때 같은 방식으로 입력합니다. 이 강의의 12열 가상 A3M이나 단순 라벨 분할 파일을 실제 CALM1 입력에 섞지 않습니다. 각 조건은 별도 jobname과 다운로드 파일로 보관합니다. 상세 클릭 경로는 examples/colabfold_walkthrough.md에 있습니다.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AF3에서 custom MSA 지정</a:t>
            </a:r>
          </a:p>
          <a:p>
            <a:r>
              <a:t>시간: 104–105분 (1분)</a:t>
            </a:r>
          </a:p>
          <a:p/>
          <a:p>
            <a:r>
              <a:t>이 예시는 필드의 뜻을 읽는 용도다. sequence 자리에는 실제 query 전체가 필요하다. unpairedMsaPath는 JSON 파일 기준 상대 경로나 절대 경로다. pairedMsa의 빈 문자열은 paired MSA를 쓰지 않는다는 뜻이며 templates의 빈 목록은 template을 제공하지 않는다는 뜻이다. 필드를 생략하는 것과 명시적으로 빈 값으로 만드는 것은 처리 결과가 다를 수 있다. Path 필드는 입력 포맷 version 2부터 지원한다. examples/prepare_inputs.py가 실제 서열과 MSA의 일치를 확인하고 실행용 JSON을 만든다.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다른 예측 모델의 역할</a:t>
            </a:r>
          </a:p>
          <a:p>
            <a:r>
              <a:t>시간: 105–107분 (2분)</a:t>
            </a:r>
          </a:p>
          <a:p/>
          <a:p>
            <a:r>
              <a:t>사용 목적에 따라 모델을 고른다. ColabFold는 AF2를 사용하기 쉽게 만든 워크플로이며 별도의 독립 구조 모델 이름과 혼동하지 않는다. Boltz-2와 Chai-1은 여러 종류의 생체분자를 함께 다룰 수 있다. ESMFold는 언어 모델을 활용해 단일 서열에서 구조를 예측하며 별도의 입력 MSA가 필요하지 않다. 서로 다른 모델도 학습 데이터나 구조 선호를 공유할 수 있다. 한 모델에서 나온 상태가 다른 모델에서 보이지 않는다는 이유만으로 존재를 부정할 수 없다.</a:t>
            </a:r>
          </a:p>
          <a:p/>
          <a:p>
            <a:r>
              <a:t>출처</a:t>
            </a:r>
          </a:p>
          <a:p>
            <a:r>
              <a:t>[core_cf] ColabFold official repository</a:t>
            </a:r>
          </a:p>
          <a:p>
            <a:r>
              <a:t>https://github.com/sokrypton/ColabFold</a:t>
            </a:r>
          </a:p>
          <a:p>
            <a:r>
              <a:t>[core_boltz] Boltz official prediction documentation</a:t>
            </a:r>
          </a:p>
          <a:p>
            <a:r>
              <a:t>https://github.com/jwohlwend/boltz/blob/main/docs/prediction.md</a:t>
            </a:r>
          </a:p>
          <a:p>
            <a:r>
              <a:t>[core_chai] Chai-1 official repository</a:t>
            </a:r>
          </a:p>
          <a:p>
            <a:r>
              <a:t>https://github.com/chaidiscovery/chai-lab</a:t>
            </a:r>
          </a:p>
          <a:p>
            <a:r>
              <a:t>[core_esm] ESM / ESMFold official repository</a:t>
            </a:r>
          </a:p>
          <a:p>
            <a:r>
              <a:t>https://github.com/facebookresearch/esm</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Boltz-2에서 같은 A3M 사용</a:t>
            </a:r>
          </a:p>
          <a:p>
            <a:r>
              <a:t>시간: 107–108분 (1분)</a:t>
            </a:r>
          </a:p>
          <a:p/>
          <a:p>
            <a:r>
              <a:t>Boltz 공식 문서는 YAML 입력을 권장한다. 이 수업의 입력 생성기는 동일한 FASTA와 A3M에서 단량체 YAML을 만든다. msa 파일을 지정하면 해당 정렬을 사용하며 자동 MSA 서버 옵션과 구분한다. 아래 명령은 설치와 모델 파일 다운로드, 적합한 계산 자원이 준비된 환경에서 실행한다. Boltz와 AF2의 기본값과 신뢰도 점수를 숫자만으로 동일시하지 않는다. 단백질이 calmodulin이라는 이유만으로 apo/holo 구조가 저절로 구분된다고 기대하지 않는다.</a:t>
            </a:r>
          </a:p>
          <a:p/>
          <a:p>
            <a:r>
              <a:t>출처</a:t>
            </a:r>
          </a:p>
          <a:p>
            <a:r>
              <a:t>[core_boltz] Boltz official prediction documentation</a:t>
            </a:r>
          </a:p>
          <a:p>
            <a:r>
              <a:t>https://github.com/jwohlwend/boltz/blob/main/docs/prediction.md</a:t>
            </a:r>
          </a:p>
          <a:p>
            <a:r>
              <a:t>[core_calm] UniProt P0DP23, human calmodulin-1</a:t>
            </a:r>
          </a:p>
          <a:p>
            <a:r>
              <a:t>https://www.uniprot.org/uniprotkb/P0DP23/entry</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Chai-1과 ESMFold 비교 경로</a:t>
            </a:r>
          </a:p>
          <a:p>
            <a:r>
              <a:t>시간: 108–109분 (1분)</a:t>
            </a:r>
          </a:p>
          <a:p/>
          <a:p>
            <a:r>
              <a:t>Chai-1은 header에 protein이라는 entity 유형을 지정하는 전용 FASTA를 사용한다. examples/prepare_inputs.py는 필요한 형식으로 복사한다. Chai-1의 custom MSA는 .aligned.pqt 형식이므로 A3M을 그대로 넘기는 AF2 사용법과 다르다. ESMFold는 단일 서열 비교 기준으로 소개한다. 언어 모델이 훈련 과정에서 진화적 서열 통계를 학습했으므로 입력 MSA가 없다는 사실이 진화 정보가 전혀 없다는 뜻은 아니다. 모델 간 결과 차이는 어느 모델이 정답인지 단독으로 결정하지 않는다.</a:t>
            </a:r>
          </a:p>
          <a:p/>
          <a:p>
            <a:r>
              <a:t>출처</a:t>
            </a:r>
          </a:p>
          <a:p>
            <a:r>
              <a:t>[core_chai] Chai-1 official repository</a:t>
            </a:r>
          </a:p>
          <a:p>
            <a:r>
              <a:t>https://github.com/chaidiscovery/chai-lab</a:t>
            </a:r>
          </a:p>
          <a:p>
            <a:r>
              <a:t>[core_chai_msa] Chai-1 official MSA examples</a:t>
            </a:r>
          </a:p>
          <a:p>
            <a:r>
              <a:t>https://github.com/chaidiscovery/chai-lab/tree/main/examples/msas</a:t>
            </a:r>
          </a:p>
          <a:p>
            <a:r>
              <a:t>[core_esm] ESM / ESMFold official repository</a:t>
            </a:r>
          </a:p>
          <a:p>
            <a:r>
              <a:t>https://github.com/facebookresearch/esm</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번에 한 조건씩 비교</a:t>
            </a:r>
          </a:p>
          <a:p>
            <a:r>
              <a:t>시간: 109–111분 (2분)</a:t>
            </a:r>
          </a:p>
          <a:p/>
          <a:p>
            <a:r>
              <a:t>표본 수가 다르면 더 많은 계산을 한 방법이 유리할 수 있다. 방법 간 생성 구조 수, seed 목록, template 유무, 모델 버전과 recycling 설정을 맞춘다. Depth는 query를 포함하는지 기록한다. 입력 MSA 행 수와 모델 내부 max-msa의 두 한도는 구분한다. 어느 조건이 대안 구조를 더 잘 회수하는지는 동일한 평가 기준으로 비교한다. 이 실습에서는 결과를 예상해서 서열을 골라 넣기보다 조작의 의미와 대조군을 설명하는 데 중점을 둔다. Depth·group·mask 세 조건은 모두 원본 MSA에서 각각 만들며 앞 조건의 출력에 다음 조작을 연속 적용한 자료가 아닙니다.</a:t>
            </a:r>
          </a:p>
          <a:p/>
          <a:p>
            <a:r>
              <a:t>출처</a:t>
            </a:r>
          </a:p>
          <a:p>
            <a:r>
              <a:t>[core_cf] ColabFold official repository</a:t>
            </a:r>
          </a:p>
          <a:p>
            <a:r>
              <a:t>https://github.com/sokrypton/ColabFold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공정한 비교 설계</a:t>
            </a:r>
          </a:p>
          <a:p>
            <a:r>
              <a:t>시간: 111–114분 (3분)</a:t>
            </a:r>
          </a:p>
          <a:p/>
          <a:p>
            <a:r>
              <a:t>1분 개인 판단, 1분 짝 토론, 1분 공유로 운영한다. 기기가 없으면 종이에 A 또는 B와 이유를 적는다. 강사용 답: B가 행 선택 효과를 분리하기에 낫다. A는 query, template, 반복 수가 함께 바뀌어 차이의 원인을 구별하기 어렵다. B도 선택한 행 집합·MSA 유효 다양성·동일 seed 집합·코드 버전을 기록해야 재현과 해석이 가능하다. 이 답은 학생 화면에 먼저 보여주지 않는다. 한 조건씩 비교하는 원리를 설명한 직후 활동지4쪽4번을 풉니다. 실제 조작 파일은 뒤의 각 방법 설명 직후 만들어 확인합니다.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a:p>
            <a:r>
              <a:t>[ebi_inputs] EMBL-EBI / Google DeepMind training: AlphaFold2 inputs and outputs recap</a:t>
            </a:r>
          </a:p>
          <a:p>
            <a:r>
              <a:t>https://www.ebi.ac.uk/training/online/courses/alphafold/inputs-and-outputs/alphafold-inputs-and-outputs-recap/</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기준 예측부터 기록한다</a:t>
            </a:r>
          </a:p>
          <a:p>
            <a:r>
              <a:t>시간: 114–116분 (2분)</a:t>
            </a:r>
          </a:p>
          <a:p/>
          <a:p>
            <a:r>
              <a:t>이 단원의 질문은 같은 단백질에 대해 다른 구조 후보를 얻을 수 있는가이다. 첫 결과를 지우지 말고 baseline으로 보관한다. 학생에게 서열 길이까지 달라지면 무엇을 비교한 것인지 물어본다. MSA 조작의 효과를 비교할 때 query와 모델 버전, template 조건, 반복 수를 맞춘다. 뒤에서 소개할 원래 SPEACH_AF는 query도 편집하는 예외이므로, 오늘의 query 유지 실습과 구분한다.</a:t>
            </a:r>
          </a:p>
          <a:p/>
          <a:p>
            <a:r>
              <a:t>출처</a:t>
            </a:r>
          </a:p>
          <a:p>
            <a:r>
              <a:t>[ebi_inputs] EMBL-EBI / Google DeepMind training: AlphaFold2 inputs and outputs recap</a:t>
            </a:r>
          </a:p>
          <a:p>
            <a:r>
              <a:t>https://www.ebi.ac.uk/training/online/courses/alphafold/inputs-and-outputs/alphafold-inputs-and-outputs-recap/</a:t>
            </a:r>
          </a:p>
          <a:p>
            <a:r>
              <a:t>[afcluster_code] AF-Cluster author repository and ClusterMSA.py</a:t>
            </a:r>
          </a:p>
          <a:p>
            <a:r>
              <a:t>https://github.com/HWaymentSteele/AF_Cluster/blob/main/scripts/ClusterMSA.py</a:t>
            </a:r>
          </a:p>
          <a:p>
            <a:r>
              <a:t>[speach_code] SPEACH_AF author notebook: SPEACH_AF_scan.ipynb</a:t>
            </a:r>
          </a:p>
          <a:p>
            <a:r>
              <a:t>https://github.com/RSvan/SPEACH_AF/blob/main/SPEACH_AF_scan.ipynb</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행을 줄인다: MSA subsampling</a:t>
            </a:r>
          </a:p>
          <a:p>
            <a:r>
              <a:t>시간: 116–118분 (2분)</a:t>
            </a:r>
          </a:p>
          <a:p/>
          <a:p>
            <a:r>
              <a:t>아래 정렬은 원리를 설명하기 위한 가상 여덟 자리 예시이며 실제 단백질이 아니다. Query를 보존한 채 homolog 1과 3만 택한 경우를 손으로 표시하게 한다. Subsampling은 서열의 이름을 바꾸는 일이 아니라 실제 들어가는 행의 집합을 바꾸는 일이다. 같은 개수라도 중복된 서열 위주인지, 다양한 homolog를 포함하는지에 따라 정보가 달라진다. 깊이가 얕을수록 항상 더 좋은 것은 아니며 잘못 접힌 결과도 늘 수 있다.</a:t>
            </a:r>
          </a:p>
          <a:p/>
          <a:p>
            <a:r>
              <a:t>출처</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Depth를 줄인 MSA</a:t>
            </a:r>
          </a:p>
          <a:p>
            <a:r>
              <a:t>시간: 118–121분 (3분)</a:t>
            </a:r>
          </a:p>
          <a:p/>
          <a:p>
            <a:r>
              <a:t>개인1분·확인1분·해설1분. 기본 실행은 depth4/seed7이며 query,A2,A3,B1을 남깁니다. Query 포함4행, 정렬12열이고 query는 예측 대상이므로 보존합니다. 원본7행 대비 남긴 계통·열별 잔기빈도·조합빈도가 달라질 수 있습니다. 프로그램은 세 조건 파일을 한 번에 만들지만 여기서는 subsample만 봅니다. 뒤의 group과 mask도 원본7행에서 각각 만들어진 독립 조건입니다. 컴퓨터가 없으면 활동지의 지정4행을 표시합니다. 작은 가상 MSA에 실제 coevolution 유의성 검정을 적용하지 않습니다.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얕은 MSA의 효과와 한계</a:t>
            </a:r>
          </a:p>
          <a:p>
            <a:r>
              <a:t>시간: 121–123분 (2분)</a:t>
            </a:r>
          </a:p>
          <a:p/>
          <a:p>
            <a:r>
              <a:t>del Alamo 등의 eLife 연구는 일부 수송체와 수용체를 시험했다. 확대한 A 패널에서 점의 색으로 MSA 깊이를 구분하고, 실험 구조와 예측을 겹친 보기를 확인한다. 구조를 더 많이 만들었다는 사실과 정확한 다른 구조를 찾았다는 사실을 분리한다. 원 논문에서는 깊이와 template 선택이 표적마다 달랐으며 모든 단백질에 통하는 최적 깊이를 정하지 못했다. 이 결과를 모든 단백질의 자유에너지 분포를 재현했다는 주장으로 바꾸지 않는다. 슬라이드에는 원본 Figure 1의 A 패널만 확대하여 표시한다. 점의 색상별 MSA depth와 해당 구조 비교를 읽는다.</a:t>
            </a:r>
          </a:p>
          <a:p/>
          <a:p>
            <a:r>
              <a:t>출처</a:t>
            </a:r>
          </a:p>
          <a:p>
            <a:r>
              <a:t>[subsampling_paper] del Alamo et al. (2022), Sampling alternative conformational states of transporters and receptors with AlphaFold2</a:t>
            </a:r>
          </a:p>
          <a:p>
            <a:r>
              <a:t>https://elifesciences.org/articles/75751</a:t>
            </a:r>
          </a:p>
          <a:p>
            <a:r>
              <a:t>그림: Sampling alternative conformational states of transporters and receptors with AlphaFold2 — Figure 1</a:t>
            </a:r>
          </a:p>
          <a:p>
            <a:r>
              <a:t>https://elifesciences.org/articles/75751/figures#fig1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7 · 화면에서 MSA depth 비교</a:t>
            </a:r>
          </a:p>
          <a:p>
            <a:r>
              <a:t>시간: 123–126분 (3분)</a:t>
            </a:r>
          </a:p>
          <a:p/>
          <a:p>
            <a:r>
              <a:t>Advanced settings 아래 Sample settings를 펼칩니다. 현재 공식 노트북의 max_msa 선택지는 auto,512:1024,256:512,64:128,32:64,16:32입니다. 두 비교 조건에는 동일한 실제 calmodulin A3M을 업로드하고 model_type=alphafold2_ptm, num_recycles=3, num_seeds=1, use_dropout=False, template_mode=none을 함께 유지합니다. 웹 노트북은 기본적으로 다섯 모델을 사용하므로 두 조건을 모두 같은 방식으로 실행합니다. Runtime→Run all로 입력 셀부터 다시 실행하며 jobname은 조건별로 다르게 적습니다. 입력 MSA 행 수가 한도보다 작으면 그만큼만 사용됩니다. 이 설정은 교육용 비교이며 대안 상태 생성이나 정확도 향상을 보장하지 않습니다. CLI 예시는 examples/README.md에 따로 있습니다. 웹 UI에는 128:256 선택지가 없으므로 CLI 예시와 혼동하지 않습니다.</a:t>
            </a:r>
          </a:p>
          <a:p/>
          <a:p>
            <a:r>
              <a:t>출처</a:t>
            </a:r>
          </a:p>
          <a:p>
            <a:r>
              <a:t>[core_cf_cli] ColabFold batch.py official CLI implementation</a:t>
            </a:r>
          </a:p>
          <a:p>
            <a:r>
              <a:t>https://github.com/sokrypton/ColabFold/blob/main/colabfold/batch.py</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126–136분 (10분)</a:t>
            </a:r>
          </a:p>
          <a:p/>
          <a:p>
            <a:r>
              <a:t>두 번째 휴식. Depth 실습에서 생성한 폴더 위치를 기록하게 합니다. 이후 같은 폴더의 group과 masked 파일을 차례로 확인합니다.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AF-Cluster: 서열을 먼저 나누어 예측</a:t>
            </a:r>
          </a:p>
          <a:p>
            <a:r>
              <a:t>시간: 136–139분 (3분)</a:t>
            </a:r>
          </a:p>
          <a:p/>
          <a:p>
            <a:r>
              <a:t>그림에서 먼저 나누는 대상은 아직 구조가 없는 서열들임을 짚는다. AF-Cluster는 서열 유사성으로 만든 작은 MSA들을 예측에 사용한다. 그림 속 KaiB는 생체시계 단백질이며 알려진 두 접힘과 예측을 비교하는 교육 예시이다. 이 성공 사례가 모든 단백질의 숨은 상태를 찾아준다는 보장은 아니다. 논문은 온라인 2023년, Nature 권호는 2024년이므로 참고문헌 연도가 다른 이유를 짧게 설명한다. 실제 실행 단계는 examples/afcluster_guide.md를 사용한다. 공식 ClusterMSA.py의 positional 인자와 flags를 확인한 명령, query 보존 검사, cluster별 ColabFold 실행이 들어 있다. 이 자료 제작 중 실제 GPU 예측은 실행하지 않았다.</a:t>
            </a:r>
          </a:p>
          <a:p/>
          <a:p>
            <a:r>
              <a:t>출처</a:t>
            </a:r>
          </a:p>
          <a:p>
            <a:r>
              <a:t>[afcluster_paper] Wayment-Steele et al. (2024), Predicting multiple conformations via sequence clustering and AlphaFold2</a:t>
            </a:r>
          </a:p>
          <a:p>
            <a:r>
              <a:t>https://www.nature.com/articles/s41586-023-06832-9</a:t>
            </a:r>
          </a:p>
          <a:p>
            <a:r>
              <a:t>[afcluster_code] AF-Cluster author repository and ClusterMSA.py</a:t>
            </a:r>
          </a:p>
          <a:p>
            <a:r>
              <a:t>https://github.com/HWaymentSteele/AF_Cluster/blob/main/scripts/ClusterMSA.py</a:t>
            </a:r>
          </a:p>
          <a:p>
            <a:r>
              <a:t>그림: Predicting multiple conformations via sequence clustering and AlphaFold2 — Figure 1</a:t>
            </a:r>
          </a:p>
          <a:p>
            <a:r>
              <a:t>https://www.nature.com/articles/s41586-023-06832-9/figures/1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cluster에도 같은 query가 들어간다</a:t>
            </a:r>
          </a:p>
          <a:p>
            <a:r>
              <a:t>시간: 139–141분 (2분)</a:t>
            </a:r>
          </a:p>
          <a:p/>
          <a:p>
            <a:r>
              <a:t>AF-Cluster 저자 코드에서 query는 처음에 분리되고 각 cluster 파일을 쓸 때 다시 맨 앞에 붙는다. 가상 정렬에서 두 입력의 첫 줄이 완전히 같은지 학생이 확인하게 한다. 서열 cluster에 query와 먼 homolog가 포함될 수 있어도 예측 대상은 첫 query이다. 이것은 각 cluster의 대표 homolog 구조를 각각 예측하는 실험과 다른 질문이다. 실습에서는 query를 변경하거나 원본을 덮어쓰지 않는다.</a:t>
            </a:r>
          </a:p>
          <a:p/>
          <a:p>
            <a:r>
              <a:t>출처</a:t>
            </a:r>
          </a:p>
          <a:p>
            <a:r>
              <a:t>[afcluster_code] AF-Cluster author repository and ClusterMSA.py</a:t>
            </a:r>
          </a:p>
          <a:p>
            <a:r>
              <a:t>https://github.com/HWaymentSteele/AF_Cluster/blob/main/scripts/ClusterMSA.py</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서열 그룹별 입력 비교</a:t>
            </a:r>
          </a:p>
          <a:p>
            <a:r>
              <a:t>시간: 141–144분 (3분)</a:t>
            </a:r>
          </a:p>
          <a:p/>
          <a:p>
            <a:r>
              <a:t>1분 파일 읽기, 1분 비교, 1분 해설로 진행합니다. 각 그룹은 query 1행과 해당 homolog 3행으로 총 4행입니다. 교육용 header의 group=A/B에 따라 미리 분리했으며 거리 기반 AF-Cluster를 구현한 것이 아닙니다. A homolog의 5열은 F,F,gap이고 B의 5열은 Y,Y,Y입니다. A의 11열은 M,M,M이고 B는 X,gap,X입니다. 두 열을 비교해 선택한 서열 집합이 잔기 분포와 coverage까지 바꿈을 확인합니다. Coevolution 활동지 3쪽에서는 가상 gene history를 주었지만 이 파일에는 ortholog/paralog 판정 근거가 없습니다. Cluster마다 같은 query를 넣어도 구조 상태 분류나 공진화 증명이 되지는 않습니다. 실제 clustering 명령은 examples/afcluster_guide.md로 시연합니다.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서열 cluster는 열역학적 상태가 아니다</a:t>
            </a:r>
          </a:p>
          <a:p>
            <a:r>
              <a:t>시간: 144–146분 (2분)</a:t>
            </a:r>
          </a:p>
          <a:p/>
          <a:p>
            <a:r>
              <a:t>앞 단원에서 배운 종분화와 유전자 중복을 연결한다. Ortholog와 paralog는 진화 사건에 대한 관계이고 open과 closed는 구조 상태에 대한 말이다. 서열 유사성만으로 만든 집합은 ortholog만을 보장하지 않으며 기능적 분화도 포함할 수 있다. 어떤 sequence cluster에서 구조가 잘 나왔다는 사실만으로 그 집합이 특정 열역학적 상태를 뜻한다고 부르지 않는다. 종별 서열 데이터 수가 많다는 사실도 분자의 상태 점유율과는 무관하다.</a:t>
            </a:r>
          </a:p>
          <a:p/>
          <a:p>
            <a:r>
              <a:t>출처</a:t>
            </a:r>
          </a:p>
          <a:p>
            <a:r>
              <a:t>[afcluster_paper] Wayment-Steele et al. (2024), Predicting multiple conformations via sequence clustering and AlphaFold2</a:t>
            </a:r>
          </a:p>
          <a:p>
            <a:r>
              <a:t>https://www.nature.com/articles/s41586-023-06832-9</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2025년 논쟁: 비교 조건을 읽는다</a:t>
            </a:r>
          </a:p>
          <a:p>
            <a:r>
              <a:t>시간: 146–147분 (1분)</a:t>
            </a:r>
          </a:p>
          <a:p/>
          <a:p>
            <a:r>
              <a:t>Schafer 등은 Nature Matters Arising에서 CF-random과 비교하고 evolutionary coupling 해석에 이의를 제기했다. Wayment-Steele 등의 2025년 JMB 응답은 비교 조건의 혼입을 지적하고 추가 분석으로 반박했다. 두 문헌을 함께 소개하며 한쪽의 제목을 확정된 결론처럼 읽지 않는다. 학생에게 비교에서 MSA 깊이, 모델 설정, seed 수가 달라지면 어느 요인의 효과인지 구분 가능한지 묻는다. 여기서 보편적 우승 방법을 정하지 않고 연구 질문에 맞는 대조 실험의 중요성을 가르친다.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가지 clustering을 구별한다</a:t>
            </a:r>
          </a:p>
          <a:p>
            <a:r>
              <a:t>시간: 147–148분 (1분)</a:t>
            </a:r>
          </a:p>
          <a:p/>
          <a:p>
            <a:r>
              <a:t>Clustering이라는 단어만 보지 말고 무엇을 어떤 거리로 묶었는지 확인하게 한다. 입력에서는 정렬된 서열의 차이를 이용한다. 출력에서는 적절히 정렬한 좌표나 도메인 간 거리, 접촉 양상처럼 질문에 맞는 구조 특징을 이용한다. 입력이 세 그룹이어도 출력이 두 구조 그룹일 수 있고 반대도 가능하다. 이 표는 일반 분석 설계이며 특정 논문의 cluster 수를 재현한 자료가 아니다.</a:t>
            </a:r>
          </a:p>
          <a:p/>
          <a:p>
            <a:r>
              <a:t>출처</a:t>
            </a:r>
          </a:p>
          <a:p>
            <a:r>
              <a:t>[afcluster_code] AF-Cluster author repository and ClusterMSA.py</a:t>
            </a:r>
          </a:p>
          <a:p>
            <a:r>
              <a:t>https://github.com/HWaymentSteele/AF_Cluster/blob/main/scripts/ClusterMSA.py</a:t>
            </a:r>
          </a:p>
          <a:p>
            <a:r>
              <a:t>[afsample2_code] wallnerlab/AFsample2 author repository</a:t>
            </a:r>
          </a:p>
          <a:p>
            <a:r>
              <a:t>https://github.com/wallnerlab/AFsample2</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열을 가린다: unknown X와 gap의 차이</a:t>
            </a:r>
          </a:p>
          <a:p>
            <a:r>
              <a:t>시간: 148–150분 (2분)</a:t>
            </a:r>
          </a:p>
          <a:p/>
          <a:p>
            <a:r>
              <a:t>이 예시는 AFsample2의 아이디어를 가상 정렬로 설명한다. Homolog의 네 번째 정렬 위치만 X로 가렸고 query는 그대로임을 확인한다. X를 gap으로 대신 쓰면 같은 의미가 아니며, 열 자체를 지우면 길이와 좌표 대응도 바뀐다. A3M에서는 소문자 insertion이 정렬 열에 그대로 세어지는 것이 아니므로 실제 입력에서는 포맷을 이해해야 한다. 여기서는 모두 대문자와 gap만 있는 작은 정렬로 열의 의미에 집중한다.</a:t>
            </a:r>
          </a:p>
          <a:p/>
          <a:p>
            <a:r>
              <a:t>출처</a:t>
            </a:r>
          </a:p>
          <a:p>
            <a:r>
              <a:t>[afsample2_paper] Kalakoti and Wallner (2025), AFsample2 predicts multiple conformations and ensembles with AlphaFold2</a:t>
            </a:r>
          </a:p>
          <a:p>
            <a:r>
              <a:t>https://www.nature.com/articles/s42003-025-07791-9</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정렬 열을 X로 가리기</a:t>
            </a:r>
          </a:p>
          <a:p>
            <a:r>
              <a:t>시간: 150–153분 (3분)</a:t>
            </a:r>
          </a:p>
          <a:p/>
          <a:p>
            <a:r>
              <a:t>1분 손계산, 1분 출력 대조, 1분 해설로 진행합니다. A2의 결과는 ACDeeEXGXIKXMN입니다. Query, 소문자 ee, 기존 gap은 보존하고 homolog의 5·7·10열 잔기 정체를 가립니다. 먼저 파일 전체를 대문자로 바꾸면 삽입이 정렬 열이 되어 잘못된 위치를 가리게 됩니다. 선택 열의 기존 gap은 그대로 두며 X는 gap과 다릅니다. Mask는 해당 열의 보존도와 다른 열과의 조합 정보를 함께 약화시킬 수 있습니다. 실제 모델의 X 처리와 다른 입력에 따라 예측 반응이 다르므로 특정 접촉만 선택적으로 꺼졌다고 해석하지 않습니다.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SPEACH_AF와 AFsample2는 같은 편집이 아니다</a:t>
            </a:r>
          </a:p>
          <a:p>
            <a:r>
              <a:t>시간: 153–156분 (3분)</a:t>
            </a:r>
          </a:p>
          <a:p/>
          <a:p>
            <a:r>
              <a:t>Alanine은 실제 아미노산 A이고 unknown X와 다르다. 원 SPEACH_AF 논문과 저자 notebook은 선택한 위치를 정렬의 모든 서열에서 A로 편집하며 query도 포함하고 gap은 유지한다. 따라서 query를 고정한 마스킹 실습을 원 논문의 정확한 재현이라고 부르면 안 된다. AFsample2 논문은 query 첫 행을 제외하고 무작위로 선택한 열을 X로 바꾸고 dropout과 결합한다. 이 슬라이드는 방법 개념 비교이며 특정 단백질의 치환 설계를 다루지 않는다.</a:t>
            </a:r>
          </a:p>
          <a:p/>
          <a:p>
            <a:r>
              <a:t>출처</a:t>
            </a:r>
          </a:p>
          <a:p>
            <a:r>
              <a:t>[speach_paper] Stein and Mchaourab (2022), SPEACH_AF: Sampling protein ensembles and conformational heterogeneity with Alphafold2</a:t>
            </a:r>
          </a:p>
          <a:p>
            <a:r>
              <a:t>https://journals.plos.org/ploscompbiol/article?id=10.1371/journal.pcbi.1010483</a:t>
            </a:r>
          </a:p>
          <a:p>
            <a:r>
              <a:t>[speach_code] SPEACH_AF author notebook: SPEACH_AF_scan.ipynb</a:t>
            </a:r>
          </a:p>
          <a:p>
            <a:r>
              <a:t>https://github.com/RSvan/SPEACH_AF/blob/main/SPEACH_AF_scan.ipynb</a:t>
            </a:r>
          </a:p>
          <a:p>
            <a:r>
              <a:t>[afsample2_paper] Kalakoti and Wallner (2025), AFsample2 predicts multiple conformations and ensembles with AlphaFold2</a:t>
            </a:r>
          </a:p>
          <a:p>
            <a:r>
              <a:t>https://www.nature.com/articles/s42003-025-07791-9</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AFsample2의 입력과 출력</a:t>
            </a:r>
          </a:p>
          <a:p>
            <a:r>
              <a:t>시간: 156–158분 (2분)</a:t>
            </a:r>
          </a:p>
          <a:p/>
          <a:p>
            <a:r>
              <a:t>그림 a에서 MSA 가로와 세로 방향을 손으로 가리키며 앞 두 실습을 연결한다. 예측 뒤에는 구조 파일을 분석하여 후보의 품질과 다양성을 확인해야 한다. 논문의 일부 benchmark에서 대안 구조와 비슷한 후보를 더 잘 찾았지만 효과는 표적과 설정에 의존한다. 두 알려진 구조 사이에 보이는 모델은 가능한 중간 구조 가설이며 실제 전이 경로 위에 있다는 증명은 아니다. 슬라이드는 원본 Figure 1a만 확대해 표시한다. 저자의 제안 개념도이며 마스킹이 열림을 일으킨다는 직접 증거가 아니다. 실제 AFsample2에서 query 첫 행은 유지한다.</a:t>
            </a:r>
          </a:p>
          <a:p/>
          <a:p>
            <a:r>
              <a:t>출처</a:t>
            </a:r>
          </a:p>
          <a:p>
            <a:r>
              <a:t>[afsample2_paper] Kalakoti and Wallner (2025), AFsample2 predicts multiple conformations and ensembles with AlphaFold2</a:t>
            </a:r>
          </a:p>
          <a:p>
            <a:r>
              <a:t>https://www.nature.com/articles/s42003-025-07791-9</a:t>
            </a:r>
          </a:p>
          <a:p>
            <a:r>
              <a:t>그림: AFsample2 predicts multiple conformations and ensembles with AlphaFold2 — Figure 1</a:t>
            </a:r>
          </a:p>
          <a:p>
            <a:r>
              <a:t>https://www.nature.com/articles/s42003-025-07791-9/figures/1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제목에 open을 쓰면 열릴까?</a:t>
            </a:r>
          </a:p>
          <a:p>
            <a:r>
              <a:t>시간: 158–160분 (2분)</a:t>
            </a:r>
          </a:p>
          <a:p/>
          <a:p>
            <a:r>
              <a:t>학생에게 첫 두 레코드에서 바뀐 것이 실제 아미노산인지 이름인지 묻는다. Open이라고 이름을 붙였다는 이유로 열린 구조를 요구하는 프롬프트가 되는 것은 아니다. 다만 header는 언제나 무의미하다고 설명해서도 안 된다. 일부 multimer 파이프라인은 종 식별 정보를 읽어 MSA pairing에 사용하므로 임의로 바꾸면 입력 처리에 영향을 줄 수 있다. 단량체의 자유로운 별칭과 구조 예측용 생물학적 metadata를 구별한다.</a:t>
            </a:r>
          </a:p>
          <a:p/>
          <a:p>
            <a:r>
              <a:t>출처</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Seed·dropout·template도 별도 요인이다</a:t>
            </a:r>
          </a:p>
          <a:p>
            <a:r>
              <a:t>시간: 160–162분 (2분)</a:t>
            </a:r>
          </a:p>
          <a:p/>
          <a:p>
            <a:r>
              <a:t>Seed를 바꾸면 같은 설정에서 다른 결과가 나올 가능성이 있지만 반드시 다른 구조가 생기지는 않는다. Dropout은 구현이 지원하는 경우에만 추론에서 활성화할 수 있으며, 다양성을 높여도 물리적 온도를 올리는 실험은 아니다. Template은 강한 사전 정보가 될 수 있어 독립적인 발견이라는 주장과 구분한다. 같은 MSA 두 조건을 비교한다면 나머지 설정과 반복 수를 맞추고 모두 기록해야 한다. 이 표는 요인 분리를 위한 설명이며 GPU 실행 지침이 아니다.</a:t>
            </a:r>
          </a:p>
          <a:p/>
          <a:p>
            <a:r>
              <a:t>출처</a:t>
            </a:r>
          </a:p>
          <a:p>
            <a:r>
              <a:t>[ebi_inputs] EMBL-EBI / Google DeepMind training: AlphaFold2 inputs and outputs recap</a:t>
            </a:r>
          </a:p>
          <a:p>
            <a:r>
              <a:t>https://www.ebi.ac.uk/training/online/courses/alphafold/inputs-and-outputs/alphafold-inputs-and-outputs-recap/</a:t>
            </a:r>
          </a:p>
          <a:p>
            <a:r>
              <a:t>[afsample2_code] wallnerlab/AFsample2 author repository</a:t>
            </a:r>
          </a:p>
          <a:p>
            <a:r>
              <a:t>https://github.com/wallnerlab/AFsample2</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AF2 근거를 AF3에 그대로 옮길 수는 없다</a:t>
            </a:r>
          </a:p>
          <a:p>
            <a:r>
              <a:t>시간: 162–163분 (1분)</a:t>
            </a:r>
          </a:p>
          <a:p/>
          <a:p>
            <a:r>
              <a:t>AF3는 단백질 외 분자를 함께 다루는 모델이며 구조 생성 방식도 AF2와 다르다. 로컬 공식 AF3 문서는 custom A3M을 지원하지만 첫 서열과 query의 일치를 요구한다. 공개 AlphaFold Server와 로컬 코드의 입력 제어 범위가 같다고 가정하지 않는다. AFsample3 연구 저장소가 존재함을 확인했으므로 AF3에서는 불가능하다고 단정하지 않는다. 동시에 이 강의의 AF2 benchmark 수치를 AF3의 성능 수치로 제시하지 않는다.</a:t>
            </a:r>
          </a:p>
          <a:p/>
          <a:p>
            <a:r>
              <a:t>출처</a:t>
            </a:r>
          </a:p>
          <a:p>
            <a:r>
              <a:t>[af3_paper] Abramson et al. (2024), Accurate structure prediction of biomolecular interactions with AlphaFold 3</a:t>
            </a:r>
          </a:p>
          <a:p>
            <a:r>
              <a:t>https://www.nature.com/articles/s41586-024-07487-w</a:t>
            </a:r>
          </a:p>
          <a:p>
            <a:r>
              <a:t>[af3_input] Google DeepMind AlphaFold 3 input documentation</a:t>
            </a:r>
          </a:p>
          <a:p>
            <a:r>
              <a:t>https://github.com/google-deepmind/alphafold3/blob/main/docs/input.md</a:t>
            </a:r>
          </a:p>
          <a:p>
            <a:r>
              <a:t>[afsample3_code] wallnerlab/afsample3 research implementation</a:t>
            </a:r>
          </a:p>
          <a:p>
            <a:r>
              <a:t>https://github.com/wallnerlab/afsample3</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대표 후보는 품질과 다양성을 함께 본다</a:t>
            </a:r>
          </a:p>
          <a:p>
            <a:r>
              <a:t>시간: 163–166분 (3분)</a:t>
            </a:r>
          </a:p>
          <a:p/>
          <a:p>
            <a:r>
              <a:t>아래는 실제 AF2 출력이 아닌 교사의 가상 판단 연습이다. 먼저 평균 pLDDT만 읽지 말고 변한 부위와 domain 사이 PAE, 기하학적 이상을 보도록 한다. 강사용 토론 예: A와 B는 비교할 대표 후보로 보관하고 C는 잠정 보류, D는 A와 중복임을 표시한다. B의 더 큰 구조 차이가 정답을 뜻하지 않으며 후속 독립 증거가 필요하다. 전체 사슬을 무조건 맞추면 움직임이 희석될 수 있어 비교 core와 잔기 범위를 기록한다.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[speach_paper] Stein and Mchaourab (2022), SPEACH_AF: Sampling protein ensembles and conformational heterogeneity with Alphafold2</a:t>
            </a:r>
          </a:p>
          <a:p>
            <a:r>
              <a:t>https://journals.plos.org/ploscompbiol/article?id=10.1371/journal.pcbi.1010483</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pLDDT·PAE를 상태 확률로 읽지 않는다</a:t>
            </a:r>
          </a:p>
          <a:p>
            <a:r>
              <a:t>시간: 166–168분 (2분)</a:t>
            </a:r>
          </a:p>
          <a:p/>
          <a:p>
            <a:r>
              <a:t>pLDDT는 AF2에서 잔기별 국소 정확도에 대한 예측 점수이고 PAE는 한 위치를 기준으로 맞췄을 때 다른 위치에 예상되는 오차이다. 둘 다 해당 조건에서 분자가 그 상태에 머무는 평형 확률을 출력한 값은 아니다. 같은 실험 조건을 표현하는 물리적 ensemble이 아니라 MSA·seed·template 설정에 민감한 생성 결과라는 점을 반복한다. 상태 점유율 또는 자유에너지를 주장하려면 그 목적에 맞는 독립적인 실험과 보정 근거가 추가되어야 한다.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예측 구조 비교의 기준</a:t>
            </a:r>
          </a:p>
          <a:p>
            <a:r>
              <a:t>시간: 168–170분 (2분)</a:t>
            </a:r>
          </a:p>
          <a:p/>
          <a:p>
            <a:r>
              <a:t>RMSD는 구조를 맞추는 원자 선택에 따라 달라진다. 전체를 정렬한 RMSD와 한 도메인에 정렬한 뒤 다른 도메인의 이동을 보는 것은 다른 질문이다. 잔기 번호가 다른 경우 서열 대응부터 확인한다. PAE는 실제 구조를 비교해 측정한 오차가 아니라 모델의 예측 오차다. 단량체 평균 pLDDT가 높아도 도메인 간 상대 배치는 불확실할 수 있다. 점수만 읽지 말고 같은 색과 표시 방식으로 구조를 관찰하도록 한다.</a:t>
            </a:r>
          </a:p>
          <a:p/>
          <a:p>
            <a:r>
              <a:t>출처</a:t>
            </a:r>
          </a:p>
          <a:p>
            <a:r>
              <a:t>[core_af3_output] AlphaFold 3 official output documentation</a:t>
            </a:r>
          </a:p>
          <a:p>
            <a:r>
              <a:t>https://github.com/google-deepmind/alphafold3/blob/main/docs/output.md</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대안 구조 후보 선택</a:t>
            </a:r>
          </a:p>
          <a:p>
            <a:r>
              <a:t>시간: 170–175분 (5분)</a:t>
            </a:r>
          </a:p>
          <a:p/>
          <a:p>
            <a:r>
              <a:t>practice/synthetic_comparison.json의 8개 중 4개 행을 발췌했다. 가상 180잔기 표적이며 12열 가상 A3M에서 계산한 값이 아니다. 선택 거리는 40번과 140번 Cα 사이 거리이며 PAE는 구간 20–70과 110–160 사이 두 방향 블록의 평균이다. F1/F2는 가까운 거리, S1은 더 먼 거리를 보여 서로 다른 후보를 검토할 수 있다. S2는 낮은 평균 pLDDT와 높은 PAE 때문에 먼저 품질을 확인한다. F2의 평균 pLDDT가 가장 높아도 이 하나만 남기면 다양성을 놓칠 수 있다. 두 상태의 실재 여부나 점유율은 이 가상 표에서 알 수 없다. 전체 8행 비교와 상세 답안은 practice/instructor_answers.md에 있다. pLDDT·PAE와 구조 비교 기준 설명 직후 활동지5쪽을 풉니다. 핵심은1번과3번이며 시간이 남으면2번을 토의합니다.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여러 구조를 얻은 뒤 남는 질문</a:t>
            </a:r>
          </a:p>
          <a:p>
            <a:r>
              <a:t>시간: 175–176분 (1분)</a:t>
            </a:r>
          </a:p>
          <a:p/>
          <a:p>
            <a:r>
              <a:t>마지막으로 각자가 후보라는 단어를 포함해 결론 한 문장을 작성하게 한다. 강사용 예: MSA 입력을 바꾸자 같은 query에서 구조적으로 다른 후보가 나왔으며 실제 상태인지는 추가 검증이 필요하다. 그림을 열린 순서대로 나열하거나 보간한 영상은 설명용 시각화이며 분자 궤적이 아니다. 상태 간 전환 속도와 경로는 별도의 동역학 근거를 요구한다. 방금 수행한 실습을 돌아보며 어떤 입력을 바꿨는지, 결과에서 어디가 달랐는지, 무엇을 아직 모르는지를 한 묶음으로 기록한다.</a:t>
            </a:r>
          </a:p>
          <a:p/>
          <a:p>
            <a:r>
              <a:t>출처</a:t>
            </a:r>
          </a:p>
          <a:p>
            <a:r>
              <a:t>[afsample2_paper] Kalakoti and Wallner (2025), AFsample2 predicts multiple conformations and ensembles with AlphaFold2</a:t>
            </a:r>
          </a:p>
          <a:p>
            <a:r>
              <a:t>https://www.nature.com/articles/s42003-025-07791-9</a:t>
            </a:r>
          </a:p>
          <a:p>
            <a:r>
              <a:t>[af3_paper]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최종 설명 활동</a:t>
            </a:r>
          </a:p>
          <a:p>
            <a:r>
              <a:t>시간: 176–178분 (2분)</a:t>
            </a:r>
          </a:p>
          <a:p/>
          <a:p>
            <a:r>
              <a:t>첫 주장에는 ortholog 사이에도 남는 공통 조상 효과와 간접 관계, 접촉 검증이 빠졌다. 두 번째에는 서열 cluster와 구조 상태의 대응 검증이 빠졌다. 세 번째에는 샘플링 분포가 물리적 평형분포에 대응한다는 검증이 빠졌다. 학생에게 무조건 틀렸다고 외우게 하기보다 무엇을 추가로 알아야 하는지 묻는다. 평가 기준은 사건 기준으로 관계를 설명하는가, 입력 분할과 구조 분류를 구분하는가, 모델 점수와 물리적 확률을 구분하는가이다. 정답은 배포 활동지에 넣지 않는다.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배운 내용</a:t>
            </a:r>
          </a:p>
          <a:p>
            <a:r>
              <a:t>시간: 178–179분 (1분)</a:t>
            </a:r>
          </a:p>
          <a:p/>
          <a:p>
            <a:r>
              <a:t>학생이 자기 연구 대상에 적용할 때 첫 질문은 어떤 단백질이며 어떤 구조 차이를 확인하려는가이다. 모든 단백질에서 여러 상태를 얻는 것이 수업의 성공 기준은 아니다. 변화를 얻지 못해도 입력 품질과 대조 조건을 확인하면 의미 있는 기록이다. 후속 과제로 benign한 관심 단백질 하나의 accession, 서열 경계, MSA 기준선, 조작 조건, 판정 지표를 제안하도록 할 수 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논문과 실행 문서</a:t>
            </a:r>
          </a:p>
          <a:p>
            <a:r>
              <a:t>시간: 179–180분 (1분)</a:t>
            </a:r>
          </a:p>
          <a:p/>
          <a:p>
            <a:r>
              <a:t>관련 문서는 계속 바뀌므로 실제 시연 전에 설치한 버전의 도움말과 공식 문서를 다시 확인한다. 이 강의는 MSA 조작을 손쉽게 상태를 제어하는 보장된 절차로 설명하지 않는다. 모든 수치 예제와 가상 서열은 실제 실험 자료와 명확히 구분한다. 주요 논문과 도구 문서 링크를 소개하고 질문을 받는다.</a:t>
            </a:r>
          </a:p>
          <a:p/>
          <a:p>
            <a:r>
              <a:t>출처</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a:p>
            <a:r>
              <a:t>[core_cf] ColabFold official repository</a:t>
            </a:r>
          </a:p>
          <a:p>
            <a:r>
              <a:t>https://github.com/sokrypton/ColabFold</a:t>
            </a:r>
          </a:p>
          <a:p>
            <a:r>
              <a:t>[core_boltz] Boltz official prediction documentation</a:t>
            </a:r>
          </a:p>
          <a:p>
            <a:r>
              <a:t>https://github.com/jwohlwend/boltz/blob/main/docs/prediction.md</a:t>
            </a:r>
          </a:p>
          <a:p>
            <a:r>
              <a:t>[core_chai] Chai-1 official repository</a:t>
            </a:r>
          </a:p>
          <a:p>
            <a:r>
              <a:t>https://github.com/chaidiscovery/chai-lab</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sokrypton/ColabFold/blob/main/AlphaFold2.ipynb" TargetMode="Externa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elifesciences.org/articles/75751"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www.nature.com/articles/s41586-023-06832-9"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nature.com/articles/s42003-025-07791-9"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ature.com/articles/s41586-021-03819-2" TargetMode="External"/><Relationship Id="rId3" Type="http://schemas.openxmlformats.org/officeDocument/2006/relationships/hyperlink" Target="https://www.nature.com/articles/s41586-024-07487-w" TargetMode="External"/><Relationship Id="rId4" Type="http://schemas.openxmlformats.org/officeDocument/2006/relationships/hyperlink" Target="https://github.com/sokrypton/ColabFold" TargetMode="External"/><Relationship Id="rId5" Type="http://schemas.openxmlformats.org/officeDocument/2006/relationships/hyperlink" Target="https://github.com/jwohlwend/boltz/blob/main/docs/prediction.md" TargetMode="External"/><Relationship Id="rId6" Type="http://schemas.openxmlformats.org/officeDocument/2006/relationships/hyperlink" Target="https://github.com/chaidiscovery/chai-lab" TargetMode="External"/><Relationship Id="rId7" Type="http://schemas.openxmlformats.org/officeDocument/2006/relationships/notesSlide" Target="../notesSlides/notesSlide7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85800" y="594360"/>
            <a:ext cx="10789920" cy="411480"/>
          </a:xfrm>
          <a:prstGeom prst="rect">
            <a:avLst/>
          </a:prstGeom>
          <a:noFill/>
        </p:spPr>
        <p:txBody>
          <a:bodyPr wrap="square" lIns="18288" rIns="18288" tIns="9144" bIns="9144">
            <a:spAutoFit/>
          </a:bodyPr>
          <a:lstStyle/>
          <a:p>
            <a:pPr>
              <a:lnSpc>
                <a:spcPct val="113000"/>
              </a:lnSpc>
            </a:pPr>
            <a:r>
              <a:rPr sz="1800" b="1" lang="ko-KR">
                <a:solidFill>
                  <a:srgbClr val="277F87"/>
                </a:solidFill>
                <a:latin typeface="Arial Unicode MS"/>
                <a:ea typeface="Arial Unicode MS"/>
              </a:rPr>
              <a:t>UST · 2강</a:t>
            </a:r>
          </a:p>
        </p:txBody>
      </p:sp>
      <p:sp>
        <p:nvSpPr>
          <p:cNvPr id="3" name="TextBox 2"/>
          <p:cNvSpPr txBox="1"/>
          <p:nvPr/>
        </p:nvSpPr>
        <p:spPr>
          <a:xfrm>
            <a:off x="685800" y="1508760"/>
            <a:ext cx="10789920" cy="1600200"/>
          </a:xfrm>
          <a:prstGeom prst="rect">
            <a:avLst/>
          </a:prstGeom>
          <a:noFill/>
        </p:spPr>
        <p:txBody>
          <a:bodyPr wrap="square" lIns="18288" rIns="18288" tIns="9144" bIns="9144">
            <a:spAutoFit/>
          </a:bodyPr>
          <a:lstStyle/>
          <a:p>
            <a:pPr>
              <a:lnSpc>
                <a:spcPct val="113000"/>
              </a:lnSpc>
            </a:pPr>
            <a:r>
              <a:rPr sz="4400" b="1" lang="ko-KR">
                <a:solidFill>
                  <a:srgbClr val="183342"/>
                </a:solidFill>
                <a:latin typeface="Arial Unicode MS"/>
                <a:ea typeface="Arial Unicode MS"/>
              </a:rPr>
              <a:t>MSA와</a:t>
            </a:r>
          </a:p>
          <a:p>
            <a:pPr>
              <a:lnSpc>
                <a:spcPct val="113000"/>
              </a:lnSpc>
            </a:pPr>
            <a:r>
              <a:rPr sz="4400" b="1" lang="ko-KR">
                <a:solidFill>
                  <a:srgbClr val="183342"/>
                </a:solidFill>
                <a:latin typeface="Arial Unicode MS"/>
                <a:ea typeface="Arial Unicode MS"/>
              </a:rPr>
              <a:t>단백질 구조 예측</a:t>
            </a:r>
          </a:p>
        </p:txBody>
      </p:sp>
      <p:sp>
        <p:nvSpPr>
          <p:cNvPr id="4" name="TextBox 3"/>
          <p:cNvSpPr txBox="1"/>
          <p:nvPr/>
        </p:nvSpPr>
        <p:spPr>
          <a:xfrm>
            <a:off x="713232" y="3337560"/>
            <a:ext cx="10698480" cy="594360"/>
          </a:xfrm>
          <a:prstGeom prst="rect">
            <a:avLst/>
          </a:prstGeom>
          <a:noFill/>
        </p:spPr>
        <p:txBody>
          <a:bodyPr wrap="square" lIns="18288" rIns="18288" tIns="9144" bIns="9144">
            <a:spAutoFit/>
          </a:bodyPr>
          <a:lstStyle/>
          <a:p>
            <a:pPr>
              <a:lnSpc>
                <a:spcPct val="113000"/>
              </a:lnSpc>
            </a:pPr>
            <a:r>
              <a:rPr sz="2900" b="0" lang="ko-KR">
                <a:solidFill>
                  <a:srgbClr val="277F87"/>
                </a:solidFill>
                <a:latin typeface="Arial Unicode MS"/>
                <a:ea typeface="Arial Unicode MS"/>
              </a:rPr>
              <a:t>진화 관계와 대안 구조 탐색</a:t>
            </a:r>
          </a:p>
        </p:txBody>
      </p:sp>
      <p:sp>
        <p:nvSpPr>
          <p:cNvPr id="5" name="TextBox 4"/>
          <p:cNvSpPr txBox="1"/>
          <p:nvPr/>
        </p:nvSpPr>
        <p:spPr>
          <a:xfrm>
            <a:off x="731520" y="4251960"/>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Ortholog·paralog와 공진화(coevolution)를 구조 예측의 단서로 읽기</a:t>
            </a:r>
          </a:p>
        </p:txBody>
      </p:sp>
      <p:sp>
        <p:nvSpPr>
          <p:cNvPr id="6" name="TextBox 5"/>
          <p:cNvSpPr txBox="1"/>
          <p:nvPr/>
        </p:nvSpPr>
        <p:spPr>
          <a:xfrm>
            <a:off x="731520" y="4796155"/>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개념 설명 직후 짧은 실습 · 휴식 포함 3시간</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000–001분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 / 75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Homology: 얼마나 닮았나보다 어디에서 왔나</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말하나</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Homology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공통 조상에서 유래한 관계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정렬에서 같은 잔기의 비율</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Similarity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정의한 점수 체계에서 유사한 잔기 관계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상동성(homology)은 공통 조상에서 유래했다는 관계</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“70% homology” 대신 “정의한 정렬에서 70% identity”라고 표현</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001–003분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 / 75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Ortholog와 paralog: 갈라진 사건을 묻는다</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관계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기준 사건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기억할 점</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Ortholog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종 분화(Speciation, S)</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기능 동일성을 보장하지 않음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유전자 중복(Duplication, 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종 또는 다른 종에 존재</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유전자의 가장 최근 공통 조상에서 일어난 사건을 확인</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종 이름·서열 유사도·기능의 같고 다름만으로 정하지 않음</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003–005분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 / 75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Species tree와 gene tree는 다른 질문</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예시</a:t>
            </a:r>
          </a:p>
          <a:p>
            <a:pPr>
              <a:lnSpc>
                <a:spcPts val="2372"/>
              </a:lnSpc>
            </a:pPr>
            <a:r>
              <a:rPr sz="2100" b="0" lang="ko-KR">
                <a:solidFill>
                  <a:srgbClr val="183342"/>
                </a:solidFill>
                <a:latin typeface="Courier New"/>
                <a:ea typeface="Arial Unicode MS"/>
              </a:rPr>
              <a:t>Species tree          Gene tree</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   B                 D   B_g</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A_g1 A_g2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 = 종 분화, D = 유전자 중복</a:t>
            </a:r>
          </a:p>
          <a:p>
            <a:pPr>
              <a:lnSpc>
                <a:spcPct val="113000"/>
              </a:lnSpc>
            </a:pPr>
            <a:r>
              <a:rPr sz="1800" b="0" lang="ko-KR">
                <a:solidFill>
                  <a:srgbClr val="277F87"/>
                </a:solidFill>
                <a:latin typeface="Arial Unicode MS"/>
                <a:ea typeface="Arial Unicode MS"/>
              </a:rPr>
              <a:t>A와 B는 종 이름; A_g1 등은 유전자 이름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Species tree: 종들의 분기 관계</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Gene tree: 특정 유전자 가족의 계보와 중복·소실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005–007분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 / 75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1: 종 분화보다 먼저 중복되었다면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중복 → 종 분화</a:t>
            </a:r>
          </a:p>
          <a:p>
            <a:pPr>
              <a:lnSpc>
                <a:spcPts val="2372"/>
              </a:lnSpc>
            </a:pPr>
            <a:r>
              <a:rPr sz="2100" b="0" lang="ko-KR">
                <a:solidFill>
                  <a:srgbClr val="183342"/>
                </a:solidFill>
                <a:latin typeface="Courier New"/>
                <a:ea typeface="Arial Unicode MS"/>
              </a:rPr>
              <a:t>              D</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A_1 B_1     A_2 B_2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D에서 1번·2번 유전자 계열이 먼저 나뉨</a:t>
            </a:r>
          </a:p>
          <a:p>
            <a:pPr>
              <a:lnSpc>
                <a:spcPct val="113000"/>
              </a:lnSpc>
            </a:pPr>
            <a:r>
              <a:rPr sz="1800" b="0" lang="ko-KR">
                <a:solidFill>
                  <a:srgbClr val="277F87"/>
                </a:solidFill>
                <a:latin typeface="Arial Unicode MS"/>
                <a:ea typeface="Arial Unicode MS"/>
              </a:rPr>
              <a:t>두 S는 같은 A–B 종 분화를 각 유전자 계열에서 표시</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A_1–B_1은 ortholog; A_1–A_2와 A_1–B_2는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같은 종 안의 관계와 다른 종 사이의 관계를 모두 확인</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007–009분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05 / 75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2: 종 분화 뒤에 중복되었다면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종 분화 → 중복</a:t>
            </a:r>
          </a:p>
          <a:p>
            <a:pPr>
              <a:lnSpc>
                <a:spcPts val="2372"/>
              </a:lnSpc>
            </a:pPr>
            <a:r>
              <a:rPr sz="2100" b="0" lang="ko-KR">
                <a:solidFill>
                  <a:srgbClr val="183342"/>
                </a:solidFill>
                <a:latin typeface="Courier New"/>
                <a:ea typeface="Arial Unicode MS"/>
              </a:rPr>
              <a:t>              S</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D       B_1</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A_1 A_2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 계통에만 중복이 생긴 경우</a:t>
            </a:r>
          </a:p>
          <a:p>
            <a:pPr>
              <a:lnSpc>
                <a:spcPct val="113000"/>
              </a:lnSpc>
            </a:pPr>
            <a:r>
              <a:rPr sz="1800" b="0" lang="ko-KR">
                <a:solidFill>
                  <a:srgbClr val="277F87"/>
                </a:solidFill>
                <a:latin typeface="Arial Unicode MS"/>
                <a:ea typeface="Arial Unicode MS"/>
              </a:rPr>
              <a:t>A_1–B_1과 A_2–B_1은 각각 orthology 관계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서로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각각 B_1의 ortholog: B_1에 대한 co-orthologs</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009–011분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06 / 75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Paralog는 종 안에도, 종 사이에도 있다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관찰 또는 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해석 기준</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Within-species 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종의 두 유전자; 조상 중복 시점은 별도 확인</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Between-species 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다른 종의 두 유전자; 공통 조상 노드는 D</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Inparalog / outparalog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기준 종 분화 뒤 / 앞의 중복에서 유래</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종이면 paralog, 다른 종이면 ortholog”는 불완전한 규칙</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In-/out-paralog는 비교하는 종 분화 시점에 대한 상대적 용어</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011–013분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 / 75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유전자 소실: 남은 하나끼리 비교하면 생기는 착시</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중복 뒤 서로 다른 사본 소실</a:t>
            </a:r>
          </a:p>
          <a:p>
            <a:pPr>
              <a:lnSpc>
                <a:spcPts val="2372"/>
              </a:lnSpc>
            </a:pPr>
            <a:r>
              <a:rPr sz="2100" b="0" lang="ko-KR">
                <a:solidFill>
                  <a:srgbClr val="183342"/>
                </a:solidFill>
                <a:latin typeface="Courier New"/>
                <a:ea typeface="Arial Unicode MS"/>
              </a:rPr>
              <a:t>              D</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A_1 [소실] [소실] B_2</a:t>
            </a:r>
          </a:p>
          <a:p>
            <a:pPr>
              <a:lnSpc>
                <a:spcPts val="2372"/>
              </a:lnSpc>
            </a:pPr>
            <a:r>
              <a:rPr sz="2100" b="0" lang="ko-KR">
                <a:solidFill>
                  <a:srgbClr val="183342"/>
                </a:solidFill>
                <a:latin typeface="Courier New"/>
                <a:ea typeface="Arial Unicode MS"/>
              </a:rPr>
              <a:t>          B_1     A_2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현재 관찰되는 유전자는 A_1과 B_2</a:t>
            </a:r>
          </a:p>
          <a:p>
            <a:pPr>
              <a:lnSpc>
                <a:spcPct val="113000"/>
              </a:lnSpc>
            </a:pPr>
            <a:r>
              <a:rPr sz="1800" b="0" lang="ko-KR">
                <a:solidFill>
                  <a:srgbClr val="277F87"/>
                </a:solidFill>
                <a:latin typeface="Arial Unicode MS"/>
                <a:ea typeface="Arial Unicode MS"/>
              </a:rPr>
              <a:t>현재 사본 수와 과거 분기 사건을 구분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종에 한 개씩 남았어도 일대일 ortholog라는 보장은 없음</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다른 종의 서열·유전자 계통수·주변 유전자 정보가 판별에 도움</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013–015분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 / 75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Ortholog와 paralog 판정</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a:t>
            </a:r>
          </a:p>
          <a:p>
            <a:pPr>
              <a:lnSpc>
                <a:spcPts val="2372"/>
              </a:lnSpc>
            </a:pPr>
            <a:r>
              <a:rPr sz="2100" b="0" lang="ko-KR">
                <a:solidFill>
                  <a:srgbClr val="183342"/>
                </a:solidFill>
                <a:latin typeface="Courier New"/>
                <a:ea typeface="Arial Unicode MS"/>
              </a:rPr>
              <a:t>            S</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D     B_z</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A_x A_y</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가지 길이는 의미 없음</a:t>
            </a:r>
          </a:p>
          <a:p>
            <a:pPr>
              <a:lnSpc>
                <a:spcPct val="113000"/>
              </a:lnSpc>
            </a:pPr>
            <a:r>
              <a:rPr sz="1800" b="0" lang="ko-KR">
                <a:solidFill>
                  <a:srgbClr val="277F87"/>
                </a:solidFill>
                <a:latin typeface="Arial Unicode MS"/>
                <a:ea typeface="Arial Unicode MS"/>
              </a:rPr>
              <a:t>현재 이름이 아니라 가장 최근 공통 조상 사건으로 판정</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A_x–A_y  ② A_x–B_z  ③ A_y–B_z 관계를 판정</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쌍의 공통 조상에 동그라미 → S/D → 관계 이름</a:t>
            </a:r>
          </a:p>
        </p:txBody>
      </p:sp>
      <p:sp>
        <p:nvSpPr>
          <p:cNvPr id="8" name="TextBox 7"/>
          <p:cNvSpPr txBox="1"/>
          <p:nvPr/>
        </p:nvSpPr>
        <p:spPr>
          <a:xfrm>
            <a:off x="676656" y="536219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활동지 1쪽: 분기 사건을 표시하고 짝과 비교</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015–019분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 / 75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Ortholog여도 기능이 완전히 같지는 않다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알 수 있는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추가 확인할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Orthology / paralogy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기원과 분기 사건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높은 서열 동일성</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정렬 길이·도메인 구성·진화 관계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비슷한 예측 구조</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기질·활성·발현·실험 조건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진화 관계는 기능 추론의 근거이며 기능 실험의 대체물이 아님</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최고 유사도 hit 하나만으로 orthology 또는 기능을 확정하지 않음</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019–021분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 / 75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유전자 가족에서 MSA로: 대응 위치를 제안한다</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Multiple sequence alignment(MSA): 여러 상동 서열의 대응 위치를 정렬</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정렬은 비교를 위한 가설이며 모든 열이 정확하다는 보장은 없음</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너무 먼 서열·부분 서열·다른 도메인 구성은 별도 점검</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021–023분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 / 75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MSA 읽기: 행·열·query·gap</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 실제 단백질 아님</a:t>
            </a:r>
          </a:p>
          <a:p>
            <a:pPr>
              <a:lnSpc>
                <a:spcPts val="2372"/>
              </a:lnSpc>
            </a:pPr>
            <a:r>
              <a:rPr sz="2100" b="0" lang="ko-KR">
                <a:solidFill>
                  <a:srgbClr val="183342"/>
                </a:solidFill>
                <a:latin typeface="Courier New"/>
                <a:ea typeface="Arial Unicode MS"/>
              </a:rPr>
              <a:t>정렬 열   123456789</a:t>
            </a:r>
          </a:p>
          <a:p>
            <a:pPr>
              <a:lnSpc>
                <a:spcPts val="2372"/>
              </a:lnSpc>
            </a:pPr>
            <a:r>
              <a:rPr sz="2100" b="0" lang="ko-KR">
                <a:solidFill>
                  <a:srgbClr val="183342"/>
                </a:solidFill>
                <a:latin typeface="Courier New"/>
                <a:ea typeface="Arial Unicode MS"/>
              </a:rPr>
              <a:t>query     AC-DEFGHI</a:t>
            </a:r>
          </a:p>
          <a:p>
            <a:pPr>
              <a:lnSpc>
                <a:spcPts val="2372"/>
              </a:lnSpc>
            </a:pPr>
            <a:r>
              <a:rPr sz="2100" b="0" lang="ko-KR">
                <a:solidFill>
                  <a:srgbClr val="183342"/>
                </a:solidFill>
                <a:latin typeface="Courier New"/>
                <a:ea typeface="Arial Unicode MS"/>
              </a:rPr>
              <a:t>seq_A     ACQDEYGHI</a:t>
            </a:r>
          </a:p>
          <a:p>
            <a:pPr>
              <a:lnSpc>
                <a:spcPts val="2372"/>
              </a:lnSpc>
            </a:pPr>
            <a:r>
              <a:rPr sz="2100" b="0" lang="ko-KR">
                <a:solidFill>
                  <a:srgbClr val="183342"/>
                </a:solidFill>
                <a:latin typeface="Courier New"/>
                <a:ea typeface="Arial Unicode MS"/>
              </a:rPr>
              <a:t>seq_B     AC-NEFG-I</a:t>
            </a:r>
          </a:p>
          <a:p>
            <a:pPr>
              <a:lnSpc>
                <a:spcPts val="2372"/>
              </a:lnSpc>
            </a:pPr>
            <a:r>
              <a:rPr sz="2100" b="0" lang="ko-KR">
                <a:solidFill>
                  <a:srgbClr val="183342"/>
                </a:solidFill>
                <a:latin typeface="Courier New"/>
                <a:ea typeface="Arial Unicode MS"/>
              </a:rPr>
              <a:t>seq_C     AS-DEF-HI</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4행 × 9열; query의 실제 길이는 8잔기</a:t>
            </a:r>
          </a:p>
          <a:p>
            <a:pPr>
              <a:lnSpc>
                <a:spcPct val="113000"/>
              </a:lnSpc>
            </a:pPr>
            <a:r>
              <a:rPr sz="1800" b="0" lang="ko-KR">
                <a:solidFill>
                  <a:srgbClr val="277F87"/>
                </a:solidFill>
                <a:latin typeface="Arial Unicode MS"/>
                <a:ea typeface="Arial Unicode MS"/>
              </a:rPr>
              <a:t>3열의 Q는 query에 대응 잔기가 없는 삽입 위치</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행(row)은 서열, 열(column)은 대응 위치, “-”는 gap</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이번 분석의 기준 서열; 항상 조상 서열이라는 뜻은 아님</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023–026분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12 / 75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Gap 하나가 잔기 번호를 바꾼다</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정렬 열       1 2 3 4 5 6 7 8 9</a:t>
            </a:r>
          </a:p>
          <a:p>
            <a:pPr>
              <a:lnSpc>
                <a:spcPts val="2372"/>
              </a:lnSpc>
            </a:pPr>
            <a:r>
              <a:rPr sz="2100" b="0" lang="ko-KR">
                <a:solidFill>
                  <a:srgbClr val="183342"/>
                </a:solidFill>
                <a:latin typeface="Courier New"/>
                <a:ea typeface="Arial Unicode MS"/>
              </a:rPr>
              <a:t>query         A C - D E F G H I</a:t>
            </a:r>
          </a:p>
          <a:p>
            <a:pPr>
              <a:lnSpc>
                <a:spcPts val="2372"/>
              </a:lnSpc>
            </a:pPr>
            <a:r>
              <a:rPr sz="2100" b="0" lang="ko-KR">
                <a:solidFill>
                  <a:srgbClr val="183342"/>
                </a:solidFill>
                <a:latin typeface="Courier New"/>
                <a:ea typeface="Arial Unicode MS"/>
              </a:rPr>
              <a:t>query 잔기    1 2 - 3 4 5 6 7 8</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정렬 4열 = query의 D3</a:t>
            </a:r>
          </a:p>
          <a:p>
            <a:pPr>
              <a:lnSpc>
                <a:spcPct val="113000"/>
              </a:lnSpc>
            </a:pPr>
            <a:r>
              <a:rPr sz="1800" b="0" lang="ko-KR">
                <a:solidFill>
                  <a:srgbClr val="277F87"/>
                </a:solidFill>
                <a:latin typeface="Arial Unicode MS"/>
                <a:ea typeface="Arial Unicode MS"/>
              </a:rPr>
              <a:t>원래 query 서열: ACDEFGHI</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정렬 열 번호와 query 잔기 번호를 구분해서 기록</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Gap만으로 삽입·결실의 진화 방향을 확정할 수 없음</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026–028분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 / 75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이름 줄과 서열 줄부터 읽기</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&gt;query_synthetic  educational example</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&gt;seq_A_synthetic  educational example</a:t>
            </a:r>
          </a:p>
          <a:p>
            <a:pPr>
              <a:lnSpc>
                <a:spcPts val="2372"/>
              </a:lnSpc>
            </a:pPr>
            <a:r>
              <a:rPr sz="2100" b="0" lang="ko-KR">
                <a:solidFill>
                  <a:srgbClr val="183342"/>
                </a:solidFill>
                <a:latin typeface="Courier New"/>
                <a:ea typeface="Arial Unicode MS"/>
              </a:rPr>
              <a:t>ACQDEYGHI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두 서열의 실제 길이는 8과 9</a:t>
            </a:r>
          </a:p>
          <a:p>
            <a:pPr>
              <a:lnSpc>
                <a:spcPct val="113000"/>
              </a:lnSpc>
            </a:pPr>
            <a:r>
              <a:rPr sz="1800" b="0" lang="ko-KR">
                <a:solidFill>
                  <a:srgbClr val="277F87"/>
                </a:solidFill>
                <a:latin typeface="Arial Unicode MS"/>
                <a:ea typeface="Arial Unicode MS"/>
              </a:rPr>
              <a:t>이 텍스트는 정렬 전의 교육용 가상 FASTA</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“&gt;”로 시작하는 줄은 이름·설명, 다음 줄은 서열</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여러 FASTA 서열이 있다고 자동으로 MSA가 되는 것은 아님</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028–030분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 / 75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A3M: 대문자와 소문자는 서로 다른 역할</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A3M</a:t>
            </a:r>
          </a:p>
          <a:p>
            <a:pPr>
              <a:lnSpc>
                <a:spcPts val="2372"/>
              </a:lnSpc>
            </a:pPr>
            <a:r>
              <a:rPr sz="2100" b="0" lang="ko-KR">
                <a:solidFill>
                  <a:srgbClr val="183342"/>
                </a:solidFill>
                <a:latin typeface="Courier New"/>
                <a:ea typeface="Arial Unicode MS"/>
              </a:rPr>
              <a:t>&gt;query</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&gt;seq_A</a:t>
            </a:r>
          </a:p>
          <a:p>
            <a:pPr>
              <a:lnSpc>
                <a:spcPts val="2372"/>
              </a:lnSpc>
            </a:pPr>
            <a:r>
              <a:rPr sz="2100" b="0" lang="ko-KR">
                <a:solidFill>
                  <a:srgbClr val="183342"/>
                </a:solidFill>
                <a:latin typeface="Courier New"/>
                <a:ea typeface="Arial Unicode MS"/>
              </a:rPr>
              <a:t>ACqDEYGHI</a:t>
            </a:r>
          </a:p>
          <a:p>
            <a:pPr>
              <a:lnSpc>
                <a:spcPts val="2372"/>
              </a:lnSpc>
            </a:pPr>
            <a:r>
              <a:rPr sz="2100" b="0" lang="ko-KR">
                <a:solidFill>
                  <a:srgbClr val="183342"/>
                </a:solidFill>
                <a:latin typeface="Courier New"/>
                <a:ea typeface="Arial Unicode MS"/>
              </a:rPr>
              <a:t>&gt;seq_B</a:t>
            </a:r>
          </a:p>
          <a:p>
            <a:pPr>
              <a:lnSpc>
                <a:spcPts val="2372"/>
              </a:lnSpc>
            </a:pPr>
            <a:r>
              <a:rPr sz="2100" b="0" lang="ko-KR">
                <a:solidFill>
                  <a:srgbClr val="183342"/>
                </a:solidFill>
                <a:latin typeface="Courier New"/>
                <a:ea typeface="Arial Unicode MS"/>
              </a:rPr>
              <a:t>ACNEFG-I</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seq_A: q는 삽입, Y는 대응 열의 치환</a:t>
            </a:r>
          </a:p>
          <a:p>
            <a:pPr>
              <a:lnSpc>
                <a:spcPct val="113000"/>
              </a:lnSpc>
            </a:pPr>
            <a:r>
              <a:rPr sz="1800" b="0" lang="ko-KR">
                <a:solidFill>
                  <a:srgbClr val="277F87"/>
                </a:solidFill>
                <a:latin typeface="Arial Unicode MS"/>
                <a:ea typeface="Arial Unicode MS"/>
              </a:rPr>
              <a:t>겉보기 문자 수가 달라도 같은 match 열을 표현 가능</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대문자 = match 상태의 잔기; 소문자 = 삽입 잔기; “-” = 결실 표시</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Match는 query와 같은 아미노산이라는 뜻이 아님</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030–033분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 / 75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A3M의 열과 삽입 읽기</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2쪽 또는 fictional_learning.a3m을 펼치세요.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Query를 포함한 행 수와 정렬 열 수를 세어 보세요.</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A2의 ee는 어느 정렬 열 직전에 있나요?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A3의 gap과 B1의 X 위치·의미를 적으세요.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033–037분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 / 75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Coverage와 identity: 분모를 함께 적는다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교육용 정의</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계산</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 coverage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짝지어진 query 잔기 수 / query 길이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잔기 수 / 양쪽에 잔기가 있는 비교 위치 수</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보고 예</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identity 80%, coverage 25%; 각 분모도 기록</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Coverage: query의 어느 정도를 비교했는가?</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Identity: 비교한 위치 중 어느 정도가 같은 잔기인가?</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037–040분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 / 75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Coverage와 identity 계산</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query   ACDEFGHI</a:t>
            </a:r>
          </a:p>
          <a:p>
            <a:pPr>
              <a:lnSpc>
                <a:spcPts val="2372"/>
              </a:lnSpc>
            </a:pPr>
            <a:r>
              <a:rPr sz="2100" b="0" lang="ko-KR">
                <a:solidFill>
                  <a:srgbClr val="183342"/>
                </a:solidFill>
                <a:latin typeface="Courier New"/>
                <a:ea typeface="Arial Unicode MS"/>
              </a:rPr>
              <a:t>A       ACDE----</a:t>
            </a:r>
          </a:p>
          <a:p>
            <a:pPr>
              <a:lnSpc>
                <a:spcPts val="2372"/>
              </a:lnSpc>
            </a:pPr>
            <a:r>
              <a:rPr sz="2100" b="0" lang="ko-KR">
                <a:solidFill>
                  <a:srgbClr val="183342"/>
                </a:solidFill>
                <a:latin typeface="Courier New"/>
                <a:ea typeface="Arial Unicode MS"/>
              </a:rPr>
              <a:t>B       ACNEYGHI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A의 끝부분 gap은 query 위치를 덮지 않음</a:t>
            </a:r>
          </a:p>
          <a:p>
            <a:pPr>
              <a:lnSpc>
                <a:spcPct val="113000"/>
              </a:lnSpc>
            </a:pPr>
            <a:r>
              <a:rPr sz="1800" b="0" lang="ko-KR">
                <a:solidFill>
                  <a:srgbClr val="277F87"/>
                </a:solidFill>
                <a:latin typeface="Arial Unicode MS"/>
                <a:ea typeface="Arial Unicode MS"/>
              </a:rPr>
              <a:t>Coverage와 identity의 분모를 각각 적기</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 길이 8; A와 B 각각 coverage와 identity를 계산</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분모는 앞 장의 교육용 정의를 사용</a:t>
            </a:r>
          </a:p>
        </p:txBody>
      </p:sp>
      <p:sp>
        <p:nvSpPr>
          <p:cNvPr id="8" name="TextBox 7"/>
          <p:cNvSpPr txBox="1"/>
          <p:nvPr/>
        </p:nvSpPr>
        <p:spPr>
          <a:xfrm>
            <a:off x="676656" y="4759452"/>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전체 query를 설명할 때 어떤 차이를 함께 보고해야 하는가?</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040–043분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18 / 75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Conservation: 한 열에서 무엇이 유지되는가?</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seq_1   ACDK</a:t>
            </a:r>
          </a:p>
          <a:p>
            <a:pPr>
              <a:lnSpc>
                <a:spcPts val="2372"/>
              </a:lnSpc>
            </a:pPr>
            <a:r>
              <a:rPr sz="2100" b="0" lang="ko-KR">
                <a:solidFill>
                  <a:srgbClr val="183342"/>
                </a:solidFill>
                <a:latin typeface="Courier New"/>
                <a:ea typeface="Arial Unicode MS"/>
              </a:rPr>
              <a:t>seq_2   ASDK</a:t>
            </a:r>
          </a:p>
          <a:p>
            <a:pPr>
              <a:lnSpc>
                <a:spcPts val="2372"/>
              </a:lnSpc>
            </a:pPr>
            <a:r>
              <a:rPr sz="2100" b="0" lang="ko-KR">
                <a:solidFill>
                  <a:srgbClr val="183342"/>
                </a:solidFill>
                <a:latin typeface="Courier New"/>
                <a:ea typeface="Arial Unicode MS"/>
              </a:rPr>
              <a:t>seq_3   ACEK</a:t>
            </a:r>
          </a:p>
          <a:p>
            <a:pPr>
              <a:lnSpc>
                <a:spcPts val="2372"/>
              </a:lnSpc>
            </a:pPr>
            <a:r>
              <a:rPr sz="2100" b="0" lang="ko-KR">
                <a:solidFill>
                  <a:srgbClr val="183342"/>
                </a:solidFill>
                <a:latin typeface="Courier New"/>
                <a:ea typeface="Arial Unicode MS"/>
              </a:rPr>
              <a:t>seq_4   ASER</a:t>
            </a:r>
          </a:p>
          <a:p>
            <a:pPr>
              <a:lnSpc>
                <a:spcPts val="2372"/>
              </a:lnSpc>
            </a:pPr>
            <a:r>
              <a:rPr sz="2100" b="0" lang="ko-KR">
                <a:solidFill>
                  <a:srgbClr val="183342"/>
                </a:solidFill>
                <a:latin typeface="Courier New"/>
                <a:ea typeface="Arial Unicode MS"/>
              </a:rPr>
              <a:t>열      1234</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보존도는 한 열의 잔기 분포에 대한 질문</a:t>
            </a:r>
          </a:p>
          <a:p>
            <a:pPr>
              <a:lnSpc>
                <a:spcPct val="113000"/>
              </a:lnSpc>
            </a:pPr>
            <a:r>
              <a:rPr sz="1800" b="0" lang="ko-KR">
                <a:solidFill>
                  <a:srgbClr val="277F87"/>
                </a:solidFill>
                <a:latin typeface="Arial Unicode MS"/>
                <a:ea typeface="Arial Unicode MS"/>
              </a:rPr>
              <a:t>“모두 같다”와 “서로 독립적인 근거가 많다”를 구분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한 위치의 잔기 분포를 읽는 것이 보존도(conservation)</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보존된 위치는 구조·기능 제약의 후보이며 원인은 추가 확인</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043–045분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19 / 75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진화 관계에서 구조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보존·공변이·공진화는 서로 다른 질문</a:t>
            </a:r>
          </a:p>
        </p:txBody>
      </p:sp>
      <p:graphicFrame>
        <p:nvGraphicFramePr>
          <p:cNvPr id="4" name="Table 3"/>
          <p:cNvGraphicFramePr>
            <a:graphicFrameLocks noGrp="1"/>
          </p:cNvGraphicFramePr>
          <p:nvPr/>
        </p:nvGraphicFramePr>
        <p:xfrm>
          <a:off x="612648" y="1417320"/>
          <a:ext cx="10972799" cy="2665476"/>
        </p:xfrm>
        <a:graphic>
          <a:graphicData uri="http://schemas.openxmlformats.org/drawingml/2006/table">
            <a:tbl>
              <a:tblPr firstRow="1" bandRow="1">
                <a:tableStyleId>{5C22544A-7EE6-4342-B048-85BDC9FD1C3A}</a:tableStyleId>
              </a:tblPr>
              <a:tblGrid>
                <a:gridCol w="2377440"/>
                <a:gridCol w="4846320"/>
                <a:gridCol w="3749039"/>
              </a:tblGrid>
              <a:tr h="548640">
                <a:tc>
                  <a:txBody>
                    <a:bodyPr/>
                    <a:lstStyle/>
                    <a:p>
                      <a:pPr>
                        <a:lnSpc>
                          <a:spcPct val="110000"/>
                        </a:lnSpc>
                      </a:pPr>
                      <a:r>
                        <a:rPr sz="1900" b="1" lang="ko-KR">
                          <a:solidFill>
                            <a:srgbClr val="FFFFFF"/>
                          </a:solidFill>
                          <a:latin typeface="Arial Unicode MS"/>
                          <a:ea typeface="Arial Unicode MS"/>
                        </a:rPr>
                        <a:t>개념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묻는가?</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Conservation</a:t>
                      </a:r>
                    </a:p>
                    <a:p>
                      <a:pPr>
                        <a:lnSpc>
                          <a:spcPct val="110000"/>
                        </a:lnSpc>
                      </a:pPr>
                      <a:r>
                        <a:rPr sz="1900" b="0" lang="ko-KR">
                          <a:solidFill>
                            <a:srgbClr val="183342"/>
                          </a:solidFill>
                          <a:latin typeface="Arial Unicode MS"/>
                          <a:ea typeface="Arial Unicode MS"/>
                        </a:rPr>
                        <a:t>보존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위치에서 어떤 잔기가 유지되는가?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위치 i가 대부분 D</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Covariation</a:t>
                      </a:r>
                    </a:p>
                    <a:p>
                      <a:pPr>
                        <a:lnSpc>
                          <a:spcPct val="110000"/>
                        </a:lnSpc>
                      </a:pPr>
                      <a:r>
                        <a:rPr sz="1900" b="0" lang="ko-KR">
                          <a:solidFill>
                            <a:srgbClr val="183342"/>
                          </a:solidFill>
                          <a:latin typeface="Arial Unicode MS"/>
                          <a:ea typeface="Arial Unicode MS"/>
                        </a:rPr>
                        <a:t>공변이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두 위치의 조합이 독립적 분포와 다른가?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i가 D이면 j가 K인 경향</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Coevolution</a:t>
                      </a:r>
                    </a:p>
                    <a:p>
                      <a:pPr>
                        <a:lnSpc>
                          <a:spcPct val="110000"/>
                        </a:lnSpc>
                      </a:pPr>
                      <a:r>
                        <a:rPr sz="1900" b="0" lang="ko-KR">
                          <a:solidFill>
                            <a:srgbClr val="183342"/>
                          </a:solidFill>
                          <a:latin typeface="Arial Unicode MS"/>
                          <a:ea typeface="Arial Unicode MS"/>
                        </a:rPr>
                        <a:t>공진화</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위치들의 진화가 어떻게 서로 의존하는가?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구조·기능 제약을 함께 만족</a:t>
                      </a:r>
                    </a:p>
                  </a:txBody>
                  <a:tcPr marL="109728" marR="109728" marT="50292" marB="50292" anchor="ctr">
                    <a:solidFill>
                      <a:srgbClr val="EEF3F2"/>
                    </a:solidFill>
                  </a:tcPr>
                </a:tc>
              </a:tr>
            </a:tbl>
          </a:graphicData>
        </a:graphic>
      </p:graphicFrame>
      <p:sp>
        <p:nvSpPr>
          <p:cNvPr id="5" name="TextBox 4"/>
          <p:cNvSpPr txBox="1"/>
          <p:nvPr/>
        </p:nvSpPr>
        <p:spPr>
          <a:xfrm>
            <a:off x="640080" y="42656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강의에서는 관찰한 통계 패턴과 그 패턴의 진화적 설명을 구분</a:t>
            </a:r>
          </a:p>
        </p:txBody>
      </p:sp>
      <p:sp>
        <p:nvSpPr>
          <p:cNvPr id="6" name="TextBox 5"/>
          <p:cNvSpPr txBox="1"/>
          <p:nvPr/>
        </p:nvSpPr>
        <p:spPr>
          <a:xfrm>
            <a:off x="640080" y="476681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Ortholog/paralog는 행 사이의 관계; 잔기 공변이는 열 사이의 관계</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045–047분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20 / 75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진화 관계에서 구조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한 위치의 선택은 다른 위치에 달릴 수 있다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743200"/>
                <a:gridCol w="2743200"/>
                <a:gridCol w="5486400"/>
              </a:tblGrid>
              <a:tr h="548640">
                <a:tc>
                  <a:txBody>
                    <a:bodyPr/>
                    <a:lstStyle/>
                    <a:p>
                      <a:pPr>
                        <a:lnSpc>
                          <a:spcPct val="110000"/>
                        </a:lnSpc>
                      </a:pPr>
                      <a:r>
                        <a:rPr sz="1900" b="1" lang="ko-KR">
                          <a:solidFill>
                            <a:srgbClr val="FFFFFF"/>
                          </a:solidFill>
                          <a:latin typeface="Arial Unicode MS"/>
                          <a:ea typeface="Arial Unicode MS"/>
                        </a:rPr>
                        <a:t>두 위치의 조합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전하</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가상 모형의 해석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D–K</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음 / 양</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반대 전하 조합</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K–D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양 / 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반대 전하 조합</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D–D 또는 K–K</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음 / 음 또는 양 / 양</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이 가상 모형에서는 덜 유리하다고 가정</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가정: 가까운 두 위치에서 반대 전하의 조합이 유리한 가상 상황</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D–K와 K–D는 조합 예시; 실제 치환 순서·동시 발생·접촉의 증거가 아님</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047–049분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21 / 75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진화 관계에서 구조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열의 빈도와 조합 빈도를 따로 센다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840480"/>
                <a:gridCol w="2377440"/>
                <a:gridCol w="2377440"/>
                <a:gridCol w="2377440"/>
              </a:tblGrid>
              <a:tr h="548640">
                <a:tc>
                  <a:txBody>
                    <a:bodyPr/>
                    <a:lstStyle/>
                    <a:p>
                      <a:pPr>
                        <a:lnSpc>
                          <a:spcPct val="110000"/>
                        </a:lnSpc>
                      </a:pPr>
                      <a:r>
                        <a:rPr sz="1900" b="1" lang="ko-KR">
                          <a:solidFill>
                            <a:srgbClr val="FFFFFF"/>
                          </a:solidFill>
                          <a:latin typeface="Arial Unicode MS"/>
                          <a:ea typeface="Arial Unicode MS"/>
                        </a:rPr>
                        <a:t>8행의 가상 자료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 = D</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 = K</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행 합계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i =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 = 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열 합계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8</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관찰: P(D_i, K_j) = 4/8 = 1/2</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독립이라면: P(D_i) × P(K_j) = 1/2 × 1/2 = 1/4</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가상 자료에는 통계적 의존성이 있음; 그 원인은 아직 모름</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049–052분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22 / 75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설명 직후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즉시 실습: 같은 열 빈도, 다른 조합</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가상 조합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자료 P: 8행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대조 자료 Q: 8행</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D–D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K–D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K–K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각 자료에서 P(D_i), P(K_j), P(D_i, K_j)를 계산</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P(D_i, K_j)를 P(D_i) × P(K_j)와 비교</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단일 열의 보존도만으로 두 자료를 구별할 수 있는가?</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052–055분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23 / 75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다시 시작합니다.</a:t>
            </a:r>
          </a:p>
          <a:p>
            <a:pPr>
              <a:lnSpc>
                <a:spcPct val="113000"/>
              </a:lnSpc>
            </a:pPr>
            <a:r>
              <a:rPr sz="2400" b="0" lang="ko-KR">
                <a:solidFill>
                  <a:srgbClr val="FFFFFF"/>
                </a:solidFill>
                <a:latin typeface="Arial Unicode MS"/>
                <a:ea typeface="Arial Unicode MS"/>
              </a:rPr>
              <a:t>다음: 공변화 패턴을 유전자 계통과 함께 해석하기</a:t>
            </a:r>
          </a:p>
        </p:txBody>
      </p:sp>
      <p:sp>
        <p:nvSpPr>
          <p:cNvPr id="4" name="TextBox 3"/>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055–065분</a:t>
            </a:r>
          </a:p>
        </p:txBody>
      </p:sp>
      <p:sp>
        <p:nvSpPr>
          <p:cNvPr id="5" name="TextBox 4"/>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24 / 75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Coevolution과 ortholog·paralog</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Ortholog를 모아도 공통 조상은 남아 있다</a:t>
            </a:r>
          </a:p>
        </p:txBody>
      </p:sp>
      <p:graphicFrame>
        <p:nvGraphicFramePr>
          <p:cNvPr id="4" name="Table 3"/>
          <p:cNvGraphicFramePr>
            <a:graphicFrameLocks noGrp="1"/>
          </p:cNvGraphicFramePr>
          <p:nvPr/>
        </p:nvGraphicFramePr>
        <p:xfrm>
          <a:off x="612648" y="1417320"/>
          <a:ext cx="10972799" cy="2194560"/>
        </p:xfrm>
        <a:graphic>
          <a:graphicData uri="http://schemas.openxmlformats.org/drawingml/2006/table">
            <a:tbl>
              <a:tblPr firstRow="1" bandRow="1">
                <a:tableStyleId>{5C22544A-7EE6-4342-B048-85BDC9FD1C3A}</a:tableStyleId>
              </a:tblPr>
              <a:tblGrid>
                <a:gridCol w="3749039"/>
                <a:gridCol w="7223760"/>
              </a:tblGrid>
              <a:tr h="548640">
                <a:tc>
                  <a:txBody>
                    <a:bodyPr/>
                    <a:lstStyle/>
                    <a:p>
                      <a:pPr>
                        <a:lnSpc>
                          <a:spcPct val="110000"/>
                        </a:lnSpc>
                      </a:pPr>
                      <a:r>
                        <a:rPr sz="1900" b="1" lang="ko-KR">
                          <a:solidFill>
                            <a:srgbClr val="FFFFFF"/>
                          </a:solidFill>
                          <a:latin typeface="Arial Unicode MS"/>
                          <a:ea typeface="Arial Unicode MS"/>
                        </a:rPr>
                        <a:t>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Ortholog를 모으면?</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다른 중복 계열의 혼합인가?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대상 계열을 맞추는 데 도움이 됨</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각 서열은 독립 관측인가?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아님: 가까운 종은 조상의 패턴을 공유</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모든 위치가 같은 제약을 받나?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보장 없음: 계통별 기능·환경 차이도 가능</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 관계는 비교할 유전자 계열을 정리하는 데 도움</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후손 100개의 같은 조합 ≠ 독립적인 보상 치환 100회</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계통수의 여러 가지에서 반복되었는지는 따로 평가해야 함</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065–068분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25 / 75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Coevolution과 ortholog·paralog</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Paralog 혼합은 계열 차이를 함께 섞는다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4206240"/>
                <a:gridCol w="6766560"/>
              </a:tblGrid>
              <a:tr h="548640">
                <a:tc>
                  <a:txBody>
                    <a:bodyPr/>
                    <a:lstStyle/>
                    <a:p>
                      <a:pPr>
                        <a:lnSpc>
                          <a:spcPct val="110000"/>
                        </a:lnSpc>
                      </a:pPr>
                      <a:r>
                        <a:rPr sz="1900" b="1" lang="ko-KR">
                          <a:solidFill>
                            <a:srgbClr val="FFFFFF"/>
                          </a:solidFill>
                          <a:latin typeface="Arial Unicode MS"/>
                          <a:ea typeface="Arial Unicode MS"/>
                        </a:rPr>
                        <a:t>같은 MSA를 보는 방법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확인할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모든 상동 서열을 합침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관찰한 조합이 하위 계열 이름을 구별하는가?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중복 계열별로 나눔</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각 계열 안에도 두 위치의 변화가 있는가?</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계열을 제외함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혼합 효과와 함께 유용한 다양성도 잃는가?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하위 계열이 각각 다른 잔기를 선호하면 혼합 후 공변이가 생길 수 있음</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Ortholog만 남기는 규칙 대신 분석 목적·정렬·계열 구성을 함께 점검</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068–070분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26 / 75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 설명 직후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즉시 실습: 계열을 나누면 무엇이 보이나?</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7315200"/>
                <a:gridCol w="1828800"/>
                <a:gridCol w="1828800"/>
              </a:tblGrid>
              <a:tr h="548640">
                <a:tc>
                  <a:txBody>
                    <a:bodyPr/>
                    <a:lstStyle/>
                    <a:p>
                      <a:pPr>
                        <a:lnSpc>
                          <a:spcPct val="110000"/>
                        </a:lnSpc>
                      </a:pPr>
                      <a:r>
                        <a:rPr sz="1900" b="1" lang="ko-KR">
                          <a:solidFill>
                            <a:srgbClr val="FFFFFF"/>
                          </a:solidFill>
                          <a:latin typeface="Arial Unicode MS"/>
                          <a:ea typeface="Arial Unicode MS"/>
                        </a:rPr>
                        <a:t>가상 서열: 각 이름이 한 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i</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A_H, A_M, A_R, A_F</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모두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모두 K</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B_H, B_M, B_R, B_F</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D</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가정: A/B로 중복 → H/M/R/F 종 분화; 추가 중복·소실 없음</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A_H–A_M, A_H–B_H, A_H–B_M의 진화 관계는?</a:t>
            </a:r>
          </a:p>
        </p:txBody>
      </p:sp>
      <p:sp>
        <p:nvSpPr>
          <p:cNvPr id="7" name="TextBox 6"/>
          <p:cNvSpPr txBox="1"/>
          <p:nvPr/>
        </p:nvSpPr>
        <p:spPr>
          <a:xfrm>
            <a:off x="640080" y="42484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전체와 계열 내부를 비교: 변화·공변이를 각각 판단</a:t>
            </a:r>
          </a:p>
        </p:txBody>
      </p:sp>
      <p:sp>
        <p:nvSpPr>
          <p:cNvPr id="8" name="TextBox 7"/>
          <p:cNvSpPr txBox="1"/>
          <p:nvPr/>
        </p:nvSpPr>
        <p:spPr>
          <a:xfrm>
            <a:off x="640080" y="4749545"/>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8행을 독립적인 보상 치환 8회라고 셀 수 있는가?</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070–073분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27 / 75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단백질 안과 단백질 사이의 coevolution</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복합체에서는 어떤 서열끼리 짝지었는가?</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834640"/>
                <a:gridCol w="3840480"/>
                <a:gridCol w="4297680"/>
              </a:tblGrid>
              <a:tr h="548640">
                <a:tc>
                  <a:txBody>
                    <a:bodyPr/>
                    <a:lstStyle/>
                    <a:p>
                      <a:pPr>
                        <a:lnSpc>
                          <a:spcPct val="110000"/>
                        </a:lnSpc>
                      </a:pPr>
                      <a:r>
                        <a:rPr sz="1900" b="1" lang="ko-KR">
                          <a:solidFill>
                            <a:srgbClr val="FFFFFF"/>
                          </a:solidFill>
                          <a:latin typeface="Arial Unicode MS"/>
                          <a:ea typeface="Arial Unicode MS"/>
                        </a:rPr>
                        <a:t>분석</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한 행의 의미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핵심 확인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단백질 내부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상동 단백질의 서열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서열의 위치 i와 j</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단백질 사이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단백질 P 서열 | Q 서열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P의 위치 i와 Q의 위치 j</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같은 종에 여러 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P1/P2와 Q1/Q2 존재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P1의 상대가 Q1인가 Q2인가?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Paired MSA는 서로 다른 단백질의 서열을 같은 행에 대응시킴</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종에 있다는 사실만으로 실제 결합 파트너를 확정할 수 없음</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073–075분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28 / 75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공변이에서 구조 예측으로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함께 변한다고 모두 직접 연결된 것은 아니다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743200"/>
                <a:gridCol w="8229600"/>
              </a:tblGrid>
              <a:tr h="548640">
                <a:tc>
                  <a:txBody>
                    <a:bodyPr/>
                    <a:lstStyle/>
                    <a:p>
                      <a:pPr>
                        <a:lnSpc>
                          <a:spcPct val="110000"/>
                        </a:lnSpc>
                      </a:pPr>
                      <a:r>
                        <a:rPr sz="1900" b="1" lang="ko-KR">
                          <a:solidFill>
                            <a:srgbClr val="FFFFFF"/>
                          </a:solidFill>
                          <a:latin typeface="Arial Unicode MS"/>
                          <a:ea typeface="Arial Unicode MS"/>
                        </a:rPr>
                        <a:t>접근</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하는가?</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공변이·MI</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두 열의 관찰 분포가 독립적인지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DCA</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열을 함께 모형화해 직접·간접 통계 효과를 구분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AlphaFold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학습한 모형으로 서열·MSA 등 정보를 통합해 구조 예측</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i–k와 k–j 관계만 있어도 i–j에 간접 상관이 생길 수 있음</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추정한 coupling도 실제 접촉·작동 기전의 자동 증명이 아님</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075–078분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29 / 75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 정보를 바꾸어 구조 후보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Depth·clustering·masking은 무엇을 바꾸나?</a:t>
            </a:r>
          </a:p>
        </p:txBody>
      </p:sp>
      <p:graphicFrame>
        <p:nvGraphicFramePr>
          <p:cNvPr id="4" name="Table 3"/>
          <p:cNvGraphicFramePr>
            <a:graphicFrameLocks noGrp="1"/>
          </p:cNvGraphicFramePr>
          <p:nvPr/>
        </p:nvGraphicFramePr>
        <p:xfrm>
          <a:off x="612648" y="1417320"/>
          <a:ext cx="10972799" cy="2194560"/>
        </p:xfrm>
        <a:graphic>
          <a:graphicData uri="http://schemas.openxmlformats.org/drawingml/2006/table">
            <a:tbl>
              <a:tblPr firstRow="1" bandRow="1">
                <a:tableStyleId>{5C22544A-7EE6-4342-B048-85BDC9FD1C3A}</a:tableStyleId>
              </a:tblPr>
              <a:tblGrid>
                <a:gridCol w="3017520"/>
                <a:gridCol w="7955279"/>
              </a:tblGrid>
              <a:tr h="548640">
                <a:tc>
                  <a:txBody>
                    <a:bodyPr/>
                    <a:lstStyle/>
                    <a:p>
                      <a:pPr>
                        <a:lnSpc>
                          <a:spcPct val="110000"/>
                        </a:lnSpc>
                      </a:pPr>
                      <a:r>
                        <a:rPr sz="1900" b="1" lang="ko-KR">
                          <a:solidFill>
                            <a:srgbClr val="FFFFFF"/>
                          </a:solidFill>
                          <a:latin typeface="Arial Unicode MS"/>
                          <a:ea typeface="Arial Unicode MS"/>
                        </a:rPr>
                        <a:t>조작</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공변이 관점에서 달라지는 정보</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Depth 줄이기</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조합을 추정할 행 수와 표집된 다양성</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 clustering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선택된 서열 계열과 그 안의 조합 빈도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Masking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특정 위치의 잔기 및 그 위치가 참여하는 조합 정보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query에도 제공되는 잔기 분포·조합·계열 구성이 달라짐</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다른 구조가 나와도 생물학적 상태·존재 비율은 별도 검증</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078–080분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30 / 75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Raw depth와 Neff: 행 수와 다양성은 다르다</a:t>
            </a:r>
          </a:p>
        </p:txBody>
      </p:sp>
      <p:graphicFrame>
        <p:nvGraphicFramePr>
          <p:cNvPr id="4" name="Table 3"/>
          <p:cNvGraphicFramePr>
            <a:graphicFrameLocks noGrp="1"/>
          </p:cNvGraphicFramePr>
          <p:nvPr/>
        </p:nvGraphicFramePr>
        <p:xfrm>
          <a:off x="612648" y="1417320"/>
          <a:ext cx="10972800" cy="2508504"/>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교육용 재가중 예</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Raw depth</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가중치 합</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완전히 동일한 서열 100개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 × 1/100 = 1</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서로 기준 이상 유사한 쌍이 없는 100개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 × 1 = 100</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실제 MSA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행 수를 기록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정의·유사도 기준·coverage도 기록</a:t>
                      </a:r>
                    </a:p>
                  </a:txBody>
                  <a:tcPr marL="109728" marR="109728" marT="50292" marB="50292" anchor="ctr">
                    <a:solidFill>
                      <a:srgbClr val="EEF3F2"/>
                    </a:solidFill>
                  </a:tcPr>
                </a:tc>
              </a:tr>
            </a:tbl>
          </a:graphicData>
        </a:graphic>
      </p:graphicFrame>
      <p:sp>
        <p:nvSpPr>
          <p:cNvPr id="5" name="TextBox 4"/>
          <p:cNvSpPr txBox="1"/>
          <p:nvPr/>
        </p:nvSpPr>
        <p:spPr>
          <a:xfrm>
            <a:off x="640080" y="41087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Raw depth는 서열 행 수; 같은 서열이 많아도 그대로 증가</a:t>
            </a:r>
          </a:p>
        </p:txBody>
      </p:sp>
      <p:sp>
        <p:nvSpPr>
          <p:cNvPr id="6" name="TextBox 5"/>
          <p:cNvSpPr txBox="1"/>
          <p:nvPr/>
        </p:nvSpPr>
        <p:spPr>
          <a:xfrm>
            <a:off x="640080" y="460984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Neff는 중복·유사도를 반영하는 지표이며 계산법을 반드시 명시</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080–083분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31 / 75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다음 단계: MSA의 어떤 정보를 바꿀 것인가?</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조작</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먼저 물을 질문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Depth 조절</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몇 행을 남기며 어떤 다양성이 달라지는가?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Clustering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어떤 서열 집단을 골랐는가?</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Masking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어떤 열을 가리며 query 번호는 유지되는가?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변경 전후의 행 수·다양성·coverage·query 좌표를 기록</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 변경으로 얻은 다른 구조는 검증할 후보이지 상태의 증명이 아님</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083–084분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32 / 75</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서열에서 예측 구조까지</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Query: 구조를 알고 싶은 단백질의 아미노산 서열</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진화적으로 관련된 서열을 정렬한 입력</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모델: 서열·MSA·선택한 추가 정보를 함께 처리</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출력: 원자 좌표와 모델이 추정한 신뢰도</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084–086분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33 / 75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AlphaFold2와 AlphaFold3</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AlphaFold2 계열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AlphaFold3</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주요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단백질 서열·MSA·template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단백질·핵산·리간드 등</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좌표 생성</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구조 모듈과 recycling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Diffusion 기반 생성</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이 강의에서 역할</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조작의 주요 실습 도구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기본 예측과 확장 적용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해석 원칙</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예측을 만들고 검증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별도 검증 후 기법 적용</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강의의 MSA 조작 사례는 주로 AF2에서 검증되었습니다.</a:t>
            </a:r>
          </a:p>
        </p:txBody>
      </p:sp>
      <p:sp>
        <p:nvSpPr>
          <p:cNvPr id="6" name="TextBox 5"/>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086–088분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34 / 75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웹 서버와 로컬 실행</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웹 서버: 서열과 분자를 입력해 빠르게 시작</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로컬 AF3: JSON으로 custom MSA·template 지정</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 실습: custom A3M을 받는 ColabFold 활용</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실제 예측에는 모델 설치·계산 자원이 필요</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088–090분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35 / 75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Custom MSA의 기본 조건</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첫 번째 서열은 예측할 query와 일치</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정렬 열은 query의 위치와 대응</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A3M의 소문자는 insertion, 대문자·gap은 정렬 열</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비교할 때 query·template·모델 버전을 함께 기록</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090–092분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36 / 75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1 · 접속과 실습 준비</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공식 AlphaFold2 노트북을 열고 Google 계정으로 로그인</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필요하면 File → Save a copy in Drive로 개인 사본 저장</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사용할 파일: examples/calmodulin_P0DP23.fasta</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이 수업에서는 단백질 한 사슬, 149개 아미노산을 입력</a:t>
            </a:r>
          </a:p>
        </p:txBody>
      </p:sp>
      <p:sp>
        <p:nvSpPr>
          <p:cNvPr id="8" name="TextBox 7"/>
          <p:cNvSpPr txBox="1"/>
          <p:nvPr/>
        </p:nvSpPr>
        <p:spPr>
          <a:xfrm>
            <a:off x="685800" y="6126480"/>
            <a:ext cx="10789920" cy="310896"/>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hlinkClick r:id="rId2"/>
              </a:rPr>
              <a:t>공식 ColabFold AlphaFold2 노트북 열기 · 클릭</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092–094분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37 / 75</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2 · GPU와 노트북 실행 방식</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Change runtime type → GPU 선택 → Save</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한국어 메뉴: 런타임 → 런타임 유형 변경</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코드 셀은 왼쪽 ▶로 실행하며, 위에서 아래로 이어집니다.</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GPU를 할당받지 못하면 교사 결과·오프라인 활동으로 진행</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094–096분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38 / 75</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3 · 서열과 기본 조건 입력</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화면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이번 실습의 입력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의미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query_sequence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CALM1 전체 서열 149 aa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예측할 단백질</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jobname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calm_baseline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결과를 구분할 이름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num_relax / template_mode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 / none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처음에는 template 없이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msa_mode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mmseqs2_uniref_env</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검색으로 기본 MSA 생성</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FASTA의 &gt;로 시작하는 제목 줄을 빼고 서열만 붙여넣기</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첫 셀 출력에서 length 149와 실제 서열을 확인</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096–098분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39 / 75</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4 · Run all과 계산 진행 확인</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Advanced settings: model_type=alphafold2_ptm, num_recycles=3</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Sample settings: max_msa=auto, num_seeds=1, use_dropout 해제</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Run all / 런타임 → 모두 실행</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설치 → MSA 검색 → Run Prediction → 결과 표시 순서 확인</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098–100분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40 / 75</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5 · 결과와 MSA 다운로드</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Display 3D structure에서 rank_num과 잔기별 색 확인</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Plots에서 MSA coverage·pLDDT·PAE 확인</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Package and download results의 실행 버튼으로 결과 ZIP 저장</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ZIP의 .a3m·구조 .pdb·설정/로그를 함께 보관</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100–102분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41 / 75</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6 · Custom MSA 업로드</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새 jobname 입력 · query_sequence는 동일하게 유지</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options에서 msa_mode를 custom으로 선택</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Run all → 업로드 창에서 .a3m 한 개 선택</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첫 query가 CALM1 149 aa인지 확인하고 결과 ZIP 저장</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102–104분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42 / 75</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AF3에서 custom MSA 지정</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"protein": {</a:t>
            </a:r>
          </a:p>
          <a:p>
            <a:pPr>
              <a:lnSpc>
                <a:spcPts val="2372"/>
              </a:lnSpc>
            </a:pPr>
            <a:r>
              <a:rPr sz="2100" b="0" lang="ko-KR">
                <a:solidFill>
                  <a:srgbClr val="183342"/>
                </a:solidFill>
                <a:latin typeface="Courier New"/>
                <a:ea typeface="Arial Unicode MS"/>
              </a:rPr>
              <a:t>  "id": "A",</a:t>
            </a:r>
          </a:p>
          <a:p>
            <a:pPr>
              <a:lnSpc>
                <a:spcPts val="2372"/>
              </a:lnSpc>
            </a:pPr>
            <a:r>
              <a:rPr sz="2100" b="0" lang="ko-KR">
                <a:solidFill>
                  <a:srgbClr val="183342"/>
                </a:solidFill>
                <a:latin typeface="Courier New"/>
                <a:ea typeface="Arial Unicode MS"/>
              </a:rPr>
              <a:t>  "sequence": "&lt;full query sequence&gt;",</a:t>
            </a:r>
          </a:p>
          <a:p>
            <a:pPr>
              <a:lnSpc>
                <a:spcPts val="2372"/>
              </a:lnSpc>
            </a:pPr>
            <a:r>
              <a:rPr sz="2100" b="0" lang="ko-KR">
                <a:solidFill>
                  <a:srgbClr val="183342"/>
                </a:solidFill>
                <a:latin typeface="Courier New"/>
                <a:ea typeface="Arial Unicode MS"/>
              </a:rPr>
              <a:t>  "unpairedMsaPath": "target.a3m",</a:t>
            </a:r>
          </a:p>
          <a:p>
            <a:pPr>
              <a:lnSpc>
                <a:spcPts val="2372"/>
              </a:lnSpc>
            </a:pPr>
            <a:r>
              <a:rPr sz="2100" b="0" lang="ko-KR">
                <a:solidFill>
                  <a:srgbClr val="183342"/>
                </a:solidFill>
                <a:latin typeface="Courier New"/>
                <a:ea typeface="Arial Unicode MS"/>
              </a:rPr>
              <a:t>  "pairedMsa": "",</a:t>
            </a:r>
          </a:p>
          <a:p>
            <a:pPr>
              <a:lnSpc>
                <a:spcPts val="2372"/>
              </a:lnSpc>
            </a:pPr>
            <a:r>
              <a:rPr sz="2100" b="0" lang="ko-KR">
                <a:solidFill>
                  <a:srgbClr val="183342"/>
                </a:solidFill>
                <a:latin typeface="Courier New"/>
                <a:ea typeface="Arial Unicode MS"/>
              </a:rPr>
              <a:t>  "templates": []</a:t>
            </a:r>
          </a:p>
          <a:p>
            <a:pPr>
              <a:lnSpc>
                <a:spcPts val="2372"/>
              </a:lnSpc>
            </a:pPr>
            <a:r>
              <a:rPr sz="2100" b="0" lang="ko-KR">
                <a:solidFill>
                  <a:srgbClr val="183342"/>
                </a:solidFill>
                <a:latin typeface="Courier New"/>
                <a:ea typeface="Arial Unicode MS"/>
              </a:rPr>
              <a:t>}</a:t>
            </a:r>
          </a:p>
        </p:txBody>
      </p:sp>
      <p:sp>
        <p:nvSpPr>
          <p:cNvPr id="5" name="TextBox 4"/>
          <p:cNvSpPr txBox="1"/>
          <p:nvPr/>
        </p:nvSpPr>
        <p:spPr>
          <a:xfrm>
            <a:off x="676656" y="3871848"/>
            <a:ext cx="10835640" cy="825754"/>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unpairedMsaPath: 직접 준비한 A3M</a:t>
            </a:r>
          </a:p>
          <a:p>
            <a:pPr>
              <a:lnSpc>
                <a:spcPct val="113000"/>
              </a:lnSpc>
            </a:pPr>
            <a:r>
              <a:rPr sz="1800" b="0" lang="ko-KR">
                <a:solidFill>
                  <a:srgbClr val="277F87"/>
                </a:solidFill>
                <a:latin typeface="Arial Unicode MS"/>
                <a:ea typeface="Arial Unicode MS"/>
              </a:rPr>
              <a:t>pairedMsa: 단량체 실습에서는 빈 값</a:t>
            </a:r>
          </a:p>
          <a:p>
            <a:pPr>
              <a:lnSpc>
                <a:spcPct val="113000"/>
              </a:lnSpc>
            </a:pPr>
            <a:r>
              <a:rPr sz="1800" b="0" lang="ko-KR">
                <a:solidFill>
                  <a:srgbClr val="277F87"/>
                </a:solidFill>
                <a:latin typeface="Arial Unicode MS"/>
                <a:ea typeface="Arial Unicode MS"/>
              </a:rPr>
              <a:t>templates: template 비교 조건 고정</a:t>
            </a:r>
          </a:p>
        </p:txBody>
      </p:sp>
      <p:sp>
        <p:nvSpPr>
          <p:cNvPr id="6" name="TextBox 5"/>
          <p:cNvSpPr txBox="1"/>
          <p:nvPr/>
        </p:nvSpPr>
        <p:spPr>
          <a:xfrm>
            <a:off x="676656" y="486219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아래는 protein 항목의 형식 예시입니다.</a:t>
            </a:r>
          </a:p>
        </p:txBody>
      </p:sp>
      <p:sp>
        <p:nvSpPr>
          <p:cNvPr id="7" name="TextBox 6"/>
          <p:cNvSpPr txBox="1"/>
          <p:nvPr/>
        </p:nvSpPr>
        <p:spPr>
          <a:xfrm>
            <a:off x="676656" y="539203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실제 FASTA와 A3M을 사용한 완전한 JSON은 examples/에서 생성합니다.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104–105분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43 / 75</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다른 예측 모델의 역할</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도구</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주요 역할</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 수업에서 비교할 점</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ColabFold / AF2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Custom A3M 예측</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조건별 차이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Boltz-2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분자의 복합체 예측</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A3M과 분자 조건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Chai-1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생체분자 복합체 예측</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사용 여부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ESMFold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단일 서열 예측</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MSA 없는 비교 기준</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모델 간 일치는 참고 근거이며 독립적인 실험 검증은 아닙니다.</a:t>
            </a:r>
          </a:p>
        </p:txBody>
      </p:sp>
      <p:sp>
        <p:nvSpPr>
          <p:cNvPr id="6" name="TextBox 5"/>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105–107분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44 / 75</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Boltz-2에서 같은 A3M 사용</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python3 examples/prepare_inputs.py \</a:t>
            </a:r>
          </a:p>
          <a:p>
            <a:pPr>
              <a:lnSpc>
                <a:spcPts val="2372"/>
              </a:lnSpc>
            </a:pPr>
            <a:r>
              <a:rPr sz="2100" b="0" lang="ko-KR">
                <a:solidFill>
                  <a:srgbClr val="183342"/>
                </a:solidFill>
                <a:latin typeface="Courier New"/>
                <a:ea typeface="Arial Unicode MS"/>
              </a:rPr>
              <a:t>  examples/calmodulin_P0DP23.fasta target.a3m \</a:t>
            </a:r>
          </a:p>
          <a:p>
            <a:pPr>
              <a:lnSpc>
                <a:spcPts val="2372"/>
              </a:lnSpc>
            </a:pPr>
            <a:r>
              <a:rPr sz="2100" b="0" lang="ko-KR">
                <a:solidFill>
                  <a:srgbClr val="183342"/>
                </a:solidFill>
                <a:latin typeface="Courier New"/>
                <a:ea typeface="Arial Unicode MS"/>
              </a:rPr>
              <a:t>  --out prepared</a:t>
            </a:r>
          </a:p>
          <a:p>
            <a:pPr>
              <a:lnSpc>
                <a:spcPts val="2372"/>
              </a:lnSpc>
            </a:pPr>
            <a:r>
              <a:rPr sz="2100" b="0" lang="ko-KR">
                <a:solidFill>
                  <a:srgbClr val="183342"/>
                </a:solidFill>
                <a:latin typeface="Courier New"/>
                <a:ea typeface="Arial Unicode MS"/>
              </a:rPr>
              <a:t/>
            </a:r>
          </a:p>
          <a:p>
            <a:pPr>
              <a:lnSpc>
                <a:spcPts val="2372"/>
              </a:lnSpc>
            </a:pPr>
            <a:r>
              <a:rPr sz="2100" b="0" lang="ko-KR">
                <a:solidFill>
                  <a:srgbClr val="183342"/>
                </a:solidFill>
                <a:latin typeface="Courier New"/>
                <a:ea typeface="Arial Unicode MS"/>
              </a:rPr>
              <a:t>boltz predict prepared/boltz.yaml \</a:t>
            </a:r>
          </a:p>
          <a:p>
            <a:pPr>
              <a:lnSpc>
                <a:spcPts val="2372"/>
              </a:lnSpc>
            </a:pPr>
            <a:r>
              <a:rPr sz="2100" b="0" lang="ko-KR">
                <a:solidFill>
                  <a:srgbClr val="183342"/>
                </a:solidFill>
                <a:latin typeface="Courier New"/>
                <a:ea typeface="Arial Unicode MS"/>
              </a:rPr>
              <a:t>  --out_dir results/boltz</a:t>
            </a:r>
          </a:p>
        </p:txBody>
      </p:sp>
      <p:sp>
        <p:nvSpPr>
          <p:cNvPr id="5" name="TextBox 4"/>
          <p:cNvSpPr txBox="1"/>
          <p:nvPr/>
        </p:nvSpPr>
        <p:spPr>
          <a:xfrm>
            <a:off x="676656" y="3570478"/>
            <a:ext cx="10835640" cy="825754"/>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FASTA와 MSA query 일치 검사</a:t>
            </a:r>
          </a:p>
          <a:p>
            <a:pPr>
              <a:lnSpc>
                <a:spcPct val="113000"/>
              </a:lnSpc>
            </a:pPr>
            <a:r>
              <a:rPr sz="1800" b="0" lang="ko-KR">
                <a:solidFill>
                  <a:srgbClr val="277F87"/>
                </a:solidFill>
                <a:latin typeface="Arial Unicode MS"/>
                <a:ea typeface="Arial Unicode MS"/>
              </a:rPr>
              <a:t>AF3 JSON과 Boltz YAML 생성</a:t>
            </a:r>
          </a:p>
          <a:p>
            <a:pPr>
              <a:lnSpc>
                <a:spcPct val="113000"/>
              </a:lnSpc>
            </a:pPr>
            <a:r>
              <a:rPr sz="1800" b="0" lang="ko-KR">
                <a:solidFill>
                  <a:srgbClr val="277F87"/>
                </a:solidFill>
                <a:latin typeface="Arial Unicode MS"/>
                <a:ea typeface="Arial Unicode MS"/>
              </a:rPr>
              <a:t>실제 추론은 별도 실행</a:t>
            </a:r>
          </a:p>
        </p:txBody>
      </p:sp>
      <p:sp>
        <p:nvSpPr>
          <p:cNvPr id="6" name="TextBox 5"/>
          <p:cNvSpPr txBox="1"/>
          <p:nvPr/>
        </p:nvSpPr>
        <p:spPr>
          <a:xfrm>
            <a:off x="676656" y="456082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YAML의 protein 항목에 sequence와 msa 경로 지정</a:t>
            </a:r>
          </a:p>
        </p:txBody>
      </p:sp>
      <p:sp>
        <p:nvSpPr>
          <p:cNvPr id="7" name="TextBox 6"/>
          <p:cNvSpPr txBox="1"/>
          <p:nvPr/>
        </p:nvSpPr>
        <p:spPr>
          <a:xfrm>
            <a:off x="676656" y="509066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examples/prepare_inputs.py로 입력 파일 생성</a:t>
            </a:r>
          </a:p>
        </p:txBody>
      </p:sp>
      <p:sp>
        <p:nvSpPr>
          <p:cNvPr id="8" name="TextBox 7"/>
          <p:cNvSpPr txBox="1"/>
          <p:nvPr/>
        </p:nvSpPr>
        <p:spPr>
          <a:xfrm>
            <a:off x="676656" y="5620512"/>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같은 입력을 사용해 모델 간 차이를 관찰</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107–108분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45 / 75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Chai-1과 ESMFold 비교 경로</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실행 경로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입력·확인 사항</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chai-lab fold prepared/chai.fasta results/chai</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기본 조건의 단일 서열 예측</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Chai-1에서 custom MSA 사용</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공식 .aligned.pqt 변환 예제</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esm-fold -i 입력.fasta -o 결과폴더</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설치된 ESMFold 환경 필요</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Chai-1: 전용 FASTA 형식으로 입력</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 사용 시 공식 변환·서버 옵션 확인</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ESMFold: 별도의 입력 MSA 없이 예측</a:t>
            </a:r>
          </a:p>
        </p:txBody>
      </p:sp>
      <p:sp>
        <p:nvSpPr>
          <p:cNvPr id="8" name="TextBox 7"/>
          <p:cNvSpPr txBox="1"/>
          <p:nvPr/>
        </p:nvSpPr>
        <p:spPr>
          <a:xfrm>
            <a:off x="640080" y="5298185"/>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모델 변화와 MSA 변화의 효과를 따로 기록</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108–109분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46 / 75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한 번에 한 조건씩 비교</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Baseline: 원본 MSA와 정해진 seed 목록</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Depth: 행 수만 줄여 여러 번 표본 추출</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Cluster: 비슷한 서열 집단별 입력</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Mask: 정해진 열의 정보만 가리는 조건</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109–111분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47 / 75</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공정한 비교 설계</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설계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조건 1</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조건 2</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Q / template 없음 / 5회</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Q 일부 삭제 / template 있음 / 50회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Q / 전체 MSA / 10회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Q / 선택 MSA / 10회</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B의 공통 조건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모델·template·seed 집합</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같게 유지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질문: MSA 행 선택의 효과를 알고 싶다.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A/B 중 더 공정한 비교를 고르고 이유를 적는다.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고정할 것 2개, 기록할 것 2개를 짝과 공유한다.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111–114분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48 / 75</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기준 예측부터 기록한다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먼저 고정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변경 후보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함께 기록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Query·모델 버전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행 또는 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입력 파일·행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Template 조건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Seed·dropout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반복 수·실행 설정</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구조 비교 구간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조건씩 비교</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pLDDT·PAE·구조 차이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단백질의 입력 근거를 바꾸어 비교한다.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Query 서열·길이·번호를 먼저 고정한다.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한 번에 바꾸는 조건과 반복 횟수를 기록한다.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114–116분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49 / 75</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행을 줄인다: MSA subsampling</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원래 MSA             선택한 MSA</a:t>
            </a:r>
          </a:p>
          <a:p>
            <a:pPr>
              <a:lnSpc>
                <a:spcPts val="2372"/>
              </a:lnSpc>
            </a:pPr>
            <a:r>
              <a:rPr sz="2100" b="0" lang="ko-KR">
                <a:solidFill>
                  <a:srgbClr val="183342"/>
                </a:solidFill>
                <a:latin typeface="Courier New"/>
                <a:ea typeface="Arial Unicode MS"/>
              </a:rPr>
              <a:t>query  ACDEFGHI      query  ACDEFGHI</a:t>
            </a:r>
          </a:p>
          <a:p>
            <a:pPr>
              <a:lnSpc>
                <a:spcPts val="2372"/>
              </a:lnSpc>
            </a:pPr>
            <a:r>
              <a:rPr sz="2100" b="0" lang="ko-KR">
                <a:solidFill>
                  <a:srgbClr val="183342"/>
                </a:solidFill>
                <a:latin typeface="Courier New"/>
                <a:ea typeface="Arial Unicode MS"/>
              </a:rPr>
              <a:t>hom1   AC-EYGHI      hom1   AC-EYGHI</a:t>
            </a:r>
          </a:p>
          <a:p>
            <a:pPr>
              <a:lnSpc>
                <a:spcPts val="2372"/>
              </a:lnSpc>
            </a:pPr>
            <a:r>
              <a:rPr sz="2100" b="0" lang="ko-KR">
                <a:solidFill>
                  <a:srgbClr val="183342"/>
                </a:solidFill>
                <a:latin typeface="Courier New"/>
                <a:ea typeface="Arial Unicode MS"/>
              </a:rPr>
              <a:t>hom2   ACDEFG-I</a:t>
            </a:r>
          </a:p>
          <a:p>
            <a:pPr>
              <a:lnSpc>
                <a:spcPts val="2372"/>
              </a:lnSpc>
            </a:pPr>
            <a:r>
              <a:rPr sz="2100" b="0" lang="ko-KR">
                <a:solidFill>
                  <a:srgbClr val="183342"/>
                </a:solidFill>
                <a:latin typeface="Courier New"/>
                <a:ea typeface="Arial Unicode MS"/>
              </a:rPr>
              <a:t>hom3   ACNEFGHI      hom3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Query 행은 유지하고, homolog 행의 일부를 택한다. 열과 query 길이는 유지한다.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 = 정렬에 포함된 서열 하나</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남기고 homolog 행 일부를 선택한다.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 수 감소는 정보 감소와 다양성 변화를 함께 만든다.</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116–118분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50 / 75</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Depth를 줄인 MSA</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4쪽 1번: query와 A2·A3·B1만 남겨 보세요.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컴퓨터: practice/에서 python3 msa_lab.py 실행</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출력 폴더의 subsample.a3m: 첫 행·행 수·열 수 확인</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원본과 비교해 줄어든 진화 정보는 무엇인가요?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118–121분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51 / 75</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얕은 MSA의 효과와 한계</a:t>
            </a:r>
          </a:p>
        </p:txBody>
      </p:sp>
      <p:pic>
        <p:nvPicPr>
          <p:cNvPr id="4" name="Picture 3" descr="subsampling_workflow.jpg; publisher figure, attributed in speaker notes"/>
          <p:cNvPicPr>
            <a:picLocks noChangeAspect="1"/>
          </p:cNvPicPr>
          <p:nvPr/>
        </p:nvPicPr>
        <p:blipFill>
          <a:blip r:embed="rId2"/>
          <a:srcRect b="71100"/>
          <a:stretch>
            <a:fillRect/>
          </a:stretch>
        </p:blipFill>
        <p:spPr>
          <a:xfrm>
            <a:off x="890793" y="1417320"/>
            <a:ext cx="10379932"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점 하나는 예측 구조 하나: 실험 구조와 비교한다.</a:t>
            </a:r>
          </a:p>
          <a:p>
            <a:pPr>
              <a:lnSpc>
                <a:spcPct val="113000"/>
              </a:lnSpc>
            </a:pPr>
            <a:r>
              <a:rPr sz="1800" b="0" lang="ko-KR">
                <a:solidFill>
                  <a:srgbClr val="183342"/>
                </a:solidFill>
                <a:latin typeface="Arial Unicode MS"/>
                <a:ea typeface="Arial Unicode MS"/>
              </a:rPr>
              <a:t>MSA 깊이에 따라 구조 분포가 달라진 사례가 있다.</a:t>
            </a:r>
          </a:p>
          <a:p>
            <a:pPr>
              <a:lnSpc>
                <a:spcPct val="113000"/>
              </a:lnSpc>
            </a:pPr>
            <a:r>
              <a:rPr sz="1800" b="0" lang="ko-KR">
                <a:solidFill>
                  <a:srgbClr val="183342"/>
                </a:solidFill>
                <a:latin typeface="Arial Unicode MS"/>
                <a:ea typeface="Arial Unicode MS"/>
              </a:rPr>
              <a:t>다양성 증가에는 잘못 접힌 구조도 섞일 수 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del Alamo et al., eLife (2022), Fig. 1A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121–123분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52 / 75</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7 · 화면에서 MSA depth 비교</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화면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비교 A</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비교 B</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jobname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calm_depth32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calm_depth64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msa_mode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 동일 A3M</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 동일 A3M</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max_msa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32:64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64:128</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고정 항목</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모델·seed 수·template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설정 유지</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A3M을 custom으로 재사용하고 max_msa만 변경</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숫자는 주 MSA·extra MSA 한도이며 총 행 수가 아닙니다.</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123–126분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53 / 75</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다시 시작합니다.</a:t>
            </a:r>
          </a:p>
          <a:p>
            <a:pPr>
              <a:lnSpc>
                <a:spcPct val="113000"/>
              </a:lnSpc>
            </a:pPr>
            <a:r>
              <a:rPr sz="2400" b="0" lang="ko-KR">
                <a:solidFill>
                  <a:srgbClr val="FFFFFF"/>
                </a:solidFill>
                <a:latin typeface="Arial Unicode MS"/>
                <a:ea typeface="Arial Unicode MS"/>
              </a:rPr>
              <a:t>다음: clustering과 masking 설명·바로 실습</a:t>
            </a:r>
          </a:p>
        </p:txBody>
      </p:sp>
      <p:sp>
        <p:nvSpPr>
          <p:cNvPr id="4" name="TextBox 3"/>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126–136분</a:t>
            </a:r>
          </a:p>
        </p:txBody>
      </p:sp>
      <p:sp>
        <p:nvSpPr>
          <p:cNvPr id="5" name="TextBox 4"/>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54 / 75</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AF-Cluster: 서열을 먼저 나누어 예측</a:t>
            </a:r>
          </a:p>
        </p:txBody>
      </p:sp>
      <p:pic>
        <p:nvPicPr>
          <p:cNvPr id="4" name="Picture 3" descr="afcluster_workflow.png; publisher figure, attributed in speaker notes"/>
          <p:cNvPicPr>
            <a:picLocks noChangeAspect="1"/>
          </p:cNvPicPr>
          <p:nvPr/>
        </p:nvPicPr>
        <p:blipFill>
          <a:blip r:embed="rId2"/>
          <a:srcRect t="21500" b="34500"/>
          <a:stretch>
            <a:fillRect/>
          </a:stretch>
        </p:blipFill>
        <p:spPr>
          <a:xfrm>
            <a:off x="1646687" y="1417320"/>
            <a:ext cx="8868145"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MSA의 homolog를 서열 유사성으로 나눈다.</a:t>
            </a:r>
          </a:p>
          <a:p>
            <a:pPr>
              <a:lnSpc>
                <a:spcPct val="113000"/>
              </a:lnSpc>
            </a:pPr>
            <a:r>
              <a:rPr sz="1800" b="0" lang="ko-KR">
                <a:solidFill>
                  <a:srgbClr val="183342"/>
                </a:solidFill>
                <a:latin typeface="Arial Unicode MS"/>
                <a:ea typeface="Arial Unicode MS"/>
              </a:rPr>
              <a:t>각 sub-MSA를 별도로 AF2에 입력한다.</a:t>
            </a:r>
          </a:p>
          <a:p>
            <a:pPr>
              <a:lnSpc>
                <a:spcPct val="113000"/>
              </a:lnSpc>
            </a:pPr>
            <a:r>
              <a:rPr sz="1800" b="0" lang="ko-KR">
                <a:solidFill>
                  <a:srgbClr val="183342"/>
                </a:solidFill>
                <a:latin typeface="Arial Unicode MS"/>
                <a:ea typeface="Arial Unicode MS"/>
              </a:rPr>
              <a:t>KaiB의 알려진 다른 접힘을 탐색한 사례가 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Wayment-Steele et al., Nature (2024), Fig. 1d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136–139분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55 / 75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각 cluster에도 같은 query가 들어간다</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Cluster A 입력        Cluster B 입력</a:t>
            </a:r>
          </a:p>
          <a:p>
            <a:pPr>
              <a:lnSpc>
                <a:spcPts val="2372"/>
              </a:lnSpc>
            </a:pPr>
            <a:r>
              <a:rPr sz="2100" b="0" lang="ko-KR">
                <a:solidFill>
                  <a:srgbClr val="183342"/>
                </a:solidFill>
                <a:latin typeface="Courier New"/>
                <a:ea typeface="Arial Unicode MS"/>
              </a:rPr>
              <a:t>&gt;query                &gt;query</a:t>
            </a:r>
          </a:p>
          <a:p>
            <a:pPr>
              <a:lnSpc>
                <a:spcPts val="2372"/>
              </a:lnSpc>
            </a:pPr>
            <a:r>
              <a:rPr sz="2100" b="0" lang="ko-KR">
                <a:solidFill>
                  <a:srgbClr val="183342"/>
                </a:solidFill>
                <a:latin typeface="Courier New"/>
                <a:ea typeface="Arial Unicode MS"/>
              </a:rPr>
              <a:t>ACDEFGHI              ACDEFGHI</a:t>
            </a:r>
          </a:p>
          <a:p>
            <a:pPr>
              <a:lnSpc>
                <a:spcPts val="2372"/>
              </a:lnSpc>
            </a:pPr>
            <a:r>
              <a:rPr sz="2100" b="0" lang="ko-KR">
                <a:solidFill>
                  <a:srgbClr val="183342"/>
                </a:solidFill>
                <a:latin typeface="Courier New"/>
                <a:ea typeface="Arial Unicode MS"/>
              </a:rPr>
              <a:t>&gt;hom1                 &gt;hom3</a:t>
            </a:r>
          </a:p>
          <a:p>
            <a:pPr>
              <a:lnSpc>
                <a:spcPts val="2372"/>
              </a:lnSpc>
            </a:pPr>
            <a:r>
              <a:rPr sz="2100" b="0" lang="ko-KR">
                <a:solidFill>
                  <a:srgbClr val="183342"/>
                </a:solidFill>
                <a:latin typeface="Courier New"/>
                <a:ea typeface="Arial Unicode MS"/>
              </a:rPr>
              <a:t>AC-EYGHI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두 입력의 query는 동일하고, 그 아래 homolog 조합만 다르다.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예측 대상 = query, 배경 정보 = homolog 집합</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Cluster마다 query를 맨 앞에 다시 넣는다.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 대표 서열로 query를 바꾸면 대상도 바뀐다.</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139–141분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56 / 75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서열 그룹별 입력 비교</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4쪽 2번: group_A/B.a3m을 비교하세요.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두 파일의 첫 query와 homolog 구성을 확인</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각 그룹에서 5열·11열의 잔기 분포를 읽어 보세요.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이 그룹을 ortholog 집합이나 구조 상태라 부를 수 있나요?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141–144분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57 / 75</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서열 cluster는 열역학적 상태가 아니다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분류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사용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바로 알 수 없는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어떤 서열이 닮았나?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서열 유사성</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구조 상태의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어떤 진화 관계인가?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유전자·종 계통</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상태별 점유율</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어떤 구조가 다른가?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좌표·접촉·실험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전환 속도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서열 유사성은 진화적 관련성과 기능 차이를 섞어 담는다.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 / paralog 구분과 구조 상태 구분은 다른 문제다.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Cluster 수·크기에서 상태 수·점유율을 바로 읽지 않는다.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144–146분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58 / 75</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2025년 논쟁: 비교 조건을 읽는다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자료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핵심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읽을 때 확인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Nature 비판 (2025)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무작위 표본보다 나은가?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표적·표본 수·AF2 설정</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JMB 응답 (2025)</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진화 신호를 직접 시험했나?</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대조군·추가 분석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우리 비교 설계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무엇 하나가 달랐나?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동일 조건·독립 평가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Matters Arising은 무작위 표본 비교와 해석을 비판했다.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저자 응답은 비교 조건과 진화 신호의 역할을 재검토했다.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강의 결론: 같은 조건의 대조군과 독립 검증이 필요하다.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146–147분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59 / 75</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가지 clustering을 구별한다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단계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묶는 대상</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목적</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AF2 이전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서열 행</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입력 근거 만들기</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AF2 이후</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구조 후보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중복 정리·대표 선택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실험 검증 이후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관찰된 상태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물리적 해석 뒷받침</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입력 clustering: 예측 전에 서열을 묶는다.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출력 clustering: 예측 후 구조를 묶는다.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많은 입력 cluster가 같은 구조를 만들 수도 있다.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147–148분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60 / 75</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열을 가린다: unknown X와 gap의 차이</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원래                  한 열을 X로 마스킹</a:t>
            </a:r>
          </a:p>
          <a:p>
            <a:pPr>
              <a:lnSpc>
                <a:spcPts val="2372"/>
              </a:lnSpc>
            </a:pPr>
            <a:r>
              <a:rPr sz="2100" b="0" lang="ko-KR">
                <a:solidFill>
                  <a:srgbClr val="183342"/>
                </a:solidFill>
                <a:latin typeface="Courier New"/>
                <a:ea typeface="Arial Unicode MS"/>
              </a:rPr>
              <a:t>query  ACDEFGHI       query  ACDEFGHI</a:t>
            </a:r>
          </a:p>
          <a:p>
            <a:pPr>
              <a:lnSpc>
                <a:spcPts val="2372"/>
              </a:lnSpc>
            </a:pPr>
            <a:r>
              <a:rPr sz="2100" b="0" lang="ko-KR">
                <a:solidFill>
                  <a:srgbClr val="183342"/>
                </a:solidFill>
                <a:latin typeface="Courier New"/>
                <a:ea typeface="Arial Unicode MS"/>
              </a:rPr>
              <a:t>hom1   AC-EYGHI       hom1   AC-XYGHI</a:t>
            </a:r>
          </a:p>
          <a:p>
            <a:pPr>
              <a:lnSpc>
                <a:spcPts val="2372"/>
              </a:lnSpc>
            </a:pPr>
            <a:r>
              <a:rPr sz="2100" b="0" lang="ko-KR">
                <a:solidFill>
                  <a:srgbClr val="183342"/>
                </a:solidFill>
                <a:latin typeface="Courier New"/>
                <a:ea typeface="Arial Unicode MS"/>
              </a:rPr>
              <a:t>hom2   ACDEFG-I       hom2   ACDXFG-I</a:t>
            </a:r>
          </a:p>
          <a:p>
            <a:pPr>
              <a:lnSpc>
                <a:spcPts val="2372"/>
              </a:lnSpc>
            </a:pPr>
            <a:r>
              <a:rPr sz="2100" b="0" lang="ko-KR">
                <a:solidFill>
                  <a:srgbClr val="183342"/>
                </a:solidFill>
                <a:latin typeface="Courier New"/>
                <a:ea typeface="Arial Unicode MS"/>
              </a:rPr>
              <a:t>           ↑                     ↑</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X = unknown residue, - = gap. Query 첫 행과 전체 정렬 열 수는 바꾸지 않는다.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열(column) = query의 정렬 위치에 대응</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X는 종류를 모르는 잔기, -는 정렬의 gap이다.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오늘 실습에서는 query를 보존한 채 정보만 가린다.</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148–150분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61 / 75</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정렬 열을 X로 가리기</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4쪽 3번: A2의 5·7·10열을 X로 가리세요.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소문자 ee를 정렬 열로 세지 않고 원문을 다시 쓰기</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masked.a3m에서 query·insertion·기존 gap 확인</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어느 열의 빈도와 열 사이 조합 정보가 사라졌나요?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150–153분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62 / 75</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SPEACH_AF와 AFsample2는 같은 편집이 아니다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비교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SPEACH_AF 원 방법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AFsample2</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편집 기호</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alanine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X: unknown</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위치 선택 근거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초기 구조의 접촉 정보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무작위 MSA 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Query 처리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 코드에서 함께 편집</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첫 query 행 유지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공통 해석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새 구조 후보 탐색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검증 필요한 후보</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SPEACH_AF: 구조 정보를 이용한 alanine 편집</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AFsample2: 선택한 MSA 열을 unknown X로 가림</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원래 SPEACH_AF는 query도 편집한다는 예외를 확인한다.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153–156분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63 / 75</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AFsample2의 입력과 출력</a:t>
            </a:r>
          </a:p>
        </p:txBody>
      </p:sp>
      <p:pic>
        <p:nvPicPr>
          <p:cNvPr id="4" name="Picture 3" descr="afsample2_workflow.png; publisher figure, attributed in speaker notes"/>
          <p:cNvPicPr>
            <a:picLocks noChangeAspect="1"/>
          </p:cNvPicPr>
          <p:nvPr/>
        </p:nvPicPr>
        <p:blipFill>
          <a:blip r:embed="rId2"/>
          <a:srcRect b="48500"/>
          <a:stretch>
            <a:fillRect/>
          </a:stretch>
        </p:blipFill>
        <p:spPr>
          <a:xfrm>
            <a:off x="2482236" y="1417320"/>
            <a:ext cx="7197047"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그림 a: 행 선택과 열 마스킹을 비교한다.</a:t>
            </a:r>
          </a:p>
          <a:p>
            <a:pPr>
              <a:lnSpc>
                <a:spcPct val="113000"/>
              </a:lnSpc>
            </a:pPr>
            <a:r>
              <a:rPr sz="1800" b="0" lang="ko-KR">
                <a:solidFill>
                  <a:srgbClr val="183342"/>
                </a:solidFill>
                <a:latin typeface="Arial Unicode MS"/>
                <a:ea typeface="Arial Unicode MS"/>
              </a:rPr>
              <a:t>예측 뒤에는 후보 분석과 독립 검증이 필요하다.</a:t>
            </a:r>
          </a:p>
          <a:p>
            <a:pPr>
              <a:lnSpc>
                <a:spcPct val="113000"/>
              </a:lnSpc>
            </a:pPr>
            <a:r>
              <a:rPr sz="1800" b="0" lang="ko-KR">
                <a:solidFill>
                  <a:srgbClr val="183342"/>
                </a:solidFill>
                <a:latin typeface="Arial Unicode MS"/>
                <a:ea typeface="Arial Unicode MS"/>
              </a:rPr>
              <a:t>새로운 후보가 곧 실험으로 확인된 중간 상태는 아니다.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Kalakoti &amp; Wallner, Communications Biology (2025), Fig. 1a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156–158분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64 / 75</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제목에 open을 쓰면 열릴까?</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&gt;sample_open</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
            </a:r>
          </a:p>
          <a:p>
            <a:pPr>
              <a:lnSpc>
                <a:spcPts val="2372"/>
              </a:lnSpc>
            </a:pPr>
            <a:r>
              <a:rPr sz="2100" b="0" lang="ko-KR">
                <a:solidFill>
                  <a:srgbClr val="183342"/>
                </a:solidFill>
                <a:latin typeface="Courier New"/>
                <a:ea typeface="Arial Unicode MS"/>
              </a:rPr>
              <a:t>&gt;sample_closed</a:t>
            </a:r>
          </a:p>
          <a:p>
            <a:pPr>
              <a:lnSpc>
                <a:spcPts val="2372"/>
              </a:lnSpc>
            </a:pPr>
            <a:r>
              <a:rPr sz="2100" b="0" lang="ko-KR">
                <a:solidFill>
                  <a:srgbClr val="183342"/>
                </a:solidFill>
                <a:latin typeface="Courier New"/>
                <a:ea typeface="Arial Unicode MS"/>
              </a:rPr>
              <a:t>ACDEFGHI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서열. 같은 문자열에 붙인 이름 두 개이며, open/closed 상태를 지정한 입력이 아니다.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Header는 식별자이며 구조 상태 명령문이 아니다.</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MSA 내용과 예측 설정이 같으면 이름만으로 상태를 지정하지 못한다.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복합체에서는 header의 종 정보가 pairing에 쓰일 수 있다.</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158–160분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65 / 75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Seed·dropout·template도 별도 요인이다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요인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바뀌는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주의할 해석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Random seed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확률적 계산의 선택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seed ≠ 다른 물리 상태</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Inference 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계산 중 확률적 교란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온도·시간을 지정하지 않음</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참고 구조 정보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유도된 상태·평가 누출 점검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Recycles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내부 반복</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분자 운동 시간과 다름</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Seed: 반복마다 사용되는 난수의 출발점</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Dropout: 지원 구현에서 추론 중 일부 연산을 무작위로 끔</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Template: 이미 알려진 구조 정보가 입력에 추가됨</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160–162분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66 / 75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AF2 근거를 AF3에 그대로 옮길 수는 없다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범위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확인된 내용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필요한 추가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AF2 방법 연구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Subsampling·cluster·mask 사례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새 표적에서 대조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로컬 AF3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MSA 입력 지원</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구현·설정·모델 차이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AF3 연구 확장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AFsample3 저장소 존재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표적별 검증·근거 수준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단원의 대표 논문들은 AF2를 시험했다.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로컬 AF3는 custom MSA를 받을 수 있다.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AF3용 구현의 존재와 검증된 성능을 구별한다.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162–163분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67 / 75</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대표 후보는 품질과 다양성을 함께 본다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가상 후보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관찰</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판단 질문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Core 양호·기준 형태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기준 대표인가?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Core 양호·도메인 배치 다름</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PAE와 실험이 뒷받침하나?</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C</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큰 차이·국소 충돌·낮은 확신</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상태인가, 오류인가?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A와 거의 같은 구조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중복을 줄일 수 있나?</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먼저 원자 충돌·비정상 구조·낮은 확신 영역을 점검한다.</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안정된 core를 기준으로 겹친 뒤 차이를 비교한다.</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서로 다른 후보를 남기고 실험 근거와 대조한다.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163–166분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68 / 75</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pLDDT·PAE를 상태 확률로 읽지 않는다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숫자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말할 수 있는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직접 뜻하지 않는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pLDDT 높음</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국소 구조를 자신 있게 예측</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안정성·결합력·점유율</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PAE 낮음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상대 배치를 자신 있게 예측</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이동 속도·전환 빈도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100개 중 70개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이 설정의 생성 빈도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평형에서 70% 존재</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pLDDT: 국소 구조에 대한 모델의 확신</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PAE: 상대 위치에 대한 예상 오차(Å)</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후보가 70% 나왔다는 사실만으로 점유율 70%는 아니다.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166–168분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69 / 75</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예측 구조 비교의 기준</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1강에서 사용한 뷰어로 구조와 confidence 파일 열기</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동일한 서열 구간과 원자를 정렬해 비교</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도메인 각도·접촉·거리처럼 질문에 맞는 특징 측정</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긴 loop 하나가 전체 RMSD를 키웠는지 확인</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168–170분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70 / 75</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대안 구조 후보 선택</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2743200"/>
                <a:gridCol w="2743200"/>
                <a:gridCol w="2743200"/>
              </a:tblGrid>
              <a:tr h="548640">
                <a:tc>
                  <a:txBody>
                    <a:bodyPr/>
                    <a:lstStyle/>
                    <a:p>
                      <a:pPr>
                        <a:lnSpc>
                          <a:spcPct val="110000"/>
                        </a:lnSpc>
                      </a:pPr>
                      <a:r>
                        <a:rPr sz="1900" b="1" lang="ko-KR">
                          <a:solidFill>
                            <a:srgbClr val="FFFFFF"/>
                          </a:solidFill>
                          <a:latin typeface="Arial Unicode MS"/>
                          <a:ea typeface="Arial Unicode MS"/>
                        </a:rPr>
                        <a:t>후보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평균 pLDDT</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구간 간 PAE</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Cα 거리</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F1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91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3.1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8.2 Å</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S1</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88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4.4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16.4 Å</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S2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50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18.0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22.0 Å</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F2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92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3.0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8.6 Å</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가상 180잔기 표적의 사고 실험이며 실제 예측이 아닙니다.</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거리: 40–140번 Cα / PAE: 두 지정 구간 사이 평균</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170–175분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71 / 75</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여러 구조를 얻은 뒤 남는 질문</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가능한 주장: 이 조건에서 서로 다른 구조 후보를 얻었다.</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추가 근거 필요: 실제 상태인가, 얼마나 존재하는가?</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구조 번호·recycle 순서로 전환 시간이나 속도를 읽지 않는다.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175–176분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72 / 75</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최종 설명 활동</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“Ortholog만 모으면 공변화가 곧 직접 접촉이다.”</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cluster가 3개이므로 구조 상태도 3개다.”</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“예측 100개 중 20개가 열렸으니 점유율은 20%다.”</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각 주장에 빠진 근거를 한 문장씩 적으세요.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176–178분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73 / 75</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오늘 배운 내용</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진화 관계는 공통조상에서 일어난 사건으로 판단</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공변화는 단서이며 공통 조상·기능 분화를 함께 해석</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조작은 서로 다른 구조 가설을 탐색하는 도구</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후보 구조는 신뢰도·재현성·실험 근거로 평가</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178–179분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74 / 75</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논문과 실행 문서</a:t>
            </a:r>
          </a:p>
        </p:txBody>
      </p:sp>
      <p:sp>
        <p:nvSpPr>
          <p:cNvPr id="4" name="TextBox 3"/>
          <p:cNvSpPr txBox="1"/>
          <p:nvPr/>
        </p:nvSpPr>
        <p:spPr>
          <a:xfrm>
            <a:off x="640080" y="1481328"/>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Jumper et al. (2021), Highly accurate protein structure prediction with AlphaFold</a:t>
            </a:r>
          </a:p>
        </p:txBody>
      </p:sp>
      <p:sp>
        <p:nvSpPr>
          <p:cNvPr id="5" name="TextBox 4"/>
          <p:cNvSpPr txBox="1"/>
          <p:nvPr/>
        </p:nvSpPr>
        <p:spPr>
          <a:xfrm>
            <a:off x="640080" y="1837943"/>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2"/>
              </a:rPr>
              <a:t>https://www.nature.com/articles/s41586-021-03819-2</a:t>
            </a:r>
          </a:p>
        </p:txBody>
      </p:sp>
      <p:sp>
        <p:nvSpPr>
          <p:cNvPr id="6" name="TextBox 5"/>
          <p:cNvSpPr txBox="1"/>
          <p:nvPr/>
        </p:nvSpPr>
        <p:spPr>
          <a:xfrm>
            <a:off x="640080" y="2267712"/>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Abramson et al. (2024), Accurate structure prediction of biomolecular interactions with AlphaFold 3</a:t>
            </a:r>
          </a:p>
        </p:txBody>
      </p:sp>
      <p:sp>
        <p:nvSpPr>
          <p:cNvPr id="7" name="TextBox 6"/>
          <p:cNvSpPr txBox="1"/>
          <p:nvPr/>
        </p:nvSpPr>
        <p:spPr>
          <a:xfrm>
            <a:off x="640080" y="2624327"/>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3"/>
              </a:rPr>
              <a:t>https://www.nature.com/articles/s41586-024-07487-w</a:t>
            </a:r>
          </a:p>
        </p:txBody>
      </p:sp>
      <p:sp>
        <p:nvSpPr>
          <p:cNvPr id="8" name="TextBox 7"/>
          <p:cNvSpPr txBox="1"/>
          <p:nvPr/>
        </p:nvSpPr>
        <p:spPr>
          <a:xfrm>
            <a:off x="640080" y="3054096"/>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ColabFold official repository</a:t>
            </a:r>
          </a:p>
        </p:txBody>
      </p:sp>
      <p:sp>
        <p:nvSpPr>
          <p:cNvPr id="9" name="TextBox 8"/>
          <p:cNvSpPr txBox="1"/>
          <p:nvPr/>
        </p:nvSpPr>
        <p:spPr>
          <a:xfrm>
            <a:off x="640080" y="3410711"/>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4"/>
              </a:rPr>
              <a:t>https://github.com/sokrypton/ColabFold</a:t>
            </a:r>
          </a:p>
        </p:txBody>
      </p:sp>
      <p:sp>
        <p:nvSpPr>
          <p:cNvPr id="10" name="TextBox 9"/>
          <p:cNvSpPr txBox="1"/>
          <p:nvPr/>
        </p:nvSpPr>
        <p:spPr>
          <a:xfrm>
            <a:off x="640080" y="3840480"/>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Boltz official prediction documentation</a:t>
            </a:r>
          </a:p>
        </p:txBody>
      </p:sp>
      <p:sp>
        <p:nvSpPr>
          <p:cNvPr id="11" name="TextBox 10"/>
          <p:cNvSpPr txBox="1"/>
          <p:nvPr/>
        </p:nvSpPr>
        <p:spPr>
          <a:xfrm>
            <a:off x="640080" y="4197096"/>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5"/>
              </a:rPr>
              <a:t>https://github.com/jwohlwend/boltz/blob/main/docs/prediction.md</a:t>
            </a:r>
          </a:p>
        </p:txBody>
      </p:sp>
      <p:sp>
        <p:nvSpPr>
          <p:cNvPr id="12" name="TextBox 11"/>
          <p:cNvSpPr txBox="1"/>
          <p:nvPr/>
        </p:nvSpPr>
        <p:spPr>
          <a:xfrm>
            <a:off x="640080" y="4626864"/>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Chai-1 official repository</a:t>
            </a:r>
          </a:p>
        </p:txBody>
      </p:sp>
      <p:sp>
        <p:nvSpPr>
          <p:cNvPr id="13" name="TextBox 12"/>
          <p:cNvSpPr txBox="1"/>
          <p:nvPr/>
        </p:nvSpPr>
        <p:spPr>
          <a:xfrm>
            <a:off x="640080" y="4983479"/>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6"/>
              </a:rPr>
              <a:t>https://github.com/chaidiscovery/chai-lab</a:t>
            </a:r>
          </a:p>
        </p:txBody>
      </p:sp>
      <p:sp>
        <p:nvSpPr>
          <p:cNvPr id="14" name="TextBox 13"/>
          <p:cNvSpPr txBox="1"/>
          <p:nvPr/>
        </p:nvSpPr>
        <p:spPr>
          <a:xfrm>
            <a:off x="640080" y="5806440"/>
            <a:ext cx="10881360" cy="438912"/>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전체 출처와 논문 그림 라이선스: content/sources.json 및 발표자 노트</a:t>
            </a:r>
          </a:p>
        </p:txBody>
      </p:sp>
      <p:sp>
        <p:nvSpPr>
          <p:cNvPr id="15" name="TextBox 14"/>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179–180분</a:t>
            </a:r>
          </a:p>
        </p:txBody>
      </p:sp>
      <p:sp>
        <p:nvSpPr>
          <p:cNvPr id="16" name="TextBox 1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75 / 75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MSA와 단백질 구조 예측: 진화 관계와 대안 구조 탐색</dc:title>
  <dc:subject>UST 2강 · 한국어 180분 · 생물학 배경 석사생</dc:subject>
  <dc:creator>Donghan Lee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ko-KR</dc:language>
</cp:coreProperties>
</file>
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이 강의에서는 생물학에서 익숙한 공통 조상과 유전자 중복을 출발점으로 삼습니다. 먼저 ortholog와 paralog를 사건에 따라 구분하고, 실제 파일처럼 보이는 짧은 정렬을 직접 읽겠습니다. 이후에는 MSA의 어떤 정보를 바꾸면 구조 예측 결과가 달라질 수 있는지 살펴봅니다. 교육용 가상 서열과 가상 계통수는 개념 학습용이며 실제 단백질이나 실제 진화 역사를 나타내지 않습니다. 이번 개정에서는 설명 직후 활동지를 바로 풉니다. 활동지 1쪽은 진화 관계, 2쪽은 A3M, 3쪽은 coevolution, 4쪽은 입력 조작, 5쪽은 lDDT 계산과 pLDDT 학습, 6쪽은 pLDDT·PAE, 7쪽은 결과 해석입니다. 실습용 가상 자료와 실제 예측 입력을 구분합니다.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1–3분 (2분)</a:t>
            </a:r>
          </a:p>
          <a:p/>
          <a:p>
            <a:r>
              <a:t>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3–5분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5–7분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7–9분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9–11분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11–12분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12–14분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Ortholog와 paralog 판정</a:t>
            </a:r>
          </a:p>
          <a:p>
            <a:r>
              <a:t>시간: 14–18분 (4분)</a:t>
            </a:r>
          </a:p>
          <a:p/>
          <a:p>
            <a:r>
              <a:t>개인 풀이 1분, 짝 토론 1분, 전체 해설 2분으로 운영합니다.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 4분 안에는 화면 예제와 활동지 1번을 우선 풀고 나머지는 해설·확장 문항으로 둡니다.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18–19분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19–21분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21–24분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24–26분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26–27분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27–30분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A3M의 열과 삽입 읽기</a:t>
            </a:r>
          </a:p>
          <a:p>
            <a:r>
              <a:t>시간: 30–34분 (4분)</a:t>
            </a:r>
          </a:p>
          <a:p/>
          <a:p>
            <a:r>
              <a:t>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진행 2분 풀이+2분 해설.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34–37분 (3분)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37–40분 (3분)</a:t>
            </a:r>
          </a:p>
          <a:p/>
          <a:p>
            <a:r>
              <a:t>개인 계산 1분 후 짝과 분모를 확인하고 1분 동안 해설합니다.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40–42분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42–44분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위치의 선택은 다른 위치에 달릴 수 있다</a:t>
            </a:r>
          </a:p>
          <a:p>
            <a:r>
              <a:t>시간: 44–46분 (2분)</a:t>
            </a:r>
          </a:p>
          <a:p/>
          <a:p>
            <a:r>
              <a:t>D는 aspartate, K는 lysine이며 보통의 생리적 pH에서 측쇄가 각각 음전하와 양전하를 띤다는 단순화를 사용합니다. 실제 전하와 안정성은 환경, 거리, 배향, 용매, 다른 잔기 등에 의존하므로 이 표를 모든 단백질의 규칙으로 설명하지 않습니다. 한 위치의 치환 효과가 다른 위치의 상태에 달라지는 생각이 epistasis입니다. 보상적 치환은 한 변화의 영향을 다른 변화가 완화하는 가능한 설명입니다. 그러나 D–K와 K–D 두 조합을 나란히 보았다고 D–K에서 K–K를 거쳐 K–D로 진화했다고 읽을 수 없습니다. 화살표나 시간 순서를 그리지 않은 이유를 말해 줍니다. 이 장은 물리적 직관을 위한 가상 모형이며 다음 MSA 빈도 예제에 실제 접촉이나 보상 치환을 부여하지 않습니다. 접촉하는 잔기들이 서로 맞는 크기나 전하 조합을 유지하면 단백질의 접힘과 기능을 보존하는 데 기여할 수 있습니다. 따라서 서로 먼 서열 위치 사이의 조합 정보가 3차원 공간의 근접성을 추정하는 단서가 됩니다. 공진화가 두 돌연변이의 동시 발생을 뜻하지는 않습니다.</a:t>
            </a:r>
          </a:p>
          <a:p/>
          <a:p>
            <a:r>
              <a:t>출처</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46–49분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같은 열 빈도, 다른 조합</a:t>
            </a:r>
          </a:p>
          <a:p>
            <a:r>
              <a:t>시간: 49–52분 (3분)</a:t>
            </a:r>
          </a:p>
          <a:p/>
          <a:p>
            <a:r>
              <a:t>학생 실습지의 coevolution 페이지 첫 계산과 연결합니다. 1분 개인 계산, 1분 짝 비교, 1분 강사 해설로 운영합니다.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52–62분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62–65분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65–67분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즉시 실습: 계열을 나누면 무엇이 보이나?</a:t>
            </a:r>
          </a:p>
          <a:p>
            <a:r>
              <a:t>시간: 67–70분 (3분)</a:t>
            </a:r>
          </a:p>
          <a:p/>
          <a:p>
            <a:r>
              <a:t>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1분 관계 판정, 1분 전체·계열별 비교, 1분 해설로 운영합니다.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70–72분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72–75분 (3분)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Depth·clustering·masking은 무엇을 바꾸나?</a:t>
            </a:r>
          </a:p>
          <a:p>
            <a:r>
              <a:t>시간: 75–77분 (2분)</a:t>
            </a:r>
          </a:p>
          <a:p/>
          <a:p>
            <a:r>
              <a:t>앞의 혼합 예제로 돌아가 A와 B를 함께 넣을 때와 A만 넣을 때는 관찰하는 분포 자체가 달라짐을 상기시킵니다. 실제 MSA clustering은 주어진 ortholog/paralog 이름을 그대로 읽는 절차가 아니며 결과 군집이 유전자 중복 계열이나 물리적 구조 상태라는 보장도 없습니다. Depth를 줄이면 드문 조합을 잃고 표집 변동이 커질 수 있습니다. Masking은 해당 위치의 정보와 다른 위치와의 조합 정보를 일부 가리지만 특정 접촉 하나만 정밀하게 끄는 조작은 아닙니다. 이런 조작으로 다른 구조 후보가 보고된 방법들을 다음 절에서 배웁니다. 원래 학습된 가중치를 그대로 쓰는 입력 조작이며, 시도할 때마다 정확도가 향상되거나 원하는 상태가 얻어진다는 뜻은 아닙니다. 예측된 후보의 수를 실제 상태의 확률이나 전이 경로로 해석하지 않습니다.</a:t>
            </a:r>
          </a:p>
          <a:p/>
          <a:p>
            <a:r>
              <a:t>출처</a:t>
            </a:r>
          </a:p>
          <a:p>
            <a:r>
              <a:t>[subsampling_paper] del Alamo et al. (2022), Sampling alternative conformational states of transporters and receptors with AlphaFold2</a:t>
            </a:r>
          </a:p>
          <a:p>
            <a:r>
              <a:t>https://elifesciences.org/articles/75751</a:t>
            </a:r>
          </a:p>
          <a:p>
            <a:r>
              <a:t>[afcluster_paper] Wayment-Steele et al. (2024), Predicting multiple conformations via sequence clustering and AlphaFold2</a:t>
            </a:r>
          </a:p>
          <a:p>
            <a:r>
              <a:t>https://www.nature.com/articles/s41586-023-06832-9</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77–80분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서열에서 예측 구조까지</a:t>
            </a:r>
          </a:p>
          <a:p>
            <a:r>
              <a:t>시간: 80–81분 (1분)</a:t>
            </a:r>
          </a:p>
          <a:p/>
          <a:p>
            <a:r>
              <a:t>1강에서 본 PDB/mmCIF와 연결한다. FASTA는 입력 서열, A3M은 정렬, PDB/mmCIF는 좌표를 담는다. 구조 예측기는 MSA를 3차원 사진처럼 읽지 않는다. 각 위치의 보존과 상관관계, 학습한 구조적 규칙을 함께 사용한다. Template은 기존 구조에서 얻는 추가 정보이며 MSA와 구분한다. 모델이 반환한 파일은 실험에서 직접 측정한 좌표가 아니다. 학생에게 어떤 파일에 원자 좌표가 들어 있는지 질문한다.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81–82분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82–83분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83–84분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84–86분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86–88분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88–90분 (2분)</a:t>
            </a:r>
          </a:p>
          <a:p/>
          <a:p>
            <a:r>
              <a:t>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90–92분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92–94분 (2분)</a:t>
            </a:r>
          </a:p>
          <a:p/>
          <a:p>
            <a:r>
              <a:t>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94–96분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직접 계산 · 네 이웃의 거리 오차를 네 번 채점</a:t>
            </a:r>
          </a:p>
          <a:p>
            <a:r>
              <a:t>시간: 96–98분 (2분)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98–99분 (1분)</a:t>
            </a:r>
          </a:p>
          <a:p/>
          <a:p>
            <a:r>
              <a:t>30초 구두 또는 손계산, 30초 해설로 진행합니다.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활동지 5쪽의 기본 표는 앞 슬라이드를 보며 채우고 이 시간에는 변경 문항만 풉니다. pLDDT 확률 계산과 정답 구조 필요 여부 문항은 다음 학습·추론 설명 뒤 구두 확인 또는 수업 후 확장에 사용합니다.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99–101분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새 서열에서는 정답 없이 pLDDT를 출력한다</a:t>
            </a:r>
          </a:p>
          <a:p>
            <a:r>
              <a:t>시간: 101–103분 (2분)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103–105분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105–107분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107–109분 (2분)</a:t>
            </a:r>
          </a:p>
          <a:p/>
          <a:p>
            <a:r>
              <a:t>1분 개인 풀이 뒤1분 해설합니다.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 학생 활동지에는 정답을 적지 않았으며 이 노트만 교사용 해설입니다.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109–112분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112–114분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114–116분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116–119분 (3분)</a:t>
            </a:r>
          </a:p>
          <a:p/>
          <a:p>
            <a:r>
              <a:t>2분 짝 토의와1분 해설로 진행합니다. ①B9의 국소 좌표계를 기준으로 정렬했을 때 A3의 예상 위치 오차가18 Å이고, A3을 기준으로 했을 때B9는24 Å입니다. 둘은 다른 기준에서의 예측 오차이며 물리적인 잔기 사이 거리가 아닙니다. ②제시한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119–129분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129–131분 (2분)</a:t>
            </a:r>
          </a:p>
          <a:p/>
          <a:p>
            <a:r>
              <a:t>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131–132분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132–134분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공정한 비교 설계</a:t>
            </a:r>
          </a:p>
          <a:p>
            <a:r>
              <a:t>시간: 134–137분 (3분)</a:t>
            </a:r>
          </a:p>
          <a:p/>
          <a:p>
            <a:r>
              <a:t>1분 개인 판단, 1분 짝 토론, 1분 공유로 운영한다.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이 답은 학생 화면에 먼저 보여주지 않는다.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137–138분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138–140분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Depth를 줄인 MSA</a:t>
            </a:r>
          </a:p>
          <a:p>
            <a:r>
              <a:t>시간: 140–143분 (3분)</a:t>
            </a:r>
          </a:p>
          <a:p/>
          <a:p>
            <a:r>
              <a:t>개인1분·확인1분·해설1분.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143–145분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145–148분 (3분)</a:t>
            </a:r>
          </a:p>
          <a:p/>
          <a:p>
            <a:r>
              <a:t>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148–151분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151–152분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서열 그룹별 입력 비교</a:t>
            </a:r>
          </a:p>
          <a:p>
            <a:r>
              <a:t>시간: 152–155분 (3분)</a:t>
            </a:r>
          </a:p>
          <a:p/>
          <a:p>
            <a:r>
              <a:t>1분 파일 읽기, 1분 비교, 1분 해설로 진행합니다.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155–156분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156–157분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157–158분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158–160분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정렬 열을 X로 가리기</a:t>
            </a:r>
          </a:p>
          <a:p>
            <a:r>
              <a:t>시간: 160–163분 (3분)</a:t>
            </a:r>
          </a:p>
          <a:p/>
          <a:p>
            <a:r>
              <a:t>1분 손계산, 1분 출력 대조, 1분 해설로 진행합니다.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163–166분 (3분)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166–168분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168–169분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169–170분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170–171분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대안 구조 후보 선택</a:t>
            </a:r>
          </a:p>
          <a:p>
            <a:r>
              <a:t>시간: 171–176분 (5분)</a:t>
            </a:r>
          </a:p>
          <a:p/>
          <a:p>
            <a:r>
              <a:t>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176–178분 (2분)</a:t>
            </a:r>
          </a:p>
          <a:p/>
          <a:p>
            <a:r>
              <a:t>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178–179분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179–180분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7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Ortholog·paralog와 공진화(coevolution)를 구조 예측의 단서로 읽기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79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79</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79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79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79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79</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79</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Ortholog와 paralog 판정</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B_z</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A_x A_y</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가지 길이는 의미 없음</a:t>
            </a:r>
          </a:p>
          <a:p>
            <a:pPr>
              <a:lnSpc>
                <a:spcPct val="113000"/>
              </a:lnSpc>
            </a:pPr>
            <a:r>
              <a:rPr sz="1800" b="0" lang="ko-KR">
                <a:solidFill>
                  <a:srgbClr val="277F87"/>
                </a:solidFill>
                <a:latin typeface="Arial Unicode MS"/>
                <a:ea typeface="Arial Unicode MS"/>
              </a:rPr>
              <a:t>현재 이름이 아니라 가장 최근 공통 조상 사건으로 판정</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A_x–A_y  ② A_x–B_z  ③ A_y–B_z 관계를 판정</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쌍의 공통 조상에 동그라미 → S/D → 관계 이름</a:t>
            </a:r>
          </a:p>
        </p:txBody>
      </p:sp>
      <p:sp>
        <p:nvSpPr>
          <p:cNvPr id="8" name="TextBox 7"/>
          <p:cNvSpPr txBox="1"/>
          <p:nvPr/>
        </p:nvSpPr>
        <p:spPr>
          <a:xfrm>
            <a:off x="676656" y="53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활동지 1쪽: 분기 사건을 표시하고 짝과 비교</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79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79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79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79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79</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79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79</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A3M의 열과 삽입 읽기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2쪽 또는 fictional_learning.a3m을 펼치세요.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Query를 포함한 행 수와 정렬 열 수를 세어 보세요.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A2의 ee는 어느 정렬 열 직전에 있나요?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A3의 gap과 B1의 X 위치·의미를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79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79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79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79</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위치의 선택은 다른 위치에 달릴 수 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2743200"/>
                <a:gridCol w="5486400"/>
              </a:tblGrid>
              <a:tr h="548640">
                <a:tc>
                  <a:txBody>
                    <a:bodyPr/>
                    <a:lstStyle/>
                    <a:p>
                      <a:pPr>
                        <a:lnSpc>
                          <a:spcPct val="110000"/>
                        </a:lnSpc>
                      </a:pPr>
                      <a:r>
                        <a:rPr sz="1900" b="1" lang="ko-KR">
                          <a:solidFill>
                            <a:srgbClr val="FFFFFF"/>
                          </a:solidFill>
                          <a:latin typeface="Arial Unicode MS"/>
                          <a:ea typeface="Arial Unicode MS"/>
                        </a:rPr>
                        <a:t>두 위치의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전하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모형의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양 / 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반대 전하 조합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D–D 또는 K–K</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음 / 음 또는 양 / 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 가상 모형에서는 덜 유리하다고 가정</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가까운 두 위치에서 반대 전하의 조합이 유리한 가상 상황</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D–K와 K–D는 조합 예시; 실제 치환 순서·동시 발생·접촉의 증거가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79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79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같은 열 빈도, 다른 조합</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각 자료에서 P(D_i), P(K_j), P(D_i, K_j)를 계산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P(D_i, K_j)를 P(D_i) × P(K_j)와 비교</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보존도만으로 두 자료를 구별할 수 있는가?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79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24 / 79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79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79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즉시 실습: 계열을 나누면 무엇이 보이나?</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A/B로 중복 → H/M/R/F 종 분화; 추가 중복·소실 없음</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A_H–A_M, A_H–B_H, A_H–B_M의 진화 관계는?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전체와 계열 내부를 비교: 변화·공변이를 각각 판단</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8행을 독립적인 보상 치환 8회라고 셀 수 있는가?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79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79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79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 정보를 바꾸어 구조 후보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Depth·clustering·masking은 무엇을 바꾸나?</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017520"/>
                <a:gridCol w="7955279"/>
              </a:tblGrid>
              <a:tr h="548640">
                <a:tc>
                  <a:txBody>
                    <a:bodyPr/>
                    <a:lstStyle/>
                    <a:p>
                      <a:pPr>
                        <a:lnSpc>
                          <a:spcPct val="110000"/>
                        </a:lnSpc>
                      </a:pPr>
                      <a:r>
                        <a:rPr sz="1900" b="1" lang="ko-KR">
                          <a:solidFill>
                            <a:srgbClr val="FFFFFF"/>
                          </a:solidFill>
                          <a:latin typeface="Arial Unicode MS"/>
                          <a:ea typeface="Arial Unicode MS"/>
                        </a:rPr>
                        <a:t>조작</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공변이 관점에서 달라지는 정보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Depth 줄이기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조합을 추정할 행 수와 표집된 다양성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 clustering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선택된 서열 계열과 그 안의 조합 빈도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Masking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특정 위치의 잔기 및 그 위치가 참여하는 조합 정보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query에도 제공되는 잔기 분포·조합·계열 구성이 달라짐</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다른 구조가 나와도 생물학적 상태·존재 비율은 별도 검증</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79</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79</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서열에서 예측 구조까지</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Query: 구조를 알고 싶은 단백질의 아미노산 서열</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진화적으로 관련된 서열을 정렬한 입력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모델: 서열·MSA·선택한 추가 정보를 함께 처리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원자 좌표와 모델이 추정한 신뢰도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79</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33 / 79</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79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79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사용할 파일: examples/calmodulin_P0DP23.fasta</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79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79</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CALM1 전체 서열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FASTA의 &gt;로 시작하는 제목 줄을 빼고 서열만 붙여넣기</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첫 셀 출력에서 length 149와 실제 서열을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79</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79</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79</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직접 계산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79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5쪽: 마지막 이웃 d의 예측 거리만 17 → 19 Å로 변경</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기준 거리는 여전히 14 Å. 나머지 세 이웃은 같습니다.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d는 네 검사 중 몇 개를 통과하나요? 새 lDDTᵢ는?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예측 거리가 15 Å를 넘으면 이 이웃을 빼도 될까요?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79</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79</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새 서열에서는 정답 없이 pLDDT를 출력한다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 잔기별 50 logits → softmax 확률 → pLDDTᵢ = 100 × Σₖ pᵢₖcₖ</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 50개 중 세 구간에만 확률을 둔 단순화 → 100 × 0.810 = 81점</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81은 예측한 lDDT 점수이며 ‘정답 확률 81%’도 ‘오차 81 Å’도 아닙니다.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79</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79</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79</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먼저 pLDDT 문제만 풉니다.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가장 조심해서 해석할 위치 두 곳을 찾으세요.</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평균 82.8이면 12개 위치가 모두 믿을 만한가요?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③ A와 B의 상대 방향·연결부의 disorder를 확정할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79</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79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79</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79</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6쪽: P는 앞의 표, Q는 같은 pLDDT를 갖는 다른 가상 예측</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Q의 선택된 4×4 PAE에서 대각선 밖 값은 모두 1–3 Å</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PAE(A3,B9)=18과 PAE(B9,A3)=24를 각각 말로 풀어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P·Q 중 상대 배치를 더 확신하는 것은? 실제 상태 비율도 알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79</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53 / 79</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79</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79</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79</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공정한 비교 설계</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질문: MSA 행 선택의 효과를 알고 싶다.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중 더 공정한 비교를 고르고 이유를 적는다.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고정할 것 2개, 기록할 것 2개를 짝과 공유한다.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79</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79</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79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Depth를 줄인 MSA</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1번: query와 A2·A3·B1만 남겨 보세요.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컴퓨터: practice/에서 python3 msa_lab.py 실행</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출력 폴더의 subsample.a3m: 첫 행·행 수·열 수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원본과 비교해 줄어든 진화 정보는 무엇인가요?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79</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79</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79</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79</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79</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서열 그룹별 입력 비교</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2번: group_A/B.a3m을 비교하세요.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파일의 첫 query와 homolog 구성을 확인</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그룹에서 5열·11열의 잔기 분포를 읽어 보세요.</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그룹을 ortholog 집합이나 구조 상태라 부를 수 있나요?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79</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79</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79</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68 / 79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79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정렬 열을 X로 가리기</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활동지 4쪽 3번: A2의 5·7·10열을 X로 가리세요.</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소문자 ee를 정렬 열로 세지 않고 원문을 다시 쓰기</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masked.a3m에서 query·insertion·기존 gap 확인</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어느 열의 빈도와 열 사이 조합 정보가 사라졌나요?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79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79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79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79</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79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79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대안 구조 후보 선택</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743200"/>
                <a:gridCol w="2743200"/>
                <a:gridCol w="2743200"/>
              </a:tblGrid>
              <a:tr h="548640">
                <a:tc>
                  <a:txBody>
                    <a:bodyPr/>
                    <a:lstStyle/>
                    <a:p>
                      <a:pPr>
                        <a:lnSpc>
                          <a:spcPct val="110000"/>
                        </a:lnSpc>
                      </a:pPr>
                      <a:r>
                        <a:rPr sz="1900" b="1" lang="ko-KR">
                          <a:solidFill>
                            <a:srgbClr val="FFFFFF"/>
                          </a:solidFill>
                          <a:latin typeface="Arial Unicode MS"/>
                          <a:ea typeface="Arial Unicode MS"/>
                        </a:rPr>
                        <a:t>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평균 pLDDT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구간 간 PAE</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Cα 거리</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3.1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8.2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4.4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16.4 Å</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18.0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22.0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8.6 Å</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180잔기 표적의 사고 실험이며 실제 예측이 아닙니다.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거리: 40–140번 Cα / PAE: 두 지정 구간 사이 평균</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79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79</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79</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
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0–1분 (1분)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1–3분 (2분)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3–5분 (2분)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5–6분 (1분)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6–9분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9–12분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12–14분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14–17분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17–20분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29–31분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31–34분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34–37분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37–39분 (2분)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 다음 여섯 장에서 기본 20종을 하나씩 살펴봅니다. 이름·약어·곁사슬·성질을 연결하고 이 표의 분류는 겹칠 수 있음을 확인합니다.</a:t>
            </a:r>
          </a:p>
          <a:p/>
          <a:p>
            <a:r>
              <a:t>추가 설명</a:t>
            </a:r>
          </a:p>
          <a:p>
            <a:r>
              <a:t>기본 20종을 모두 살펴보며 이름·기호와 곁사슬 특징을 연결한다.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39–42분 (3분)</a:t>
            </a:r>
          </a:p>
          <a:p/>
          <a:p>
            <a:r>
              <a:t>세 이름을 한글과 영어로 읽고, Gly/G처럼 세 글자와 한 글자가 같은 아미노산을 뜻함을 확인합니다. PDB에서는 세 글자 코드를 GLY, ALA, VAL처럼 대문자로 표시할 수 있습니다. 식의 맨 왼쪽 선은 Cα와의 연결이며 주사슬은 생략했습니다. Gly는 R=H여서 탄소를 포함한 별도 곁사슬이 없고, Cα에 수소 두 개가 붙으므로 일반적인 입체중심을 갖지 않습니다. 크기가 작아 다른 잔기가 취하기 어려운 주사슬 자세도 가능하지만, 특정 Gly가 항상 많이 움직인다고 단정하지 않습니다. Gly를 강한 소수성 접촉 잔기로 설명하지 않습니다. Ala는 작은 메틸기이고 Val은 Cα 바로 옆에서 두 메틸기로 갈라져 공간을 더 차지합니다. 예시 질문: Ala를 Val로 바꾸면 어떤 구조 정보를 다시 보아야 할까요? 기대 답: 주변 공간과 부딪침, 물과의 관계를 확인해야 하며 결합이 강해진다고 바로 말할 수 없습니다. 이 여섯 장은 널리 쓰이는 기본 20종을 다룹니다. 자연계의 아미노산이 20개뿐이라는 뜻은 아닙니다. 특수한 번역 과정으로 들어가는 selenocysteine(Sec/U), pyrrolysine(Pyl/O)와 번역 후 변형 잔기도 존재합니다.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RCSB PDB-101: Primary Sequences and amino acid codes</a:t>
            </a:r>
          </a:p>
          <a:p>
            <a:r>
              <a:t>https://pdb101.rcsb.org/learn/guide-to-understanding-pdb-data/primary-sequences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42–45분 (3분)</a:t>
            </a:r>
          </a:p>
          <a:p/>
          <a:p>
            <a:r>
              <a:t>Leu와 Ile는 탄소와 수소의 수는 같지만 연결 순서와 가지 위치가 다른 이성질체입니다. 따라서 두 곁사슬을 같은 크기의 덩어리로 취급하지 말고 실제 방향과 주변 공간을 비교합니다. 뒤의 Leu718 예시는 약물 주변 비극성 접촉을 읽는 사례입니다. Pro의 곁사슬은 Cα에서 출발해 세 CH₂를 거쳐 주사슬 N에 되돌아가며 고리를 만듭니다. 고리는 주사슬의 회전을 제한합니다. 단백질 사슬 내부에서 Pro의 펩타이드 N에는 H가 없으므로 그 N은 수소결합 주개가 되지 않습니다. 자유 Pro나 N말단 Pro에는 이 설명을 그대로 적용하지 않습니다. Pro의 주사슬 C=O 산소는 여전히 수소결합 받개가 될 수 있습니다. 펩타이드결합을 배울 때 N이 이전 잔기의 탄소와 연결되는 점을 다시 확인합니다. Met의 황은 두 탄소 사이의 thioether이고 Cys의 thiol(SH)과 다릅니다. Met에는 Cys와 같은 SH가 없으므로 통상적인 Cys형 이황화결합으로 설명하지 않습니다. Met의 곁사슬이 대체로 비극성이라는 것과 Met793의 주사슬이 수소결합에 참여한다는 것은 양립합니다.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Proline and protein structure: peptide N and hydrogen bonding</a:t>
            </a:r>
          </a:p>
          <a:p>
            <a:r>
              <a:t>https://pmc.ncbi.nlm.nih.gov/articles/PMC12862571/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45–48분 (3분)</a:t>
            </a:r>
          </a:p>
          <a:p/>
          <a:p>
            <a:r>
              <a:t>Phe의 C₆H₅는 벤젠 고리에서 수소 하나가 CH₂ 연결로 바뀐 phenyl 부분을 뜻합니다. Tyr는 Phe와 유사한 고리에서 CH₂ 연결점의 반대편(para 위치)에 OH가 붙어 있습니다. 타이로신은 티로신이라고도 표기합니다. Tyr는 방향족이면서 극성 OH를 가지므로 방향족과 극성을 서로 배타적인 분류로 가르치지 않습니다. 중성 부근 pH에서 Tyr의 OH는 보통 전하가 없지만 pH와 국소 환경에 따라 해리될 수 있습니다. Trp는 indole이라는 두 개의 융합 고리를 가지며 CH₂는 인돌의 3번 위치에 연결됩니다. 인돌의 N–H는 수소결합 주개(donor)이지만 일반적인 수소결합 받개(acceptor)로 세지 않습니다. 질소가 보이면 모두 받개라는 규칙을 만들지 않습니다. 방향족 고리는 보통 평면에 가깝지만 이 정보만으로 두 잔기의 상호작용이나 결합 세기를 결정할 수 없습니다. His의 imidazole도 방향족이며 뒤에서 전하의 관점으로 따로 묶어 봅니다.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Indole hydrogen-bond donor/acceptor study</a:t>
            </a:r>
          </a:p>
          <a:p>
            <a:r>
              <a:t>https://pubmed.ncbi.nlm.nih.gov/23682822/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48–51분 (3분)</a:t>
            </a:r>
          </a:p>
          <a:p/>
          <a:p>
            <a:r>
              <a:t>Ser와 Thr의 OH는 산소와 수소가 있는 극성 부분이며 물이나 다른 원자와 수소결합할 수 있습니다. Thr는 같은 OH를 가지면서 메틸 가지도 있어 Ser보다 더 큰 곁사슬입니다. 이 표의 전하 0은 곁사슬의 순전하가 0이라는 뜻이며 비극성이라는 뜻이 아닙니다. Cys는 산소 대신 황을 가진 thiol을 갖고 SH의 해리나 산화 상태가 주변 환경에 따라 달라질 수 있습니다. 두 Cys가 적절한 산화 조건에서 반응하면 S–S 이황화결합을 형성할 수 있습니다. 두 잔기가 화면에서 가깝다는 관찰만으로 이황화결합이 존재한다고 단정하지 않고 실제 연결 및 좌표 정보를 확인합니다. SH가 S⁻로 해리된 thiolate 상태도 있을 수 있으므로 Cys를 항상 전하 0으로 고정하지 않습니다. Met의 S는 SH가 아닌 thioether라는 앞 장의 차이를 다시 확인합니다. Ser, Thr, Tyr의 인산화처럼 번역 후 변형이 일어나면 기본 20종 표와 다른 전하·구조가 나타날 수 있습니다.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51–54분 (3분)</a:t>
            </a:r>
          </a:p>
          <a:p/>
          <a:p>
            <a:r>
              <a:t>Asn과 Gln의 말단은 아마이드입니다. C=O 산소는 수소결합 받개, N–H는 주개가 될 수 있습니다. 아마이드 질소 자체는 일반적인 수소결합 받개로 세지 않습니다. Gln은 Asn보다 CH₂ 하나가 더 있어 작용기가 도달하는 위치와 가능한 자세가 다릅니다. Asp와 Glu는 카복실산 곁사슬을 가지며 중성 부근 pH에서 보통 COO⁻로 존재합니다. 이때 이름은 aspartate, glutamate라고도 부릅니다. Asp와 Asn은 같은 종류의 아미노산을 달리 쓴 약어가 아니라 서로 다른 잔기입니다. Gln과 Glu도 마찬가지입니다. +와 −의 근접은 전기적 상호작용을 살펴볼 단서이지만 물, 차폐, 거리와 방향을 고려해야 합니다. 단백질 내부 환경에서 pKa가 바뀔 수 있어 모든 Asp와 Glu가 항상 −1이라고 고정하지 않습니다. 예시 질문: Gln의 말단을 Glu로 바꾸면 무엇을 다시 확인해야 할까요? 기대 답: 곁사슬 전하와 수소결합 주개·받개, 상대 분자의 위치를 다시 살핀다.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EMBL-EBI: Ionisation and pKa values</a:t>
            </a:r>
          </a:p>
          <a:p>
            <a:r>
              <a:t>https://www.ebi.ac.uk/training/online/courses/foundations-protein-structure/fundamentals-of-protein-composition/the-building-blocks-amino-acids/ionisation-and-pka-values/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54–57분 (3분)</a:t>
            </a:r>
          </a:p>
          <a:p/>
          <a:p>
            <a:r>
              <a:t>라이신은 리신이라고도 표기합니다. Lys는 네 CH₂로 이루어진 긴 사슬 끝에 NH₃⁺를 가지며 단백질 안에서 그 방향과 주변 음전하를 함께 확인합니다. 양성자화된 NH₃⁺는 수소결합 주개이며 일반적인 받개로 세지 않습니다. Arg의 말단은 guanidinium이고 총 전하는 보통 +1입니다. 그림의 C(=NH₂⁺)—NH₂ 표기는 원자 연결을 보여 주는 한 공명식이며 실제 양전하는 구아니디늄 부분에 퍼져 있습니다. 전하가 질소 하나에만 고정되었다고 설명하지 않습니다. His의 imidazole은 질소 두 개를 가진 방향족 고리입니다. 중성 형태와 양성자화된 +1 형태가 있고 수소결합 주개·받개 역할도 그 상태에 따라 달라집니다. His를 항상 양전하라고 외우지 않게 합니다. pH와 단백질 환경에 따라 pKa가 달라질 수 있으므로 한 숫자를 모든 His에 적용하지 않습니다. 여섯 장에 기본 20종이 모두 등장했습니다. 이름 암기보다 곁사슬에서 작은 부피, 가지, 고리, O·N·S와 전하를 찾아 구조 해석에 사용하는 것을 확인합니다. Sec는 selenocysteine(셀레노시스테인), Pyl은 pyrrolysine(피롤라이신)이며 특정 번역 체계를 통해 포함되는 추가 아미노산입니다. PDB에는 변형 잔기도 별도 코드로 기록될 수 있습니다.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Histidine protonation states in proteins</a:t>
            </a:r>
          </a:p>
          <a:p>
            <a:r>
              <a:t>https://pmc.ncbi.nlm.nih.gov/articles/PMC4035968/</a:t>
            </a:r>
          </a:p>
          <a:p>
            <a:r>
              <a:t>RCSB PDB-101: Primary Sequences and amino acid codes</a:t>
            </a:r>
          </a:p>
          <a:p>
            <a:r>
              <a:t>https://pdb101.rcsb.org/learn/guide-to-understanding-pdb-data/primary-sequences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57–59분 (2분)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59–62분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62–65분 (3분)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65–67분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67–69분 (2분)</a:t>
            </a:r>
          </a:p>
          <a:p/>
          <a:p>
            <a:r>
              <a:t>PDB(Protein Data Bank)라는 자료 저장소의 이름과 확장자 .pdb인 legacy 파일 포맷을 구별합니다. 이 예시는 assets/structures/2ITY.pdb의 첫 ATOM 두 행을 발췌했고 내부 공백과 실제 값을 유지했습니다. ATOM/HETATM 좌표 레코드 한 행은 원자 위치 하나를 기술합니다. 정확한 문자 열은 레코드 1–6, 일련번호 7–11, 원자 이름 13–16, 대체 위치 17, 잔기 이름 18–20, 사슬 22, 잔기 번호 23–26, 삽입 코드 27, x 31–38, y 39–46, z 47–54, occupancy 55–60, B factor 61–66, 원소 77–78, 전하 79–80입니다. 표시한 두 행의 대체 위치·삽입 코드·전하 칸은 비어 있습니다. 전하 공백을 중성의 증거로 읽지 않습니다. GLU는 glutamate(글루탐산) 잔기이고 N은 그 잔기의 주사슬 질소 원자입니다. 둘째 행의 CA는 calcium이 아니라 alpha carbon이며 실제 원소는 C 열에서 확인합니다. 학생에게 A / GLU / 697을 읽고 두 원자가 같은 잔기인지 설명하게 합니다. HETATM은 약물뿐 아니라 물·이온·비표준 잔기에도 쓰입니다. 파일에는 HEADER, TITLE, REMARK 등 다른 종류의 레코드도 있고 여기서는 원자 좌표 부분만 발췌했습니다.</a:t>
            </a:r>
          </a:p>
          <a:p/>
          <a:p>
            <a:r>
              <a:t>출처</a:t>
            </a:r>
          </a:p>
          <a:p>
            <a:r>
              <a:t>wwPDB: PDB Format v3.3, ATOM / HETATM coordinate records</a:t>
            </a:r>
          </a:p>
          <a:p>
            <a:r>
              <a:t>https://www.wwpdb.org/documentation/file-format-content/format33/sect9.html</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69–71분 (2분)</a:t>
            </a:r>
          </a:p>
          <a:p/>
          <a:p>
            <a:r>
              <a:t>PDBx/mmCIF는 생체고분자 구조를 위한 CIF 계열 텍스트 포맷이며 PDBx는 PDB exchange, mmCIF는 macromolecular Crystallographic Information File의 약자입니다. 이 예시는 원본 2ITY.cif의 _atom_site 표에서 10개 열과 첫 두 행을 선별한 교육용 발췌입니다. 전체 파일을 그대로 재현한 것은 아니며 나머지 열과 행, 메타데이터를 생략했습니다. 값은 원본에서 바꾸지 않았고 앞 슬라이드 PDB의 동일한 두 원자입니다. data_2ITY는 블록 이름, loop_는 반복 데이터 표의 시작, _atom_site.는 원자 정보를 담는 범주입니다. 데이터 값은 태그의 나열 순서에 대응하며 고정 문자 열에 맞출 필요가 없습니다. 한 논리적 행을 물리적 여러 줄에 나누어 쓸 수도 있으므로 한 줄에 원자 하나라는 설명은 이 예시의 표시 방식에 한정합니다. 첫 행에서 type_symbol=N, label_atom_id=N, label_comp_id=GLU, auth_asym_id=A, auth_seq_id=697입니다. 둘째 행의 C와 CA를 원소와 원자 이름에 각각 연결하게 합니다. CIF는 태그 이름으로 의미를 식별하므로 사슬·번호를 읽을 때 label과 auth 접두사를 함께 확인해야 합니다. 좌표가 앞 슬라이드와 같은지 학생에게 확인하게 합니다.</a:t>
            </a:r>
          </a:p>
          <a:p/>
          <a:p>
            <a:r>
              <a:t>출처</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71–73분 (2분)</a:t>
            </a:r>
          </a:p>
          <a:p/>
          <a:p>
            <a:r>
              <a:t>표의 값은 원본 assets/structures/2ITY.cif의 첫 원자에서 확인했습니다. occupancy 1.00은 모델에서 해당 원자 위치를 완전히 점유한다고 기술한 값이며 위치 정확도 100%나 약물 결합률 100%가 아닙니다. B_iso_or_equiv는 등방성 또는 등가 등방성 원자 변위 매개변수이고 여기서는 55.89 Å²입니다. 움직임, 무질서, 모델링 등의 영향을 받으므로 직접적인 결합 세기나 정확도 백분율로 읽지 않습니다. 이 설명은 2ITY 실험 결정구조에 관한 것이며 예측 구조 파일은 같은 필드에 신뢰도 점수 등을 넣을 수 있어 생성 도구의 정의를 확인해야 합니다. mmCIF의 label_seq_id는 등록 고분자 서열의 위치이고 auth_seq_id는 저자 번호입니다. 같은 GLU 잔기에 label 2와 auth 697이 붙습니다. 첫 좌표가 label 2라고 해서 모든 CIF가 2부터 번호를 매기는 것은 아닙니다. 수업의 그림 라벨과 PDB 형식은 저자 번호를 기준으로 맞춥니다. 원자 일련번호 1과 잔기 번호 697도 구별합니다. 따옴표 없는 마침표(.)는 해당 값이 없거나 의도적으로 생략되었음을, 물음표(?)는 값이 미상임을 뜻하며 숫자 0과 다릅니다. 원본 첫 원자의 label_alt_id는 점, pdbx_PDB_ins_code는 물음표입니다. 이 기호가 원자 자체가 없다는 뜻은 아닙니다. 구두 확인: 같은 원자의 좌표는 같은데 잔기 번호가 2와 697로 다르면 구조가 달라졌는가? 정답: 번호 체계가 다른 것이므로 어떤 태그인지 먼저 확인한다. 공식 사전: https://mmcif.wwpdb.org/dictionaries/mmcif_pdbx_v50.dic/Items/_atom_site.label_seq_id.html 및 https://mmcif.wwpdb.org/dictionaries/mmcif_pdbx_v50.dic/Items/_atom_site.auth_seq_id.html</a:t>
            </a:r>
          </a:p>
          <a:p/>
          <a:p>
            <a:r>
              <a:t>출처</a:t>
            </a:r>
          </a:p>
          <a:p>
            <a:r>
              <a:t>RCSB PDB-101: Dealing with Coordinates</a:t>
            </a:r>
          </a:p>
          <a:p>
            <a:r>
              <a:t>https://pdb101.rcsb.org/learn/guide-to-understanding-pdb-data/dealing-with-coordinates</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73–76분 (3분)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76–79분 (3분)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79–81분 (2분)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81–91분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91–94분 (3분)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94–96분 (2분)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96–98분 (2분)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98–100분 (2분)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100–102분 (2분)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102–106분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106–108분 (2분)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108–109분 (1분)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109–113분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113–117분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117–121분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121–126분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126–128분 (2분)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128–133분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133–143분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143–145분 (2분)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145–148분 (3분)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148–151분 (3분)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155–158분 (3분)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158–163분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163–170분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170–175분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175–177분 (2분)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177–179분 (2분)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179–180분 (1분)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약물이 놓인 결합공간과 주변 잔기 두 개를 찾는다.</a:t>
            </a:r>
          </a:p>
          <a:p>
            <a:pPr algn="l">
              <a:lnSpc>
                <a:spcPct val="115000"/>
              </a:lnSpc>
              <a:spcAft>
                <a:spcPts val="1800"/>
              </a:spcAft>
            </a:pPr>
            <a:r>
              <a:rPr sz="2700" b="0" lang="ko-KR">
                <a:solidFill>
                  <a:srgbClr val="183342"/>
                </a:solidFill>
                <a:latin typeface="Arial Unicode MS"/>
                <a:ea typeface="Arial Unicode MS"/>
                <a:cs typeface="Arial Unicode MS"/>
              </a:rPr>
              <a:t>주사슬·곁사슬의 특징을 근거로 가능한 결합 기여를 설명한다.</a:t>
            </a:r>
          </a:p>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wrap="square"/>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0–81분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화학 기초 · 아미노산 20종 · 구조 파일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81–91분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91–133분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133–143분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143–180분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공유결합은 원자들이 전자를 공유하는 연결이다.</a:t>
            </a:r>
          </a:p>
          <a:p>
            <a:pPr algn="l">
              <a:lnSpc>
                <a:spcPct val="115000"/>
              </a:lnSpc>
              <a:spcAft>
                <a:spcPts val="1800"/>
              </a:spcAft>
            </a:pPr>
            <a:r>
              <a:rPr sz="2500" b="0" lang="ko-KR">
                <a:solidFill>
                  <a:srgbClr val="183342"/>
                </a:solidFill>
                <a:latin typeface="Arial Unicode MS"/>
                <a:ea typeface="Arial Unicode MS"/>
                <a:cs typeface="Arial Unicode MS"/>
              </a:rPr>
              <a:t>구조식의 선은 어떤 원자들이 연결되어 있는지 보여준다.</a:t>
            </a:r>
          </a:p>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물의 전자는 산소 쪽으로 치우칩니다.</a:t>
            </a:r>
          </a:p>
          <a:p>
            <a:pPr algn="l">
              <a:lnSpc>
                <a:spcPct val="115000"/>
              </a:lnSpc>
              <a:spcAft>
                <a:spcPts val="1800"/>
              </a:spcAft>
            </a:pPr>
            <a:r>
              <a:rPr sz="2200" b="0" lang="ko-KR">
                <a:solidFill>
                  <a:srgbClr val="183342"/>
                </a:solidFill>
                <a:latin typeface="Arial Unicode MS"/>
                <a:ea typeface="Arial Unicode MS"/>
                <a:cs typeface="Arial Unicode MS"/>
              </a:rPr>
              <a:t>O는 δ⁻, H는 δ⁺이며 물 전체의 순전하는 0입니다.</a:t>
            </a:r>
          </a:p>
          <a:p>
            <a:pPr algn="l">
              <a:lnSpc>
                <a:spcPct val="115000"/>
              </a:lnSpc>
            </a:pPr>
            <a:r>
              <a:rPr sz="2200" b="0" lang="ko-KR">
                <a:solidFill>
                  <a:srgbClr val="183342"/>
                </a:solidFill>
                <a:latin typeface="Arial Unicode MS"/>
                <a:ea typeface="Arial Unicode MS"/>
                <a:cs typeface="Arial Unicode MS"/>
              </a:rPr>
              <a:t>주변의 물도 단백질·약물과 상호작용합니다.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O나 N에 붙은 H가 적절한 받개 원자와 상호작용할 수 있다.</a:t>
            </a:r>
          </a:p>
          <a:p>
            <a:pPr algn="l">
              <a:lnSpc>
                <a:spcPct val="115000"/>
              </a:lnSpc>
              <a:spcAft>
                <a:spcPts val="1800"/>
              </a:spcAft>
            </a:pPr>
            <a:r>
              <a:rPr sz="2500" b="0" lang="ko-KR">
                <a:solidFill>
                  <a:srgbClr val="183342"/>
                </a:solidFill>
                <a:latin typeface="Arial Unicode MS"/>
                <a:ea typeface="Arial Unicode MS"/>
                <a:cs typeface="Arial Unicode MS"/>
              </a:rPr>
              <a:t>실선은 공유결합, 점선은 수소결합을 나타내는 데 흔히 사용한다.</a:t>
            </a:r>
          </a:p>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물의 순전하가 0이면 물은 비극성이다. O / X</a:t>
            </a:r>
          </a:p>
          <a:p>
            <a:pPr algn="l">
              <a:lnSpc>
                <a:spcPct val="115000"/>
              </a:lnSpc>
              <a:spcAft>
                <a:spcPts val="1800"/>
              </a:spcAft>
            </a:pPr>
            <a:r>
              <a:rPr sz="2800" b="0" lang="ko-KR">
                <a:solidFill>
                  <a:srgbClr val="183342"/>
                </a:solidFill>
                <a:latin typeface="Arial Unicode MS"/>
                <a:ea typeface="Arial Unicode MS"/>
                <a:cs typeface="Arial Unicode MS"/>
              </a:rPr>
              <a:t>② O—H의 실선과 O—H···O의 점선은 같은 종류의 결합이다. O / X</a:t>
            </a:r>
          </a:p>
          <a:p>
            <a:pPr algn="l">
              <a:lnSpc>
                <a:spcPct val="115000"/>
              </a:lnSpc>
            </a:pPr>
            <a:r>
              <a:rPr sz="2800" b="0" lang="ko-KR">
                <a:solidFill>
                  <a:srgbClr val="183342"/>
                </a:solidFill>
                <a:latin typeface="Arial Unicode MS"/>
                <a:ea typeface="Arial Unicode MS"/>
                <a:cs typeface="Arial Unicode MS"/>
              </a:rPr>
              <a:t>③ 한 약물에 극성·비극성 부분이 함께 있을 수 있다. O / X</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① X · 전체 순전하가 0이어도 전자가 한쪽으로 치우칠 수 있다.</a:t>
            </a:r>
          </a:p>
          <a:p>
            <a:pPr algn="l">
              <a:lnSpc>
                <a:spcPct val="115000"/>
              </a:lnSpc>
              <a:spcAft>
                <a:spcPts val="1800"/>
              </a:spcAft>
            </a:pPr>
            <a:r>
              <a:rPr sz="2700" b="0" lang="ko-KR">
                <a:solidFill>
                  <a:srgbClr val="183342"/>
                </a:solidFill>
                <a:latin typeface="Arial Unicode MS"/>
                <a:ea typeface="Arial Unicode MS"/>
                <a:cs typeface="Arial Unicode MS"/>
              </a:rPr>
              <a:t>② X · 실선은 공유결합, 여기의 점선은 수소결합을 나타낸다.</a:t>
            </a:r>
          </a:p>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대표적인 α-아미노산은 중심 탄소 Cα에 아미노기·카복실기·H·R이 연결된다.</a:t>
            </a:r>
          </a:p>
          <a:p>
            <a:pPr algn="l">
              <a:lnSpc>
                <a:spcPct val="115000"/>
              </a:lnSpc>
              <a:spcAft>
                <a:spcPts val="1800"/>
              </a:spcAft>
            </a:pPr>
            <a:r>
              <a:rPr sz="2500" b="0" lang="ko-KR">
                <a:solidFill>
                  <a:srgbClr val="183342"/>
                </a:solidFill>
                <a:latin typeface="Arial Unicode MS"/>
                <a:ea typeface="Arial Unicode MS"/>
                <a:cs typeface="Arial Unicode MS"/>
              </a:rPr>
              <a:t>R은 곁사슬이며 아미노산마다 달라지는 부분이다.</a:t>
            </a:r>
          </a:p>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26056" b="25360"/>
          <a:stretch>
            <a:fillRect/>
          </a:stretch>
        </p:blipFill>
        <p:spPr>
          <a:xfrm>
            <a:off x="502920" y="1636344"/>
            <a:ext cx="6857999" cy="3905351"/>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주사슬은 여러 잔기를 이어 주는 공통 연결 경로다.</a:t>
            </a:r>
          </a:p>
          <a:p>
            <a:pPr algn="l">
              <a:lnSpc>
                <a:spcPct val="115000"/>
              </a:lnSpc>
              <a:spcAft>
                <a:spcPts val="1800"/>
              </a:spcAft>
            </a:pPr>
            <a:r>
              <a:rPr sz="2200" b="0" lang="ko-KR">
                <a:solidFill>
                  <a:srgbClr val="183342"/>
                </a:solidFill>
                <a:latin typeface="Arial Unicode MS"/>
                <a:ea typeface="Arial Unicode MS"/>
                <a:cs typeface="Arial Unicode MS"/>
              </a:rPr>
              <a:t>곁사슬은 중심 탄소 Cα에서 갈라져 나오는 부분이다.</a:t>
            </a:r>
          </a:p>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작은 곁사슬과 가지 구조: Gly, Ala, Val</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기본 20종을 차례로 봅니다. R은 Cα에 연결된 곁사슬입니다.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글리신</a:t>
                      </a:r>
                    </a:p>
                    <a:p>
                      <a:pPr>
                        <a:lnSpc>
                          <a:spcPct val="108000"/>
                        </a:lnSpc>
                      </a:pPr>
                      <a:r>
                        <a:rPr sz="2000" b="0" lang="ko-KR">
                          <a:solidFill>
                            <a:srgbClr val="183342"/>
                          </a:solidFill>
                          <a:latin typeface="Arial Unicode MS"/>
                          <a:ea typeface="Arial Unicode MS"/>
                          <a:cs typeface="Arial Unicode MS"/>
                        </a:rPr>
                        <a:t>Glycine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Gly / G</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가장 작은 곁사슬</a:t>
                      </a:r>
                    </a:p>
                    <a:p>
                      <a:pPr>
                        <a:lnSpc>
                          <a:spcPct val="108000"/>
                        </a:lnSpc>
                      </a:pPr>
                      <a:r>
                        <a:rPr sz="2000" b="0" lang="ko-KR">
                          <a:solidFill>
                            <a:srgbClr val="183342"/>
                          </a:solidFill>
                          <a:latin typeface="Arial Unicode MS"/>
                          <a:ea typeface="Arial Unicode MS"/>
                          <a:cs typeface="Arial Unicode MS"/>
                        </a:rPr>
                        <a:t>주사슬이 취할 자세가 다양함</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알라닌</a:t>
                      </a:r>
                    </a:p>
                    <a:p>
                      <a:pPr>
                        <a:lnSpc>
                          <a:spcPct val="108000"/>
                        </a:lnSpc>
                      </a:pPr>
                      <a:r>
                        <a:rPr sz="2000" b="0" lang="ko-KR">
                          <a:solidFill>
                            <a:srgbClr val="183342"/>
                          </a:solidFill>
                          <a:latin typeface="Arial Unicode MS"/>
                          <a:ea typeface="Arial Unicode MS"/>
                          <a:cs typeface="Arial Unicode MS"/>
                        </a:rPr>
                        <a:t>Alanine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Ala / A</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작은 비극성 메틸기</a:t>
                      </a:r>
                    </a:p>
                    <a:p>
                      <a:pPr>
                        <a:lnSpc>
                          <a:spcPct val="108000"/>
                        </a:lnSpc>
                      </a:pPr>
                      <a:r>
                        <a:rPr sz="2000" b="0" lang="ko-KR">
                          <a:solidFill>
                            <a:srgbClr val="183342"/>
                          </a:solidFill>
                          <a:latin typeface="Arial Unicode MS"/>
                          <a:ea typeface="Arial Unicode MS"/>
                          <a:cs typeface="Arial Unicode MS"/>
                        </a:rPr>
                        <a:t>곁사슬이 차지하는 부피가 작음</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발린</a:t>
                      </a:r>
                    </a:p>
                    <a:p>
                      <a:pPr>
                        <a:lnSpc>
                          <a:spcPct val="108000"/>
                        </a:lnSpc>
                      </a:pPr>
                      <a:r>
                        <a:rPr sz="2000" b="0" lang="ko-KR">
                          <a:solidFill>
                            <a:srgbClr val="183342"/>
                          </a:solidFill>
                          <a:latin typeface="Arial Unicode MS"/>
                          <a:ea typeface="Arial Unicode MS"/>
                          <a:cs typeface="Arial Unicode MS"/>
                        </a:rPr>
                        <a:t>Valine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Val / V</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곁사슬</a:t>
                      </a:r>
                    </a:p>
                    <a:p>
                      <a:pPr>
                        <a:lnSpc>
                          <a:spcPct val="108000"/>
                        </a:lnSpc>
                      </a:pPr>
                      <a:r>
                        <a:rPr sz="2000" b="0" lang="ko-KR">
                          <a:solidFill>
                            <a:srgbClr val="183342"/>
                          </a:solidFill>
                          <a:latin typeface="Arial Unicode MS"/>
                          <a:ea typeface="Arial Unicode MS"/>
                          <a:cs typeface="Arial Unicode MS"/>
                        </a:rPr>
                        <a:t>소수성 접촉의 단서</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크기와 가지의 위치가 다르면 같은 공간에서도 들어맞는 모양이 달라집니다.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AASEQ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비극성 곁사슬의 모양: Leu, Ile, Pro, Met</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네 곁사슬은 대체로 비극성이지만 가지·고리·황의 연결이 다릅니다.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77724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류신</a:t>
                      </a:r>
                    </a:p>
                    <a:p>
                      <a:pPr>
                        <a:lnSpc>
                          <a:spcPct val="108000"/>
                        </a:lnSpc>
                      </a:pPr>
                      <a:r>
                        <a:rPr sz="2000" b="0" lang="ko-KR">
                          <a:solidFill>
                            <a:srgbClr val="183342"/>
                          </a:solidFill>
                          <a:latin typeface="Arial Unicode MS"/>
                          <a:ea typeface="Arial Unicode MS"/>
                          <a:cs typeface="Arial Unicode MS"/>
                        </a:rPr>
                        <a:t>Leucine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비극성 가지 구조</a:t>
                      </a:r>
                    </a:p>
                    <a:p>
                      <a:pPr>
                        <a:lnSpc>
                          <a:spcPct val="108000"/>
                        </a:lnSpc>
                      </a:pPr>
                      <a:r>
                        <a:rPr sz="2000" b="0" lang="ko-KR">
                          <a:solidFill>
                            <a:srgbClr val="183342"/>
                          </a:solidFill>
                          <a:latin typeface="Arial Unicode MS"/>
                          <a:ea typeface="Arial Unicode MS"/>
                          <a:cs typeface="Arial Unicode MS"/>
                        </a:rPr>
                        <a:t>말단 쪽에서 두 갈래로 나뉨</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이소류신</a:t>
                      </a:r>
                    </a:p>
                    <a:p>
                      <a:pPr>
                        <a:lnSpc>
                          <a:spcPct val="108000"/>
                        </a:lnSpc>
                      </a:pPr>
                      <a:r>
                        <a:rPr sz="2000" b="0" lang="ko-KR">
                          <a:solidFill>
                            <a:srgbClr val="183342"/>
                          </a:solidFill>
                          <a:latin typeface="Arial Unicode MS"/>
                          <a:ea typeface="Arial Unicode MS"/>
                          <a:cs typeface="Arial Unicode MS"/>
                        </a:rPr>
                        <a:t>Isoleucine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Ile / I</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—CH(CH₃)—CH₂—CH₃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Leu와 같은 원자 수</a:t>
                      </a:r>
                    </a:p>
                    <a:p>
                      <a:pPr>
                        <a:lnSpc>
                          <a:spcPct val="108000"/>
                        </a:lnSpc>
                      </a:pPr>
                      <a:r>
                        <a:rPr sz="2000" b="0" lang="ko-KR">
                          <a:solidFill>
                            <a:srgbClr val="183342"/>
                          </a:solidFill>
                          <a:latin typeface="Arial Unicode MS"/>
                          <a:ea typeface="Arial Unicode MS"/>
                          <a:cs typeface="Arial Unicode MS"/>
                        </a:rPr>
                        <a:t>Cα 가까이에서 가지가 나뉨</a:t>
                      </a:r>
                    </a:p>
                  </a:txBody>
                  <a:tcPr marL="164592" marR="146304" marT="73152" marB="45720" anchor="ctr">
                    <a:solidFill>
                      <a:srgbClr val="FFFFFF"/>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프롤린</a:t>
                      </a:r>
                    </a:p>
                    <a:p>
                      <a:pPr>
                        <a:lnSpc>
                          <a:spcPct val="108000"/>
                        </a:lnSpc>
                      </a:pPr>
                      <a:r>
                        <a:rPr sz="2000" b="0" lang="ko-KR">
                          <a:solidFill>
                            <a:srgbClr val="183342"/>
                          </a:solidFill>
                          <a:latin typeface="Arial Unicode MS"/>
                          <a:ea typeface="Arial Unicode MS"/>
                          <a:cs typeface="Arial Unicode MS"/>
                        </a:rPr>
                        <a:t>Proline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Pro / 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—(CH₂)₃—</a:t>
                      </a:r>
                    </a:p>
                    <a:p>
                      <a:pPr>
                        <a:lnSpc>
                          <a:spcPct val="108000"/>
                        </a:lnSpc>
                      </a:pPr>
                      <a:r>
                        <a:rPr sz="2000" b="0" lang="ko-KR">
                          <a:solidFill>
                            <a:srgbClr val="183342"/>
                          </a:solidFill>
                          <a:latin typeface="Arial Unicode MS"/>
                          <a:ea typeface="Arial Unicode MS"/>
                          <a:cs typeface="Arial Unicode MS"/>
                        </a:rPr>
                        <a:t>끝이 주사슬 N에 연결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고리로 주사슬 회전이 제한됨</a:t>
                      </a:r>
                    </a:p>
                    <a:p>
                      <a:pPr>
                        <a:lnSpc>
                          <a:spcPct val="108000"/>
                        </a:lnSpc>
                      </a:pPr>
                      <a:r>
                        <a:rPr sz="2000" b="0" lang="ko-KR">
                          <a:solidFill>
                            <a:srgbClr val="183342"/>
                          </a:solidFill>
                          <a:latin typeface="Arial Unicode MS"/>
                          <a:ea typeface="Arial Unicode MS"/>
                          <a:cs typeface="Arial Unicode MS"/>
                        </a:rPr>
                        <a:t>사슬 내부 N에는 H가 없음</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메티오닌</a:t>
                      </a:r>
                    </a:p>
                    <a:p>
                      <a:pPr>
                        <a:lnSpc>
                          <a:spcPct val="108000"/>
                        </a:lnSpc>
                      </a:pPr>
                      <a:r>
                        <a:rPr sz="2000" b="0" lang="ko-KR">
                          <a:solidFill>
                            <a:srgbClr val="183342"/>
                          </a:solidFill>
                          <a:latin typeface="Arial Unicode MS"/>
                          <a:ea typeface="Arial Unicode MS"/>
                          <a:cs typeface="Arial Unicode MS"/>
                        </a:rPr>
                        <a:t>Methionine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 / M</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—(CH₂)₂—S—CH₃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대체로 비극성인 황 포함 사슬</a:t>
                      </a:r>
                    </a:p>
                    <a:p>
                      <a:pPr>
                        <a:lnSpc>
                          <a:spcPct val="108000"/>
                        </a:lnSpc>
                      </a:pPr>
                      <a:r>
                        <a:rPr sz="2000" b="0" lang="ko-KR">
                          <a:solidFill>
                            <a:srgbClr val="183342"/>
                          </a:solidFill>
                          <a:latin typeface="Arial Unicode MS"/>
                          <a:ea typeface="Arial Unicode MS"/>
                          <a:cs typeface="Arial Unicode MS"/>
                        </a:rPr>
                        <a:t>S가 두 탄소 사이에 있음</a:t>
                      </a:r>
                    </a:p>
                  </a:txBody>
                  <a:tcPr marL="164592" marR="146304" marT="73152" marB="45720" anchor="ctr">
                    <a:solidFill>
                      <a:srgbClr val="FFFFFF"/>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비극성 곁사슬을 가진 잔기도 주사슬의 O·N을 통해 상호작용할 수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AAPRO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방향족 고리: Phe, Tyr, Trp</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방향족은 고리의 성질입니다. 극성을 읽을 때는 OH와 N–H도 함께 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페닐알라닌</a:t>
                      </a:r>
                    </a:p>
                    <a:p>
                      <a:pPr>
                        <a:lnSpc>
                          <a:spcPct val="108000"/>
                        </a:lnSpc>
                      </a:pPr>
                      <a:r>
                        <a:rPr sz="2000" b="0" lang="ko-KR">
                          <a:solidFill>
                            <a:srgbClr val="183342"/>
                          </a:solidFill>
                          <a:latin typeface="Arial Unicode MS"/>
                          <a:ea typeface="Arial Unicode MS"/>
                          <a:cs typeface="Arial Unicode MS"/>
                        </a:rPr>
                        <a:t>Phenylalanine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Phe / F</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—CH₂—C₆H₅</a:t>
                      </a:r>
                    </a:p>
                    <a:p>
                      <a:pPr>
                        <a:lnSpc>
                          <a:spcPct val="108000"/>
                        </a:lnSpc>
                      </a:pPr>
                      <a:r>
                        <a:rPr sz="2000" b="0" lang="ko-KR">
                          <a:solidFill>
                            <a:srgbClr val="183342"/>
                          </a:solidFill>
                          <a:latin typeface="Arial Unicode MS"/>
                          <a:ea typeface="Arial Unicode MS"/>
                          <a:cs typeface="Arial Unicode MS"/>
                        </a:rPr>
                        <a:t>벤젠 고리</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소수성 방향족 고리</a:t>
                      </a:r>
                    </a:p>
                    <a:p>
                      <a:pPr>
                        <a:lnSpc>
                          <a:spcPct val="108000"/>
                        </a:lnSpc>
                      </a:pPr>
                      <a:r>
                        <a:rPr sz="2000" b="0" lang="ko-KR">
                          <a:solidFill>
                            <a:srgbClr val="183342"/>
                          </a:solidFill>
                          <a:latin typeface="Arial Unicode MS"/>
                          <a:ea typeface="Arial Unicode MS"/>
                          <a:cs typeface="Arial Unicode MS"/>
                        </a:rPr>
                        <a:t>고리의 위치와 방향을 관찰</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타이로신</a:t>
                      </a:r>
                    </a:p>
                    <a:p>
                      <a:pPr>
                        <a:lnSpc>
                          <a:spcPct val="108000"/>
                        </a:lnSpc>
                      </a:pPr>
                      <a:r>
                        <a:rPr sz="2000" b="0" lang="ko-KR">
                          <a:solidFill>
                            <a:srgbClr val="183342"/>
                          </a:solidFill>
                          <a:latin typeface="Arial Unicode MS"/>
                          <a:ea typeface="Arial Unicode MS"/>
                          <a:cs typeface="Arial Unicode MS"/>
                        </a:rPr>
                        <a:t>Tyrosine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Tyr / Y</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—CH₂—C₆H₄—OH</a:t>
                      </a:r>
                    </a:p>
                    <a:p>
                      <a:pPr>
                        <a:lnSpc>
                          <a:spcPct val="108000"/>
                        </a:lnSpc>
                      </a:pPr>
                      <a:r>
                        <a:rPr sz="2000" b="0" lang="ko-KR">
                          <a:solidFill>
                            <a:srgbClr val="183342"/>
                          </a:solidFill>
                          <a:latin typeface="Arial Unicode MS"/>
                          <a:ea typeface="Arial Unicode MS"/>
                          <a:cs typeface="Arial Unicode MS"/>
                        </a:rPr>
                        <a:t>고리 반대편의 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방향족 고리와 극성 OH</a:t>
                      </a:r>
                    </a:p>
                    <a:p>
                      <a:pPr>
                        <a:lnSpc>
                          <a:spcPct val="108000"/>
                        </a:lnSpc>
                      </a:pPr>
                      <a:r>
                        <a:rPr sz="2000" b="0" lang="ko-KR">
                          <a:solidFill>
                            <a:srgbClr val="183342"/>
                          </a:solidFill>
                          <a:latin typeface="Arial Unicode MS"/>
                          <a:ea typeface="Arial Unicode MS"/>
                          <a:cs typeface="Arial Unicode MS"/>
                        </a:rPr>
                        <a:t>OH가 수소결합에 참여 가능</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트립토판</a:t>
                      </a:r>
                    </a:p>
                    <a:p>
                      <a:pPr>
                        <a:lnSpc>
                          <a:spcPct val="108000"/>
                        </a:lnSpc>
                      </a:pPr>
                      <a:r>
                        <a:rPr sz="2000" b="0" lang="ko-KR">
                          <a:solidFill>
                            <a:srgbClr val="183342"/>
                          </a:solidFill>
                          <a:latin typeface="Arial Unicode MS"/>
                          <a:ea typeface="Arial Unicode MS"/>
                          <a:cs typeface="Arial Unicode MS"/>
                        </a:rPr>
                        <a:t>Tryptophan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Trp / 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—CH₂—인돌 고리</a:t>
                      </a:r>
                    </a:p>
                    <a:p>
                      <a:pPr>
                        <a:lnSpc>
                          <a:spcPct val="108000"/>
                        </a:lnSpc>
                      </a:pPr>
                      <a:r>
                        <a:rPr sz="2000" b="0" lang="ko-KR">
                          <a:solidFill>
                            <a:srgbClr val="183342"/>
                          </a:solidFill>
                          <a:latin typeface="Arial Unicode MS"/>
                          <a:ea typeface="Arial Unicode MS"/>
                          <a:cs typeface="Arial Unicode MS"/>
                        </a:rPr>
                        <a:t>두 고리가 붙고 N–H 포함</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큰 방향족 곁사슬</a:t>
                      </a:r>
                    </a:p>
                    <a:p>
                      <a:pPr>
                        <a:lnSpc>
                          <a:spcPct val="108000"/>
                        </a:lnSpc>
                      </a:pPr>
                      <a:r>
                        <a:rPr sz="2000" b="0" lang="ko-KR">
                          <a:solidFill>
                            <a:srgbClr val="183342"/>
                          </a:solidFill>
                          <a:latin typeface="Arial Unicode MS"/>
                          <a:ea typeface="Arial Unicode MS"/>
                          <a:cs typeface="Arial Unicode MS"/>
                        </a:rPr>
                        <a:t>고리 N–H는 수소결합 주개</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고리끼리 가까워도 위치와 방향, 주변 환경을 함께 보아야 합니다.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AATRP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OH와 SH 곁사슬: Ser, Thr, Cys</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아래 식은 중성 부근 pH에서 흔한 곁사슬 형태를 나타냅니다.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세린</a:t>
                      </a:r>
                    </a:p>
                    <a:p>
                      <a:pPr>
                        <a:lnSpc>
                          <a:spcPct val="108000"/>
                        </a:lnSpc>
                      </a:pPr>
                      <a:r>
                        <a:rPr sz="2000" b="0" lang="ko-KR">
                          <a:solidFill>
                            <a:srgbClr val="183342"/>
                          </a:solidFill>
                          <a:latin typeface="Arial Unicode MS"/>
                          <a:ea typeface="Arial Unicode MS"/>
                          <a:cs typeface="Arial Unicode MS"/>
                        </a:rPr>
                        <a:t>Serine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Ser / 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OH로 수소결합 가능</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트레오닌</a:t>
                      </a:r>
                    </a:p>
                    <a:p>
                      <a:pPr>
                        <a:lnSpc>
                          <a:spcPct val="108000"/>
                        </a:lnSpc>
                      </a:pPr>
                      <a:r>
                        <a:rPr sz="2000" b="0" lang="ko-KR">
                          <a:solidFill>
                            <a:srgbClr val="183342"/>
                          </a:solidFill>
                          <a:latin typeface="Arial Unicode MS"/>
                          <a:ea typeface="Arial Unicode MS"/>
                          <a:cs typeface="Arial Unicode MS"/>
                        </a:rPr>
                        <a:t>Threonine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Thr / 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—CH(OH)—CH₃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OH와 메틸 가지를 함께 가짐</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시스테인</a:t>
                      </a:r>
                    </a:p>
                    <a:p>
                      <a:pPr>
                        <a:lnSpc>
                          <a:spcPct val="108000"/>
                        </a:lnSpc>
                      </a:pPr>
                      <a:r>
                        <a:rPr sz="2000" b="0" lang="ko-KR">
                          <a:solidFill>
                            <a:srgbClr val="183342"/>
                          </a:solidFill>
                          <a:latin typeface="Arial Unicode MS"/>
                          <a:ea typeface="Arial Unicode MS"/>
                          <a:cs typeface="Arial Unicode MS"/>
                        </a:rPr>
                        <a:t>Cysteine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Cys / 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—CH₂—SH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반응 가능한 thiol(SH)</a:t>
                      </a:r>
                    </a:p>
                    <a:p>
                      <a:pPr>
                        <a:lnSpc>
                          <a:spcPct val="108000"/>
                        </a:lnSpc>
                      </a:pPr>
                      <a:r>
                        <a:rPr sz="2000" b="0" lang="ko-KR">
                          <a:solidFill>
                            <a:srgbClr val="183342"/>
                          </a:solidFill>
                          <a:latin typeface="Arial Unicode MS"/>
                          <a:ea typeface="Arial Unicode MS"/>
                          <a:cs typeface="Arial Unicode MS"/>
                        </a:rPr>
                        <a:t>두 Cys가 산화되면 S–S 가능</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Cys의 S–S는 공유결합입니다. 두 황이 가까운지만 보고 확정하지 않습니다.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PROTEIN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아마이드와 음전하: Asn, Gln, Asp, Glu</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끝부분의 CONH₂와 COO⁻를 구별합니다. 전하는 곁사슬 기준입니다.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77724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아스파라긴</a:t>
                      </a:r>
                    </a:p>
                    <a:p>
                      <a:pPr>
                        <a:lnSpc>
                          <a:spcPct val="108000"/>
                        </a:lnSpc>
                      </a:pPr>
                      <a:r>
                        <a:rPr sz="2000" b="0" lang="ko-KR">
                          <a:solidFill>
                            <a:srgbClr val="183342"/>
                          </a:solidFill>
                          <a:latin typeface="Arial Unicode MS"/>
                          <a:ea typeface="Arial Unicode MS"/>
                          <a:cs typeface="Arial Unicode MS"/>
                        </a:rPr>
                        <a:t>Asparagine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Asn /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—CH₂—C(=O)—NH₂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아마이드, 보통 전하 0</a:t>
                      </a:r>
                    </a:p>
                    <a:p>
                      <a:pPr>
                        <a:lnSpc>
                          <a:spcPct val="108000"/>
                        </a:lnSpc>
                      </a:pPr>
                      <a:r>
                        <a:rPr sz="2000" b="0" lang="ko-KR">
                          <a:solidFill>
                            <a:srgbClr val="183342"/>
                          </a:solidFill>
                          <a:latin typeface="Arial Unicode MS"/>
                          <a:ea typeface="Arial Unicode MS"/>
                          <a:cs typeface="Arial Unicode MS"/>
                        </a:rPr>
                        <a:t>O는 받개, N–H는 주개</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글루타민</a:t>
                      </a:r>
                    </a:p>
                    <a:p>
                      <a:pPr>
                        <a:lnSpc>
                          <a:spcPct val="108000"/>
                        </a:lnSpc>
                      </a:pPr>
                      <a:r>
                        <a:rPr sz="2000" b="0" lang="ko-KR">
                          <a:solidFill>
                            <a:srgbClr val="183342"/>
                          </a:solidFill>
                          <a:latin typeface="Arial Unicode MS"/>
                          <a:ea typeface="Arial Unicode MS"/>
                          <a:cs typeface="Arial Unicode MS"/>
                        </a:rPr>
                        <a:t>Glutamine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Gln / Q</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—(CH₂)₂—C(=O)—NH₂</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Asn보다 CH₂ 하나 더 김</a:t>
                      </a:r>
                    </a:p>
                  </a:txBody>
                  <a:tcPr marL="164592" marR="146304" marT="73152" marB="45720" anchor="ctr">
                    <a:solidFill>
                      <a:srgbClr val="FFFFFF"/>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아스파르트산</a:t>
                      </a:r>
                    </a:p>
                    <a:p>
                      <a:pPr>
                        <a:lnSpc>
                          <a:spcPct val="108000"/>
                        </a:lnSpc>
                      </a:pPr>
                      <a:r>
                        <a:rPr sz="2000" b="0" lang="ko-KR">
                          <a:solidFill>
                            <a:srgbClr val="183342"/>
                          </a:solidFill>
                          <a:latin typeface="Arial Unicode MS"/>
                          <a:ea typeface="Arial Unicode MS"/>
                          <a:cs typeface="Arial Unicode MS"/>
                        </a:rPr>
                        <a:t>Aspartic acid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 / 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 pH에서 보통 −1</a:t>
                      </a:r>
                    </a:p>
                    <a:p>
                      <a:pPr>
                        <a:lnSpc>
                          <a:spcPct val="108000"/>
                        </a:lnSpc>
                      </a:pPr>
                      <a:r>
                        <a:rPr sz="2000" b="0" lang="ko-KR">
                          <a:solidFill>
                            <a:srgbClr val="183342"/>
                          </a:solidFill>
                          <a:latin typeface="Arial Unicode MS"/>
                          <a:ea typeface="Arial Unicode MS"/>
                          <a:cs typeface="Arial Unicode MS"/>
                        </a:rPr>
                        <a:t>양전하와의 근접을 살핌</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글루탐산</a:t>
                      </a:r>
                    </a:p>
                    <a:p>
                      <a:pPr>
                        <a:lnSpc>
                          <a:spcPct val="108000"/>
                        </a:lnSpc>
                      </a:pPr>
                      <a:r>
                        <a:rPr sz="2000" b="0" lang="ko-KR">
                          <a:solidFill>
                            <a:srgbClr val="183342"/>
                          </a:solidFill>
                          <a:latin typeface="Arial Unicode MS"/>
                          <a:ea typeface="Arial Unicode MS"/>
                          <a:cs typeface="Arial Unicode MS"/>
                        </a:rPr>
                        <a:t>Glutamic acid</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Glu / 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—(CH₂)₂—COO⁻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중성 pH에서 보통 −1</a:t>
                      </a:r>
                    </a:p>
                    <a:p>
                      <a:pPr>
                        <a:lnSpc>
                          <a:spcPct val="108000"/>
                        </a:lnSpc>
                      </a:pPr>
                      <a:r>
                        <a:rPr sz="2000" b="0" lang="ko-KR">
                          <a:solidFill>
                            <a:srgbClr val="183342"/>
                          </a:solidFill>
                          <a:latin typeface="Arial Unicode MS"/>
                          <a:ea typeface="Arial Unicode MS"/>
                          <a:cs typeface="Arial Unicode MS"/>
                        </a:rPr>
                        <a:t>Asp보다 CH₂ 하나 더 김</a:t>
                      </a:r>
                    </a:p>
                  </a:txBody>
                  <a:tcPr marL="164592" marR="146304" marT="73152" marB="45720" anchor="ctr">
                    <a:solidFill>
                      <a:srgbClr val="FFFFFF"/>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Asn과 Asp, Gln과 Glu는 비슷한 길이여도 말단 작용기와 전하가 다릅니다.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AAPKA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염기성 곁사슬: Lys, Arg, His</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Lys와 Arg는 중성 부근 pH에서 보통 +1입니다. His는 상태가 달라질 수 있습니다.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라이신</a:t>
                      </a:r>
                    </a:p>
                    <a:p>
                      <a:pPr>
                        <a:lnSpc>
                          <a:spcPct val="108000"/>
                        </a:lnSpc>
                      </a:pPr>
                      <a:r>
                        <a:rPr sz="2000" b="0" lang="ko-KR">
                          <a:solidFill>
                            <a:srgbClr val="183342"/>
                          </a:solidFill>
                          <a:latin typeface="Arial Unicode MS"/>
                          <a:ea typeface="Arial Unicode MS"/>
                          <a:cs typeface="Arial Unicode MS"/>
                        </a:rPr>
                        <a:t>Lysine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Lys / K</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—(CH₂)₄—NH₃⁺</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긴 사슬 끝의 양전하</a:t>
                      </a:r>
                    </a:p>
                    <a:p>
                      <a:pPr>
                        <a:lnSpc>
                          <a:spcPct val="108000"/>
                        </a:lnSpc>
                      </a:pPr>
                      <a:r>
                        <a:rPr sz="2000" b="0" lang="ko-KR">
                          <a:solidFill>
                            <a:srgbClr val="183342"/>
                          </a:solidFill>
                          <a:latin typeface="Arial Unicode MS"/>
                          <a:ea typeface="Arial Unicode MS"/>
                          <a:cs typeface="Arial Unicode MS"/>
                        </a:rPr>
                        <a:t>NH₃⁺는 수소결합 주개</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아르기닌</a:t>
                      </a:r>
                    </a:p>
                    <a:p>
                      <a:pPr>
                        <a:lnSpc>
                          <a:spcPct val="108000"/>
                        </a:lnSpc>
                      </a:pPr>
                      <a:r>
                        <a:rPr sz="2000" b="0" lang="ko-KR">
                          <a:solidFill>
                            <a:srgbClr val="183342"/>
                          </a:solidFill>
                          <a:latin typeface="Arial Unicode MS"/>
                          <a:ea typeface="Arial Unicode MS"/>
                          <a:cs typeface="Arial Unicode MS"/>
                        </a:rPr>
                        <a:t>Arginine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Arg / 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—(CH₂)₃—NH—</a:t>
                      </a:r>
                    </a:p>
                    <a:p>
                      <a:pPr>
                        <a:lnSpc>
                          <a:spcPct val="108000"/>
                        </a:lnSpc>
                      </a:pPr>
                      <a:r>
                        <a:rPr sz="2000" b="0" lang="ko-KR">
                          <a:solidFill>
                            <a:srgbClr val="183342"/>
                          </a:solidFill>
                          <a:latin typeface="Arial Unicode MS"/>
                          <a:ea typeface="Arial Unicode MS"/>
                          <a:cs typeface="Arial Unicode MS"/>
                        </a:rPr>
                        <a:t>C(=NH₂⁺)—NH₂</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구아니디늄 말단, 보통 +1</a:t>
                      </a:r>
                    </a:p>
                    <a:p>
                      <a:pPr>
                        <a:lnSpc>
                          <a:spcPct val="108000"/>
                        </a:lnSpc>
                      </a:pPr>
                      <a:r>
                        <a:rPr sz="2000" b="0" lang="ko-KR">
                          <a:solidFill>
                            <a:srgbClr val="183342"/>
                          </a:solidFill>
                          <a:latin typeface="Arial Unicode MS"/>
                          <a:ea typeface="Arial Unicode MS"/>
                          <a:cs typeface="Arial Unicode MS"/>
                        </a:rPr>
                        <a:t>여러 N–H가 주개로 참여</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히스티딘</a:t>
                      </a:r>
                    </a:p>
                    <a:p>
                      <a:pPr>
                        <a:lnSpc>
                          <a:spcPct val="108000"/>
                        </a:lnSpc>
                      </a:pPr>
                      <a:r>
                        <a:rPr sz="2000" b="0" lang="ko-KR">
                          <a:solidFill>
                            <a:srgbClr val="183342"/>
                          </a:solidFill>
                          <a:latin typeface="Arial Unicode MS"/>
                          <a:ea typeface="Arial Unicode MS"/>
                          <a:cs typeface="Arial Unicode MS"/>
                        </a:rPr>
                        <a:t>Histidine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His / 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—CH₂—이미다졸 고리</a:t>
                      </a:r>
                    </a:p>
                    <a:p>
                      <a:pPr>
                        <a:lnSpc>
                          <a:spcPct val="108000"/>
                        </a:lnSpc>
                      </a:pPr>
                      <a:r>
                        <a:rPr sz="2000" b="0" lang="ko-KR">
                          <a:solidFill>
                            <a:srgbClr val="183342"/>
                          </a:solidFill>
                          <a:latin typeface="Arial Unicode MS"/>
                          <a:ea typeface="Arial Unicode MS"/>
                          <a:cs typeface="Arial Unicode MS"/>
                        </a:rPr>
                        <a:t>질소 두 개를 가진 고리</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곁사슬 전하 0 또는 +1</a:t>
                      </a:r>
                    </a:p>
                    <a:p>
                      <a:pPr>
                        <a:lnSpc>
                          <a:spcPct val="108000"/>
                        </a:lnSpc>
                      </a:pPr>
                      <a:r>
                        <a:rPr sz="2000" b="0" lang="ko-KR">
                          <a:solidFill>
                            <a:srgbClr val="183342"/>
                          </a:solidFill>
                          <a:latin typeface="Arial Unicode MS"/>
                          <a:ea typeface="Arial Unicode MS"/>
                          <a:cs typeface="Arial Unicode MS"/>
                        </a:rPr>
                        <a:t>pH와 주변 환경에 따라 변함</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기본 20종 외에 특수한 번역으로 들어가는 Sec(U)와 Pyl(O)도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AAHIS, AASEQ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아미노산의 카복실기 쪽 C와 다음 아미노산의 N이 연결된다.</a:t>
            </a:r>
          </a:p>
          <a:p>
            <a:pPr algn="l">
              <a:lnSpc>
                <a:spcPct val="115000"/>
              </a:lnSpc>
              <a:spcAft>
                <a:spcPts val="1800"/>
              </a:spcAft>
            </a:pPr>
            <a:r>
              <a:rPr sz="2200" b="0" lang="ko-KR">
                <a:solidFill>
                  <a:srgbClr val="183342"/>
                </a:solidFill>
                <a:latin typeface="Arial Unicode MS"/>
                <a:ea typeface="Arial Unicode MS"/>
                <a:cs typeface="Arial Unicode MS"/>
              </a:rPr>
              <a:t>펩타이드결합은 단백질 주사슬을 잇는 공유결합이다.</a:t>
            </a:r>
          </a:p>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아미노산이 사슬에 들어간 한 단위를 잔기(residue)라 한다.</a:t>
            </a:r>
          </a:p>
          <a:p>
            <a:pPr algn="l">
              <a:lnSpc>
                <a:spcPct val="115000"/>
              </a:lnSpc>
              <a:spcAft>
                <a:spcPts val="1800"/>
              </a:spcAft>
            </a:pPr>
            <a:r>
              <a:rPr sz="2200" b="0" lang="ko-KR">
                <a:solidFill>
                  <a:srgbClr val="183342"/>
                </a:solidFill>
                <a:latin typeface="Arial Unicode MS"/>
                <a:ea typeface="Arial Unicode MS"/>
                <a:cs typeface="Arial Unicode MS"/>
              </a:rPr>
              <a:t>연속된 폴리펩타이드에 A·B 같은 사슬(chain) 표지를 붙여 구별한다.</a:t>
            </a:r>
          </a:p>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PDB 텍스트: 문자 위치로 읽는 원자 정보</a:t>
            </a:r>
          </a:p>
        </p:txBody>
      </p:sp>
      <p:sp>
        <p:nvSpPr>
          <p:cNvPr id="3" name="TextBox 2"/>
          <p:cNvSpPr txBox="1"/>
          <p:nvPr/>
        </p:nvSpPr>
        <p:spPr>
          <a:xfrm>
            <a:off x="594360" y="132588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2ITY.pdb의 실제 두 행입니다. 각 필드는 정해진 문자 열을 차지합니다.</a:t>
            </a:r>
          </a:p>
        </p:txBody>
      </p:sp>
      <p:sp>
        <p:nvSpPr>
          <p:cNvPr id="4" name="TextBox 3"/>
          <p:cNvSpPr txBox="1"/>
          <p:nvPr/>
        </p:nvSpPr>
        <p:spPr>
          <a:xfrm>
            <a:off x="594360" y="18288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GLU A 697     -68.144  -7.449 -50.184  1.00 55.89           N</a:t>
            </a:r>
          </a:p>
          <a:p>
            <a:pPr algn="l">
              <a:lnSpc>
                <a:spcPts val="1954"/>
              </a:lnSpc>
            </a:pPr>
            <a:r>
              <a:rPr sz="1700" b="0" lang="ko-KR">
                <a:solidFill>
                  <a:srgbClr val="183342"/>
                </a:solidFill>
                <a:latin typeface="Courier New"/>
                <a:ea typeface="Arial Unicode MS"/>
                <a:cs typeface="Arial Unicode MS"/>
              </a:rPr>
              <a:t>ATOM      2  CA  GLU A 697     -67.658  -6.829 -48.889  1.00 55.39           C</a:t>
            </a:r>
          </a:p>
        </p:txBody>
      </p:sp>
      <p:graphicFrame>
        <p:nvGraphicFramePr>
          <p:cNvPr id="5" name="Table 4"/>
          <p:cNvGraphicFramePr>
            <a:graphicFrameLocks noGrp="1"/>
          </p:cNvGraphicFramePr>
          <p:nvPr/>
        </p:nvGraphicFramePr>
        <p:xfrm>
          <a:off x="594360" y="2606040"/>
          <a:ext cx="10972799" cy="3127248"/>
        </p:xfrm>
        <a:graphic>
          <a:graphicData uri="http://schemas.openxmlformats.org/drawingml/2006/table">
            <a:tbl>
              <a:tblPr firstRow="1" bandRow="1">
                <a:tableStyleId>{5C22544A-7EE6-4342-B048-85BDC9FD1C3A}</a:tableStyleId>
              </a:tblPr>
              <a:tblGrid>
                <a:gridCol w="4389120"/>
                <a:gridCol w="6583679"/>
              </a:tblGrid>
              <a:tr h="521208">
                <a:tc>
                  <a:txBody>
                    <a:bodyPr wrap="square"/>
                    <a:lstStyle/>
                    <a:p>
                      <a:pPr>
                        <a:lnSpc>
                          <a:spcPct val="108000"/>
                        </a:lnSpc>
                      </a:pPr>
                      <a:r>
                        <a:rPr sz="1800" b="1" lang="ko-KR">
                          <a:solidFill>
                            <a:srgbClr val="FFFFFF"/>
                          </a:solidFill>
                          <a:latin typeface="Arial Unicode MS"/>
                          <a:ea typeface="Arial Unicode MS"/>
                          <a:cs typeface="Arial Unicode MS"/>
                        </a:rPr>
                        <a:t>문자 열 / 첫 행의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1–11: ATOM / 1</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좌표 레코드 / 원자 일련번호</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13–26: N / GLU / A / 697</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이름 / 잔기 이름 / 사슬 / 잔기 번호</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31–54: −68.144, −7.449, −50.184</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x, y, z 좌표 (Å). 1 Å = 0.1 nm</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55–66: 1.00 / 55.89</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점유율 (occupancy) / B factor (Å²)</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77–78: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원소 기호. N은 질소</a:t>
                      </a:r>
                    </a:p>
                  </a:txBody>
                  <a:tcPr marL="164592" marR="146304" marT="73152" marB="45720" anchor="ctr">
                    <a:solidFill>
                      <a:srgbClr val="F2F6F6"/>
                    </a:solidFill>
                  </a:tcPr>
                </a:tc>
              </a:tr>
            </a:tbl>
          </a:graphicData>
        </a:graphic>
      </p:graphicFrame>
      <p:sp>
        <p:nvSpPr>
          <p:cNvPr id="6" name="TextBox 5"/>
          <p:cNvSpPr txBox="1"/>
          <p:nvPr/>
        </p:nvSpPr>
        <p:spPr>
          <a:xfrm>
            <a:off x="594360" y="5925312"/>
            <a:ext cx="10972800" cy="36576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둘째 행의 CA는 Cα 원자 이름이고, 마지막 C는 탄소 원소입니다.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PDBFMT,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mmCIF 텍스트: 태그 순서로 읽는 원자 정보</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수업의 .cif는 PDBx/mmCIF입니다. 2ITY.cif에서 필요한 열과 두 행을 선별했습니다.</a:t>
            </a:r>
          </a:p>
        </p:txBody>
      </p:sp>
      <p:sp>
        <p:nvSpPr>
          <p:cNvPr id="4" name="TextBox 3"/>
          <p:cNvSpPr txBox="1"/>
          <p:nvPr/>
        </p:nvSpPr>
        <p:spPr>
          <a:xfrm>
            <a:off x="594360" y="1810512"/>
            <a:ext cx="5212080" cy="306324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data_2ITY</a:t>
            </a:r>
          </a:p>
          <a:p>
            <a:pPr algn="l">
              <a:lnSpc>
                <a:spcPts val="1954"/>
              </a:lnSpc>
            </a:pPr>
            <a:r>
              <a:rPr sz="1700" b="0" lang="ko-KR">
                <a:solidFill>
                  <a:srgbClr val="183342"/>
                </a:solidFill>
                <a:latin typeface="Courier New"/>
                <a:ea typeface="Arial Unicode MS"/>
                <a:cs typeface="Arial Unicode MS"/>
              </a:rPr>
              <a:t>loop_</a:t>
            </a:r>
          </a:p>
          <a:p>
            <a:pPr algn="l">
              <a:lnSpc>
                <a:spcPts val="1954"/>
              </a:lnSpc>
            </a:pPr>
            <a:r>
              <a:rPr sz="1700" b="0" lang="ko-KR">
                <a:solidFill>
                  <a:srgbClr val="183342"/>
                </a:solidFill>
                <a:latin typeface="Courier New"/>
                <a:ea typeface="Arial Unicode MS"/>
                <a:cs typeface="Arial Unicode MS"/>
              </a:rPr>
              <a:t>_atom_site.group_PDB</a:t>
            </a:r>
          </a:p>
          <a:p>
            <a:pPr algn="l">
              <a:lnSpc>
                <a:spcPts val="1954"/>
              </a:lnSpc>
            </a:pPr>
            <a:r>
              <a:rPr sz="1700" b="0" lang="ko-KR">
                <a:solidFill>
                  <a:srgbClr val="183342"/>
                </a:solidFill>
                <a:latin typeface="Courier New"/>
                <a:ea typeface="Arial Unicode MS"/>
                <a:cs typeface="Arial Unicode MS"/>
              </a:rPr>
              <a:t>_atom_site.id</a:t>
            </a:r>
          </a:p>
          <a:p>
            <a:pPr algn="l">
              <a:lnSpc>
                <a:spcPts val="1954"/>
              </a:lnSpc>
            </a:pPr>
            <a:r>
              <a:rPr sz="1700" b="0" lang="ko-KR">
                <a:solidFill>
                  <a:srgbClr val="183342"/>
                </a:solidFill>
                <a:latin typeface="Courier New"/>
                <a:ea typeface="Arial Unicode MS"/>
                <a:cs typeface="Arial Unicode MS"/>
              </a:rPr>
              <a:t>_atom_site.type_symbol</a:t>
            </a:r>
          </a:p>
          <a:p>
            <a:pPr algn="l">
              <a:lnSpc>
                <a:spcPts val="1954"/>
              </a:lnSpc>
            </a:pPr>
            <a:r>
              <a:rPr sz="1700" b="0" lang="ko-KR">
                <a:solidFill>
                  <a:srgbClr val="183342"/>
                </a:solidFill>
                <a:latin typeface="Courier New"/>
                <a:ea typeface="Arial Unicode MS"/>
                <a:cs typeface="Arial Unicode MS"/>
              </a:rPr>
              <a:t>_atom_site.label_atom_id</a:t>
            </a:r>
          </a:p>
          <a:p>
            <a:pPr algn="l">
              <a:lnSpc>
                <a:spcPts val="1954"/>
              </a:lnSpc>
            </a:pPr>
            <a:r>
              <a:rPr sz="1700" b="0" lang="ko-KR">
                <a:solidFill>
                  <a:srgbClr val="183342"/>
                </a:solidFill>
                <a:latin typeface="Courier New"/>
                <a:ea typeface="Arial Unicode MS"/>
                <a:cs typeface="Arial Unicode MS"/>
              </a:rPr>
              <a:t>_atom_site.label_comp_id</a:t>
            </a:r>
          </a:p>
          <a:p>
            <a:pPr algn="l">
              <a:lnSpc>
                <a:spcPts val="1954"/>
              </a:lnSpc>
            </a:pPr>
            <a:r>
              <a:rPr sz="1700" b="0" lang="ko-KR">
                <a:solidFill>
                  <a:srgbClr val="183342"/>
                </a:solidFill>
                <a:latin typeface="Courier New"/>
                <a:ea typeface="Arial Unicode MS"/>
                <a:cs typeface="Arial Unicode MS"/>
              </a:rPr>
              <a:t>_atom_site.auth_asym_id</a:t>
            </a:r>
          </a:p>
          <a:p>
            <a:pPr algn="l">
              <a:lnSpc>
                <a:spcPts val="1954"/>
              </a:lnSpc>
            </a:pPr>
            <a:r>
              <a:rPr sz="1700" b="0" lang="ko-KR">
                <a:solidFill>
                  <a:srgbClr val="183342"/>
                </a:solidFill>
                <a:latin typeface="Courier New"/>
                <a:ea typeface="Arial Unicode MS"/>
                <a:cs typeface="Arial Unicode MS"/>
              </a:rPr>
              <a:t>_atom_site.auth_seq_id</a:t>
            </a:r>
          </a:p>
          <a:p>
            <a:pPr algn="l">
              <a:lnSpc>
                <a:spcPts val="1954"/>
              </a:lnSpc>
            </a:pPr>
            <a:r>
              <a:rPr sz="1700" b="0" lang="ko-KR">
                <a:solidFill>
                  <a:srgbClr val="183342"/>
                </a:solidFill>
                <a:latin typeface="Courier New"/>
                <a:ea typeface="Arial Unicode MS"/>
                <a:cs typeface="Arial Unicode MS"/>
              </a:rPr>
              <a:t>_atom_site.Cartn_x</a:t>
            </a:r>
          </a:p>
          <a:p>
            <a:pPr algn="l">
              <a:lnSpc>
                <a:spcPts val="1954"/>
              </a:lnSpc>
            </a:pPr>
            <a:r>
              <a:rPr sz="1700" b="0" lang="ko-KR">
                <a:solidFill>
                  <a:srgbClr val="183342"/>
                </a:solidFill>
                <a:latin typeface="Courier New"/>
                <a:ea typeface="Arial Unicode MS"/>
                <a:cs typeface="Arial Unicode MS"/>
              </a:rPr>
              <a:t>_atom_site.Cartn_y</a:t>
            </a:r>
          </a:p>
          <a:p>
            <a:pPr algn="l">
              <a:lnSpc>
                <a:spcPts val="1954"/>
              </a:lnSpc>
            </a:pPr>
            <a:r>
              <a:rPr sz="1700" b="0" lang="ko-KR">
                <a:solidFill>
                  <a:srgbClr val="183342"/>
                </a:solidFill>
                <a:latin typeface="Courier New"/>
                <a:ea typeface="Arial Unicode MS"/>
                <a:cs typeface="Arial Unicode MS"/>
              </a:rPr>
              <a:t>_atom_site.Cartn_z</a:t>
            </a:r>
          </a:p>
        </p:txBody>
      </p:sp>
      <p:sp>
        <p:nvSpPr>
          <p:cNvPr id="5" name="TextBox 4"/>
          <p:cNvSpPr txBox="1"/>
          <p:nvPr/>
        </p:nvSpPr>
        <p:spPr>
          <a:xfrm>
            <a:off x="6080760" y="1810512"/>
            <a:ext cx="5486400" cy="3063240"/>
          </a:xfrm>
          <a:prstGeom prst="rect">
            <a:avLst/>
          </a:prstGeom>
          <a:noFill/>
        </p:spPr>
        <p:txBody>
          <a:bodyPr wrap="square" lIns="18288" rIns="18288" tIns="18288" bIns="18288">
            <a:spAutoFit/>
          </a:bodyPr>
          <a:lstStyle/>
          <a:p>
            <a:pPr algn="l">
              <a:lnSpc>
                <a:spcPts val="1954"/>
              </a:lnSpc>
            </a:pPr>
            <a:r>
              <a:rPr sz="1700" b="0" lang="ko-KR">
                <a:solidFill>
                  <a:srgbClr val="183342"/>
                </a:solidFill>
                <a:latin typeface="Arial Unicode MS"/>
                <a:ea typeface="Arial Unicode MS"/>
                <a:cs typeface="Arial Unicode MS"/>
              </a:rPr>
              <a:t>2ITY 데이터 묶음의 시작</a:t>
            </a:r>
          </a:p>
          <a:p>
            <a:pPr algn="l">
              <a:lnSpc>
                <a:spcPts val="1954"/>
              </a:lnSpc>
            </a:pPr>
            <a:r>
              <a:rPr sz="1700" b="0" lang="ko-KR">
                <a:solidFill>
                  <a:srgbClr val="183342"/>
                </a:solidFill>
                <a:latin typeface="Arial Unicode MS"/>
                <a:ea typeface="Arial Unicode MS"/>
                <a:cs typeface="Arial Unicode MS"/>
              </a:rPr>
              <a:t>표의 시작. 아래 태그 순서대로 값을 읽음</a:t>
            </a:r>
          </a:p>
          <a:p>
            <a:pPr algn="l">
              <a:lnSpc>
                <a:spcPts val="1954"/>
              </a:lnSpc>
            </a:pPr>
            <a:r>
              <a:rPr sz="1700" b="0" lang="ko-KR">
                <a:solidFill>
                  <a:srgbClr val="183342"/>
                </a:solidFill>
                <a:latin typeface="Arial Unicode MS"/>
                <a:ea typeface="Arial Unicode MS"/>
                <a:cs typeface="Arial Unicode MS"/>
              </a:rPr>
              <a:t>레코드 종류</a:t>
            </a:r>
          </a:p>
          <a:p>
            <a:pPr algn="l">
              <a:lnSpc>
                <a:spcPts val="1954"/>
              </a:lnSpc>
            </a:pPr>
            <a:r>
              <a:rPr sz="1700" b="0" lang="ko-KR">
                <a:solidFill>
                  <a:srgbClr val="183342"/>
                </a:solidFill>
                <a:latin typeface="Arial Unicode MS"/>
                <a:ea typeface="Arial Unicode MS"/>
                <a:cs typeface="Arial Unicode MS"/>
              </a:rPr>
              <a:t>원자 일련번호</a:t>
            </a:r>
          </a:p>
          <a:p>
            <a:pPr algn="l">
              <a:lnSpc>
                <a:spcPts val="1954"/>
              </a:lnSpc>
            </a:pPr>
            <a:r>
              <a:rPr sz="1700" b="0" lang="ko-KR">
                <a:solidFill>
                  <a:srgbClr val="183342"/>
                </a:solidFill>
                <a:latin typeface="Arial Unicode MS"/>
                <a:ea typeface="Arial Unicode MS"/>
                <a:cs typeface="Arial Unicode MS"/>
              </a:rPr>
              <a:t>원소 기호</a:t>
            </a:r>
          </a:p>
          <a:p>
            <a:pPr algn="l">
              <a:lnSpc>
                <a:spcPts val="1954"/>
              </a:lnSpc>
            </a:pPr>
            <a:r>
              <a:rPr sz="1700" b="0" lang="ko-KR">
                <a:solidFill>
                  <a:srgbClr val="183342"/>
                </a:solidFill>
                <a:latin typeface="Arial Unicode MS"/>
                <a:ea typeface="Arial Unicode MS"/>
                <a:cs typeface="Arial Unicode MS"/>
              </a:rPr>
              <a:t>원자 이름</a:t>
            </a:r>
          </a:p>
          <a:p>
            <a:pPr algn="l">
              <a:lnSpc>
                <a:spcPts val="1954"/>
              </a:lnSpc>
            </a:pPr>
            <a:r>
              <a:rPr sz="1700" b="0" lang="ko-KR">
                <a:solidFill>
                  <a:srgbClr val="183342"/>
                </a:solidFill>
                <a:latin typeface="Arial Unicode MS"/>
                <a:ea typeface="Arial Unicode MS"/>
                <a:cs typeface="Arial Unicode MS"/>
              </a:rPr>
              <a:t>잔기 이름</a:t>
            </a:r>
          </a:p>
          <a:p>
            <a:pPr algn="l">
              <a:lnSpc>
                <a:spcPts val="1954"/>
              </a:lnSpc>
            </a:pPr>
            <a:r>
              <a:rPr sz="1700" b="0" lang="ko-KR">
                <a:solidFill>
                  <a:srgbClr val="183342"/>
                </a:solidFill>
                <a:latin typeface="Arial Unicode MS"/>
                <a:ea typeface="Arial Unicode MS"/>
                <a:cs typeface="Arial Unicode MS"/>
              </a:rPr>
              <a:t>저자 사슬 표지</a:t>
            </a:r>
          </a:p>
          <a:p>
            <a:pPr algn="l">
              <a:lnSpc>
                <a:spcPts val="1954"/>
              </a:lnSpc>
            </a:pPr>
            <a:r>
              <a:rPr sz="1700" b="0" lang="ko-KR">
                <a:solidFill>
                  <a:srgbClr val="183342"/>
                </a:solidFill>
                <a:latin typeface="Arial Unicode MS"/>
                <a:ea typeface="Arial Unicode MS"/>
                <a:cs typeface="Arial Unicode MS"/>
              </a:rPr>
              <a:t>저자 잔기 번호</a:t>
            </a:r>
          </a:p>
          <a:p>
            <a:pPr algn="l">
              <a:lnSpc>
                <a:spcPts val="1954"/>
              </a:lnSpc>
            </a:pPr>
            <a:r>
              <a:rPr sz="1700" b="0" lang="ko-KR">
                <a:solidFill>
                  <a:srgbClr val="183342"/>
                </a:solidFill>
                <a:latin typeface="Arial Unicode MS"/>
                <a:ea typeface="Arial Unicode MS"/>
                <a:cs typeface="Arial Unicode MS"/>
              </a:rPr>
              <a:t>x 좌표 (Å)</a:t>
            </a:r>
          </a:p>
          <a:p>
            <a:pPr algn="l">
              <a:lnSpc>
                <a:spcPts val="1954"/>
              </a:lnSpc>
            </a:pPr>
            <a:r>
              <a:rPr sz="1700" b="0" lang="ko-KR">
                <a:solidFill>
                  <a:srgbClr val="183342"/>
                </a:solidFill>
                <a:latin typeface="Arial Unicode MS"/>
                <a:ea typeface="Arial Unicode MS"/>
                <a:cs typeface="Arial Unicode MS"/>
              </a:rPr>
              <a:t>y 좌표 (Å)</a:t>
            </a:r>
          </a:p>
          <a:p>
            <a:pPr algn="l">
              <a:lnSpc>
                <a:spcPts val="1954"/>
              </a:lnSpc>
            </a:pPr>
            <a:r>
              <a:rPr sz="1700" b="0" lang="ko-KR">
                <a:solidFill>
                  <a:srgbClr val="183342"/>
                </a:solidFill>
                <a:latin typeface="Arial Unicode MS"/>
                <a:ea typeface="Arial Unicode MS"/>
                <a:cs typeface="Arial Unicode MS"/>
              </a:rPr>
              <a:t>z 좌표 (Å)</a:t>
            </a:r>
          </a:p>
        </p:txBody>
      </p:sp>
      <p:sp>
        <p:nvSpPr>
          <p:cNvPr id="6" name="TextBox 5"/>
          <p:cNvSpPr txBox="1"/>
          <p:nvPr/>
        </p:nvSpPr>
        <p:spPr>
          <a:xfrm>
            <a:off x="594360" y="50292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N  GLU A 697 -68.144 -7.449 -50.184</a:t>
            </a:r>
          </a:p>
          <a:p>
            <a:pPr algn="l">
              <a:lnSpc>
                <a:spcPts val="1954"/>
              </a:lnSpc>
            </a:pPr>
            <a:r>
              <a:rPr sz="1700" b="0" lang="ko-KR">
                <a:solidFill>
                  <a:srgbClr val="183342"/>
                </a:solidFill>
                <a:latin typeface="Courier New"/>
                <a:ea typeface="Arial Unicode MS"/>
                <a:cs typeface="Arial Unicode MS"/>
              </a:rPr>
              <a:t>ATOM 2 C CA GLU A 697 -67.658 -6.829 -48.889</a:t>
            </a:r>
          </a:p>
        </p:txBody>
      </p:sp>
      <p:sp>
        <p:nvSpPr>
          <p:cNvPr id="7" name="TextBox 6"/>
          <p:cNvSpPr txBox="1"/>
          <p:nvPr/>
        </p:nvSpPr>
        <p:spPr>
          <a:xfrm>
            <a:off x="594360" y="5897880"/>
            <a:ext cx="10972800" cy="41148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각 행의 10개 값은 위의 10개 태그와 같은 순서로 대응합니다.</a:t>
            </a:r>
          </a:p>
        </p:txBody>
      </p:sp>
      <p:sp>
        <p:nvSpPr>
          <p:cNvPr id="8" name="TextBox 7"/>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CIFSYNTAX, CIF2ITY  ·  상세 출처는 발표자 노트와 마지막 참고 자료에 수록</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좌표 외의 값과 잔기 번호 읽기</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필드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2ITY 첫 원자의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occupancy</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1.00</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원자 위치의 점유율</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 factor</a:t>
                      </a:r>
                    </a:p>
                    <a:p>
                      <a:pPr>
                        <a:lnSpc>
                          <a:spcPct val="108000"/>
                        </a:lnSpc>
                      </a:pPr>
                      <a:r>
                        <a:rPr sz="2000" b="0" lang="ko-KR">
                          <a:solidFill>
                            <a:srgbClr val="183342"/>
                          </a:solidFill>
                          <a:latin typeface="Arial Unicode MS"/>
                          <a:ea typeface="Arial Unicode MS"/>
                          <a:cs typeface="Arial Unicode MS"/>
                        </a:rPr>
                        <a:t>B_iso_or_equiv</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55.89 Å²</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위치의 퍼짐</a:t>
                      </a:r>
                    </a:p>
                    <a:p>
                      <a:pPr>
                        <a:lnSpc>
                          <a:spcPct val="108000"/>
                        </a:lnSpc>
                      </a:pPr>
                      <a:r>
                        <a:rPr sz="2000" b="0" lang="ko-KR">
                          <a:solidFill>
                            <a:srgbClr val="183342"/>
                          </a:solidFill>
                          <a:latin typeface="Arial Unicode MS"/>
                          <a:ea typeface="Arial Unicode MS"/>
                          <a:cs typeface="Arial Unicode MS"/>
                        </a:rPr>
                        <a:t>(이 결정구조의 모델 값)</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label_seq_id / auth_seq_id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2 / 697</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등록 서열 위치 /</a:t>
                      </a:r>
                    </a:p>
                    <a:p>
                      <a:pPr>
                        <a:lnSpc>
                          <a:spcPct val="108000"/>
                        </a:lnSpc>
                      </a:pPr>
                      <a:r>
                        <a:rPr sz="2000" b="0" lang="ko-KR">
                          <a:solidFill>
                            <a:srgbClr val="183342"/>
                          </a:solidFill>
                          <a:latin typeface="Arial Unicode MS"/>
                          <a:ea typeface="Arial Unicode MS"/>
                          <a:cs typeface="Arial Unicode MS"/>
                        </a:rPr>
                        <a:t>저자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label_alt_id /</a:t>
                      </a:r>
                    </a:p>
                    <a:p>
                      <a:pPr>
                        <a:lnSpc>
                          <a:spcPct val="108000"/>
                        </a:lnSpc>
                      </a:pPr>
                      <a:r>
                        <a:rPr sz="2000" b="0" lang="ko-KR">
                          <a:solidFill>
                            <a:srgbClr val="183342"/>
                          </a:solidFill>
                          <a:latin typeface="Arial Unicode MS"/>
                          <a:ea typeface="Arial Unicode MS"/>
                          <a:cs typeface="Arial Unicode MS"/>
                        </a:rPr>
                        <a:t>pdbx_PDB_ins_code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 / ?</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없음·생략 / 값 미상</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점유율과 B factor로 결합 세기를 판단하지 않습니다. 이 수업의 잔기 번호는 auth 기준입니다.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COORDREAD, CIFSYNTAX, CIF2ITY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연결된 사슬이 접히면서 잔기들이 3차원으로 배치된다.</a:t>
            </a:r>
          </a:p>
          <a:p>
            <a:pPr algn="l">
              <a:lnSpc>
                <a:spcPct val="115000"/>
              </a:lnSpc>
              <a:spcAft>
                <a:spcPts val="1800"/>
              </a:spcAft>
            </a:pPr>
            <a:r>
              <a:rPr sz="2200" b="0" lang="ko-KR">
                <a:solidFill>
                  <a:srgbClr val="183342"/>
                </a:solidFill>
                <a:latin typeface="Arial Unicode MS"/>
                <a:ea typeface="Arial Unicode MS"/>
                <a:cs typeface="Arial Unicode MS"/>
              </a:rPr>
              <a:t>이 배치가 약물이나 다른 분자가 만나는 공간을 만든다.</a:t>
            </a:r>
          </a:p>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α-나선과 β-시트는 주사슬이 만드는 대표적인 국소 구조다.</a:t>
            </a:r>
          </a:p>
          <a:p>
            <a:pPr algn="l">
              <a:lnSpc>
                <a:spcPct val="115000"/>
              </a:lnSpc>
              <a:spcAft>
                <a:spcPts val="1800"/>
              </a:spcAft>
            </a:pPr>
            <a:r>
              <a:rPr sz="2200" b="0" lang="ko-KR">
                <a:solidFill>
                  <a:srgbClr val="183342"/>
                </a:solidFill>
                <a:latin typeface="Arial Unicode MS"/>
                <a:ea typeface="Arial Unicode MS"/>
                <a:cs typeface="Arial Unicode MS"/>
              </a:rPr>
              <a:t>반복되는 주사슬의 수소결합이 이 구조들을 안정화하는 데 기여한다.</a:t>
            </a:r>
          </a:p>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a:p>
            <a:pPr algn="l">
              <a:lnSpc>
                <a:spcPct val="115000"/>
              </a:lnSpc>
              <a:spcAft>
                <a:spcPts val="1800"/>
              </a:spcAft>
            </a:pPr>
            <a:r>
              <a:rPr sz="2200" b="0" lang="ko-KR">
                <a:solidFill>
                  <a:srgbClr val="183342"/>
                </a:solidFill>
                <a:latin typeface="Arial Unicode MS"/>
                <a:ea typeface="Arial Unicode MS"/>
                <a:cs typeface="Arial Unicode MS"/>
              </a:rPr>
              <a:t>Leu718과 Met793은 같은 gefitinib 주변에서 살펴볼 잔기다.</a:t>
            </a:r>
          </a:p>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같은 분자를 서로 다른 그림으로 읽기</a:t>
            </a:r>
          </a:p>
          <a:p>
            <a:pPr algn="l">
              <a:lnSpc>
                <a:spcPct val="115000"/>
              </a:lnSpc>
            </a:pPr>
            <a:r>
              <a:rPr sz="2400" b="0" lang="ko-KR">
                <a:solidFill>
                  <a:srgbClr val="FFFFFF"/>
                </a:solidFill>
                <a:latin typeface="Arial Unicode MS"/>
                <a:ea typeface="Arial Unicode MS"/>
                <a:cs typeface="Arial Unicode MS"/>
              </a:rPr>
              <a:t>수업 시작 후 91분에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나선과 시트, 사슬의 전체 경로를 봅니다.</a:t>
            </a:r>
          </a:p>
          <a:p>
            <a:pPr algn="l">
              <a:lnSpc>
                <a:spcPct val="115000"/>
              </a:lnSpc>
              <a:spcAft>
                <a:spcPts val="1800"/>
              </a:spcAft>
            </a:pPr>
            <a:r>
              <a:rPr sz="2200" b="0" lang="ko-KR">
                <a:solidFill>
                  <a:srgbClr val="183342"/>
                </a:solidFill>
                <a:latin typeface="Arial Unicode MS"/>
                <a:ea typeface="Arial Unicode MS"/>
                <a:cs typeface="Arial Unicode MS"/>
              </a:rPr>
              <a:t>곁사슬 원자는 대부분 생략합니다.</a:t>
            </a:r>
          </a:p>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막대는 원자를 잇는 공유결합을 나타냅니다.</a:t>
            </a:r>
          </a:p>
          <a:p>
            <a:pPr algn="l">
              <a:lnSpc>
                <a:spcPct val="115000"/>
              </a:lnSpc>
              <a:spcAft>
                <a:spcPts val="1800"/>
              </a:spcAft>
            </a:pPr>
            <a:r>
              <a:rPr sz="2200" b="0" lang="ko-KR">
                <a:solidFill>
                  <a:srgbClr val="183342"/>
                </a:solidFill>
                <a:latin typeface="Arial Unicode MS"/>
                <a:ea typeface="Arial Unicode MS"/>
                <a:cs typeface="Arial Unicode MS"/>
              </a:rPr>
              <a:t>탄소 C는 주황, 질소 N은 파랑, 산소 O는 빨강입니다.</a:t>
            </a:r>
          </a:p>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단백질의 경계와 움푹한 공간을 봅니다.</a:t>
            </a:r>
          </a:p>
          <a:p>
            <a:pPr algn="l">
              <a:lnSpc>
                <a:spcPct val="115000"/>
              </a:lnSpc>
              <a:spcAft>
                <a:spcPts val="1800"/>
              </a:spcAft>
            </a:pPr>
            <a:r>
              <a:rPr sz="2200" b="0" lang="ko-KR">
                <a:solidFill>
                  <a:srgbClr val="183342"/>
                </a:solidFill>
                <a:latin typeface="Arial Unicode MS"/>
                <a:ea typeface="Arial Unicode MS"/>
                <a:cs typeface="Arial Unicode MS"/>
              </a:rPr>
              <a:t>약물은 단백질 표면의 틈에 놓여 있습니다.</a:t>
            </a:r>
          </a:p>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사슬이 어떻게 접혔는지 보려면 어떤 표현이 유용할까요?</a:t>
            </a:r>
          </a:p>
          <a:p>
            <a:pPr algn="l">
              <a:lnSpc>
                <a:spcPct val="115000"/>
              </a:lnSpc>
              <a:spcAft>
                <a:spcPts val="1800"/>
              </a:spcAft>
            </a:pPr>
            <a:r>
              <a:rPr sz="2800" b="0" lang="ko-KR">
                <a:solidFill>
                  <a:srgbClr val="183342"/>
                </a:solidFill>
                <a:latin typeface="Arial Unicode MS"/>
                <a:ea typeface="Arial Unicode MS"/>
                <a:cs typeface="Arial Unicode MS"/>
              </a:rPr>
              <a:t>약물의 질소 원자를 찾으려면 어떤 표현이 유용할까요?</a:t>
            </a:r>
          </a:p>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실험 자료를 바탕으로 만든 원자 좌표 모델입니다.</a:t>
            </a:r>
          </a:p>
          <a:p>
            <a:pPr algn="l">
              <a:lnSpc>
                <a:spcPct val="115000"/>
              </a:lnSpc>
              <a:spcAft>
                <a:spcPts val="1800"/>
              </a:spcAft>
            </a:pPr>
            <a:r>
              <a:rPr sz="2700" b="0" lang="ko-KR">
                <a:solidFill>
                  <a:srgbClr val="183342"/>
                </a:solidFill>
                <a:latin typeface="Arial Unicode MS"/>
                <a:ea typeface="Arial Unicode MS"/>
                <a:cs typeface="Arial Unicode MS"/>
              </a:rPr>
              <a:t>수소나 유연한 구간의 좌표가 빠질 수 있습니다.</a:t>
            </a:r>
          </a:p>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청록색은 반투명 단백질 표면입니다.</a:t>
            </a:r>
          </a:p>
          <a:p>
            <a:pPr algn="l">
              <a:lnSpc>
                <a:spcPct val="115000"/>
              </a:lnSpc>
              <a:spcAft>
                <a:spcPts val="1800"/>
              </a:spcAft>
            </a:pPr>
            <a:r>
              <a:rPr sz="2200" b="0" lang="ko-KR">
                <a:solidFill>
                  <a:srgbClr val="183342"/>
                </a:solidFill>
                <a:latin typeface="Arial Unicode MS"/>
                <a:ea typeface="Arial Unicode MS"/>
                <a:cs typeface="Arial Unicode MS"/>
              </a:rPr>
              <a:t>주황색 약물 주변에 단백질 공간이 형성됩니다.</a:t>
            </a:r>
          </a:p>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Leu718의 탄소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비극성 부분의 접촉이 결합에 기여할 수 있습니다.</a:t>
            </a:r>
          </a:p>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보라색 점선: Met793 주사슬 N과 약물 고리 N 사이</a:t>
            </a:r>
          </a:p>
          <a:p>
            <a:pPr algn="l">
              <a:lnSpc>
                <a:spcPct val="115000"/>
              </a:lnSpc>
              <a:spcAft>
                <a:spcPts val="1800"/>
              </a:spcAft>
            </a:pPr>
            <a:r>
              <a:rPr sz="2200" b="0" lang="ko-KR">
                <a:solidFill>
                  <a:srgbClr val="183342"/>
                </a:solidFill>
                <a:latin typeface="Arial Unicode MS"/>
                <a:ea typeface="Arial Unicode MS"/>
                <a:cs typeface="Arial Unicode MS"/>
              </a:rPr>
              <a:t>원자 좌표로 계산한 N···N 거리 약 2.7 Å</a:t>
            </a:r>
          </a:p>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결합하기 전에도 약물과 단백질은 물과 상호작용합니다.</a:t>
            </a:r>
          </a:p>
          <a:p>
            <a:pPr algn="l">
              <a:lnSpc>
                <a:spcPct val="115000"/>
              </a:lnSpc>
              <a:spcAft>
                <a:spcPts val="1800"/>
              </a:spcAft>
            </a:pPr>
            <a:r>
              <a:rPr sz="2700" b="0" lang="ko-KR">
                <a:solidFill>
                  <a:srgbClr val="183342"/>
                </a:solidFill>
                <a:latin typeface="Arial Unicode MS"/>
                <a:ea typeface="Arial Unicode MS"/>
                <a:cs typeface="Arial Unicode MS"/>
              </a:rPr>
              <a:t>새 접촉의 이득과 기존 접촉의 변화를 함께 고려합니다.</a:t>
            </a:r>
          </a:p>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Leu718의 곁사슬 탄소가 약물 가까이에 있다.</a:t>
            </a:r>
          </a:p>
          <a:p>
            <a:pPr algn="l">
              <a:lnSpc>
                <a:spcPct val="115000"/>
              </a:lnSpc>
              <a:spcAft>
                <a:spcPts val="1800"/>
              </a:spcAft>
            </a:pPr>
            <a:r>
              <a:rPr sz="2800" b="0" lang="ko-KR">
                <a:solidFill>
                  <a:srgbClr val="183342"/>
                </a:solidFill>
                <a:latin typeface="Arial Unicode MS"/>
                <a:ea typeface="Arial Unicode MS"/>
                <a:cs typeface="Arial Unicode MS"/>
              </a:rPr>
              <a:t>② Met793 주사슬이 수소결합에 기여할 수 있다.</a:t>
            </a:r>
          </a:p>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학생의 설명으로 구조 탐색하기</a:t>
            </a:r>
          </a:p>
          <a:p>
            <a:pPr algn="l">
              <a:lnSpc>
                <a:spcPct val="115000"/>
              </a:lnSpc>
            </a:pPr>
            <a:r>
              <a:rPr sz="2400" b="0" lang="ko-KR">
                <a:solidFill>
                  <a:srgbClr val="FFFFFF"/>
                </a:solidFill>
                <a:latin typeface="Arial Unicode MS"/>
                <a:ea typeface="Arial Unicode MS"/>
                <a:cs typeface="Arial Unicode MS"/>
              </a:rPr>
              <a:t>수업 시작 후 143분에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단백질과 약물을 각각 가리켜 보세요.</a:t>
            </a:r>
          </a:p>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약물이 놓인 포켓을 손가락으로 짚어 보세요.</a:t>
            </a:r>
          </a:p>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 주변 잔기를 sticks로 표시했습니다.</a:t>
            </a:r>
          </a:p>
          <a:p>
            <a:pPr algn="l">
              <a:lnSpc>
                <a:spcPct val="115000"/>
              </a:lnSpc>
              <a:spcAft>
                <a:spcPts val="1800"/>
              </a:spcAft>
            </a:pPr>
            <a:r>
              <a:rPr sz="2200" b="0" lang="ko-KR">
                <a:solidFill>
                  <a:srgbClr val="183342"/>
                </a:solidFill>
                <a:latin typeface="Arial Unicode MS"/>
                <a:ea typeface="Arial Unicode MS"/>
                <a:cs typeface="Arial Unicode MS"/>
              </a:rPr>
              <a:t>가까운 잔기는 서열에서 연속하지 않을 수 있습니다.</a:t>
            </a:r>
          </a:p>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 어느 부분의 어떤 특징을 보고 있나요?</a:t>
            </a:r>
          </a:p>
          <a:p>
            <a:pPr algn="l">
              <a:lnSpc>
                <a:spcPct val="115000"/>
              </a:lnSpc>
              <a:spcAft>
                <a:spcPts val="1800"/>
              </a:spcAft>
            </a:pPr>
            <a:r>
              <a:rPr sz="2200" b="0" lang="ko-KR">
                <a:solidFill>
                  <a:srgbClr val="183342"/>
                </a:solidFill>
                <a:latin typeface="Arial Unicode MS"/>
                <a:ea typeface="Arial Unicode MS"/>
                <a:cs typeface="Arial Unicode MS"/>
              </a:rPr>
              <a:t>Met793: 곁사슬과 주사슬 중 어디가 약물과 마주하나요?</a:t>
            </a:r>
          </a:p>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약물은 EGFR kinase의 포켓에 놓여 있습니다.</a:t>
            </a:r>
          </a:p>
          <a:p>
            <a:pPr algn="l">
              <a:lnSpc>
                <a:spcPct val="115000"/>
              </a:lnSpc>
              <a:spcAft>
                <a:spcPts val="1800"/>
              </a:spcAft>
            </a:pPr>
            <a:r>
              <a:rPr sz="2700" b="0" lang="ko-KR">
                <a:solidFill>
                  <a:srgbClr val="183342"/>
                </a:solidFill>
                <a:latin typeface="Arial Unicode MS"/>
                <a:ea typeface="Arial Unicode MS"/>
                <a:cs typeface="Arial Unicode MS"/>
              </a:rPr>
              <a:t>Leu718의 비극성 곁사슬과 Met793의 주사슬 접촉이 결합에 기여할 수 있습니다.</a:t>
            </a:r>
          </a:p>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9333" t="28720" r="7167" b="23520"/>
          <a:stretch>
            <a:fillRect/>
          </a:stretch>
        </p:blipFill>
        <p:spPr>
          <a:xfrm>
            <a:off x="6240780" y="2064905"/>
            <a:ext cx="5372100" cy="213382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포켓을 표시하고, 주변 잔기 두 개를 그림에 연결하세요.</a:t>
            </a:r>
          </a:p>
          <a:p>
            <a:pPr algn="l">
              <a:lnSpc>
                <a:spcPct val="115000"/>
              </a:lnSpc>
              <a:spcAft>
                <a:spcPts val="1800"/>
              </a:spcAft>
            </a:pPr>
            <a:r>
              <a:rPr sz="2800" b="0" lang="ko-KR">
                <a:solidFill>
                  <a:srgbClr val="183342"/>
                </a:solidFill>
                <a:latin typeface="Arial Unicode MS"/>
                <a:ea typeface="Arial Unicode MS"/>
                <a:cs typeface="Arial Unicode MS"/>
              </a:rPr>
              <a:t>주어진 범례를 사용해 각 잔기의 가능한 기여를 한 문장씩 쓰세요.</a:t>
            </a:r>
          </a:p>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9333" t="28720" r="7167" b="23520"/>
          <a:stretch>
            <a:fillRect/>
          </a:stretch>
        </p:blipFill>
        <p:spPr>
          <a:xfrm>
            <a:off x="502920" y="2227002"/>
            <a:ext cx="6858000" cy="2724035"/>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Leu764의 비극성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Met769 주사슬과 약물 고리 N 사이에 수소결합이 가능해 보입니다.</a:t>
            </a:r>
          </a:p>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(마지막 수업)</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Docking (마지막 수업)</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MD와 docking은 합쳐 3시간이며, 서로 다른 질문을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단백질, 약물, 결합 공간을 그림에서 구별합니다.</a:t>
            </a:r>
          </a:p>
          <a:p>
            <a:pPr algn="l">
              <a:lnSpc>
                <a:spcPct val="115000"/>
              </a:lnSpc>
              <a:spcAft>
                <a:spcPts val="1800"/>
              </a:spcAft>
            </a:pPr>
            <a:r>
              <a:rPr sz="2700" b="0" lang="ko-KR">
                <a:solidFill>
                  <a:srgbClr val="183342"/>
                </a:solidFill>
                <a:latin typeface="Arial Unicode MS"/>
                <a:ea typeface="Arial Unicode MS"/>
                <a:cs typeface="Arial Unicode MS"/>
              </a:rPr>
              <a:t>주변 잔기의 어느 부분이 어떤 특징을 갖는지 설명합니다.</a:t>
            </a:r>
          </a:p>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
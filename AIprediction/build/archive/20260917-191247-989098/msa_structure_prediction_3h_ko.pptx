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시작부터 ‘왜 AlphaFold를 배우는데 정렬과 진화를 먼저 보나요?’에 답합니다. 도입 2–4장은 query에서 MSA와 구조로 이어지는 흐름, 짧은 MSA의 보존·공변화 예제, 정보의 질과 진화 관계가 중요한 이유를 보여 줍니다. 이후 homology·ortholog·paralog를 배워 정렬에 들어온 서열들이 어떤 관계인지 읽고, coevolution과 MSA 입력 조작으로 연결합니다. 활동지 1쪽은 진화 관계, 2쪽은 A3M, 3쪽은 coevolution, 4쪽은 입력 조작, 5쪽은 lDDT 계산과 pLDDT 학습, 6쪽은 pLDDT·PAE, 7쪽은 결과 해석입니다. 교육용 가상 정렬과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구조를 예측할 서열 하나이며 MSA는 이 표적과 관련된 여러 상동 서열을 대응 위치별로 정렬한 입력입니다. 사용자가 ColabFold에 서열만 넣어도 일반적인 검색 모드에서는 뒤에서 관련 서열을 찾고 MSA를 만듭니다. MSA 파일에는 좌표가 없지만 서열들을 비교하면서 얻는 진화적 제약의 단서가 있습니다. 미리 학습된 AlphaFold2는 MSA 표현과 잔기쌍 표현을 함께 갱신해 좌표를 추론하고 신뢰도를 출력합니다. MSA를 먼저 접촉표로 완전히 바꾼 뒤 그 표만 모델에 넣는다는 뜻은 아닙니다. Template은 이용할 경우 추가하는 기존 구조 정보입니다. 새 query마다 MSA를 만드는 것은 입력 준비이며 신경망 가중치를 처음부터 다시 학습하는 과정이 아닙니다. AF3도 MSA 정보를 사용하지만 Evoformer와 동일한 구조가 아니라 MSA 처리·Pairformer·diffusion으로 역할이 달라집니다. 오늘 구체적 클릭 실습은 AF2 기반 ColabFold로 진행합니다. 다음 두 장에서 왜 여러 서열을 비교해야 하는지 본 뒤 이 서열들의 진화 관계를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한 줄에서는 보이지 않던 단서가 생긴다</a:t>
            </a:r>
          </a:p>
          <a:p>
            <a:r>
              <a:t>시간: 3–5분 (2분)</a:t>
            </a:r>
          </a:p>
          <a:p/>
          <a:p>
            <a:r>
              <a:t>이 예제는 손으로 만든 8열 정렬이며 실습의 149잔기 calmodulin이나 뒤의 12열 A3M과 다른 교육용 자료입니다. Query 한 줄만 보면 C가 이 유전자 가족에서 보존되는지, 3열과6열의 변화가 연결되는지 알 수 없습니다. 여러 행을 나란히 놓으면 2열과8열이 보존되고 3열과6열의 잔기 조합이 함께 달라지는 패턴을 볼 수 있습니다. D·E는 음전하 성질, K·R은 양전하 성질의 예시여서 두 열에서 상보적인 조합을 떠올릴 수 있으나 실제 접촉이 있다는 관측 자료는 아닙니다. 네 행만으로 통계적 유의성·인과 관계·보상 진화를 입증할 수 없습니다. 구조 유지뿐 아니라 기능 제약이나 공통 조상에서도 패턴이 생길 수 있음을 예고합니다. AlphaFold가 이 네 행에서 손으로 표시한 두 열만 사용하는 것은 아니며 많은 위치와 학습한 구조 규칙을 함께 처리합니다. 여기서는 계산 공식을 배우기보다 한 서열에 없는 비교 정보가 MSA에 생긴다는 점을 이해시킵니다. 마지막에 C가 모두 같다는 것을 학생이 직접 가리키도록 합니다. 다음 장은 다른 가상100잔기 표적의20·80열을 발췌한 도식입니다. 공변화가 어떻게 구조 정보로 연결되는지 명시적으로 보여 줍니다.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공진화가 3차원 구조 정보를 주는 이유</a:t>
            </a:r>
          </a:p>
          <a:p>
            <a:r>
              <a:t>시간: 5–7분 (2분)</a:t>
            </a:r>
          </a:p>
          <a:p/>
          <a:p>
            <a:r>
              <a:t>그림을 왼쪽에서 오른쪽으로 읽으며 공진화가 실제로 어떤 구조 정보를 주는지 명확히 설명합니다. 가상100잔기 가족의MSA에서20번과80번열만 발췌했습니다. Query의D/K와상동서열의E/R,K/D,R/E는 서로 맞는 전하 조합을 떠올리게 하는 예시입니다. 서열에서60위치 떨어진 두 잔기도 단백질이 접히면 공간에서 가까워질 수 있습니다. 접촉하는 두 잔기의 전하·크기·소수성 조합을 유지하려는 선택이 서로 허용되는 치환을 제약하면 MSA에 두 열의 의존성으로 남을 수 있습니다. 이 진화적 흔적을 거꾸로 읽어 접촉 후보와 거리·배치 관계를 추론하는 것이 핵심입니다. 중앙 화살표는 학습된 모델의 구조 추론 방향이며 실제 진화 순서나 물리적 접힘 동영상을 뜻하지 않습니다. 오른쪽 사슬은 그린 개념도이며 원자 좌표·실제calmodulin예측이 아닙니다. 한쌍의 신호가 한 구조를 결정하는 것은 아니며 여러 위치쌍과 서열·학습된 구조 규칙을 함께 이용합니다. AF2는MSA표현과잔기쌍표현을 함께 갱신하므로 먼저MI/DCA로 접촉표를 확정한 다음 그것만 구조모듈에 넣는 파이프라인으로 읽지 않습니다. 공통조상·간접상관·기능제약도 같은 패턴을 만들 수 있어 모든 공변화가 직접 접촉이라는 뜻은 아닙니다. 다음진화관계단원은 이 신호를 어떤서열들에서 읽는지 판단하기 위한 설명입니다.</a:t>
            </a:r>
          </a:p>
          <a:p/>
          <a:p>
            <a:r>
              <a:t>출처</a:t>
            </a:r>
          </a:p>
          <a:p>
            <a:r>
              <a:t>[intro_af2_overview] EMBL-EBI / Google DeepMind: AlphaFold2 high-level overview</a:t>
            </a:r>
          </a:p>
          <a:p>
            <a:r>
              <a:t>https://www.ebi.ac.uk/training/online/courses/alphafold/inputs-and-outputs/a-high-level-overview/</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서열들은 어떤 관계인가?’를 이어받습니다. 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13–15분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15–17분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17–18분 (1분)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18–20분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20–24분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24–25분 (1분)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25–27분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30–32분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32–33분 (1분)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36–40분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42–45분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47–49분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접촉을 유지하는 선택이 공진화를 만들 수 있다</a:t>
            </a:r>
          </a:p>
          <a:p>
            <a:r>
              <a:t>시간: 49–51분 (2분)</a:t>
            </a:r>
          </a:p>
          <a:p/>
          <a:p>
            <a:r>
              <a:t>그림의 원은 원자 한 개가 아니라 잔기 측쇄의 전하 성질을 단순화한 표식입니다. i위치는청록,j위치는주황으로 같은 위치를 일관되게 표시하며 색 자체가 전하를 뜻하지 않습니다. D는 보통 음전하, K는 양전하를 띠지만 실제전하·안정성은pH·환경·거리·배향에 의존합니다. 여기서는 가까운 두위치의반대전하조합이유리하다는가정을 명시합니다. D−/K+와K+/D−두조합을 나란히 보여주고, K+/K+는 이가정에서덜유리하다고표시합니다. 두유리한조합사이에화살표를그리지않았으므로 D/K에서K/K를거쳐K/D로진화했다거나 두변이가동시에일어났다는주장이아닙니다. 한위치의치환효과가다른위치상태에의존하는것은epistasis이며,한변화의영향을다른변화가완화할수있다는것이보상적치환의직관입니다. 이런구조유지제약이여러상동서열의조합패턴으로남을수있기때문에 공진화분석으로서열에서멀리떨어진위치의공간접촉을추정할수있습니다. 다만다음빈도실습의통계만으로이물리적원인을확정하지않습니다. 학생에게 ‘한열만보는보존도와두열을함께읽는구조단서는무엇이다른가’를구두로물은뒤다음계산슬라이드로진행합니다.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[intro_af2_overview] EMBL-EBI / Google DeepMind: AlphaFold2 high-level overview</a:t>
            </a:r>
          </a:p>
          <a:p>
            <a:r>
              <a:t>https://www.ebi.ac.uk/training/online/courses/alphafold/inputs-and-outputs/a-high-level-overview/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54–57분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67–70분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70–72분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72–75분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75–77분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79–82분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서열 줄만 복사해도 됩니다. 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93–95분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기준 구조의 주변 거리가 얼마나 보존되었나?</a:t>
            </a:r>
          </a:p>
          <a:p>
            <a:r>
              <a:t>시간: 95–97분 (2분)</a:t>
            </a:r>
          </a:p>
          <a:p/>
          <a:p>
            <a:r>
              <a:t>lDDT는 구조 예측 전부터 쓰던 정확도 평가 지표이며 Mariani 등의 2013년 논문이 정의와 검증을 제시했습니다. 이름의 맨 앞 l은 local입니다. 중심 잔기 주변의 3차원 이웃을 평가하며 서열에서 앞뒤 몇 잔기만 고르는 뜻이 아닙니다. 기준 구조의 거리가 15 Å 미만인 쌍을 고른 뒤 같은 쌍의 예측 거리를 비교합니다. 15 Å는 이웃 선택 반경이고 0.5·1·2·4 Å는 거리 오차의 네 허용치입니다. 모든 좌표를 같이 회전·이동해도 내부 거리는 유지되므로 전체 구조의 중첩이 필요 없습니다. 그러나 같은 잔기·원자를 대응시켜야 합니다. 원 논문의 all-atom 평가와 아래 AF2의 Cα-only 계산을 구별합니다. AF2 구현은 자기 자신과 기준 좌표가 없는 위치를 제외하고 원 lDDT의 stereochemistry 보정은 생략합니다. 이 설명은 AF2/ColabFold 기준이며 AF3의 원자별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계산 · 네 이웃의 거리 오차를 네 번 채점</a:t>
            </a:r>
          </a:p>
          <a:p>
            <a:r>
              <a:t>시간: 97–99분 (2분)</a:t>
            </a:r>
          </a:p>
          <a:p/>
          <a:p>
            <a:r>
              <a:t>실제 단백질 좌표에서 얻은 값이 아니라 중심 잔기 i와 네 이웃 사이 거리를 가정한 계산 예입니다. 기준 거리 4·7·10·14 Å는 모두 15 Å 미만입니다. 예측에서 d가 17 Å로 멀어져도 기준에서 선택한 이웃이므로 계산에서 빼지 않습니다. 오차 0.2는 네 기준, 0.8은 세 기준, 1.5는 두 기준, 3.0은 한 기준을 통과합니다. 총 16개 검사 중 10개를 통과하므로 0.625입니다. 각 허용치별 보존 비율 1/4·2/4·3/4·4/4를 평균해도 같습니다. 62.5는 lDDT의 100점 표시이며 pLDDT가 아닙니다. 이 값은 중심 잔기 하나의 점수입니다. 전체 구조의 lDDT를 모든 잔기별 점수의 단순평균이라고 일반화하지 않습니다. 각 잔기에 속한 이웃 수가 다를 수 있기 때문입니다. 임계값에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예측 거리가 더 멀어지면?</a:t>
            </a:r>
          </a:p>
          <a:p>
            <a:r>
              <a:t>시간: 99–100분 (1분)</a:t>
            </a:r>
          </a:p>
          <a:p/>
          <a:p>
            <a:r>
              <a:t>30초 구두 또는 손계산, 30초 해설로 진행합니다. d의 절대 거리 오차는 5 Å여서 네 검사 모두 실패합니다. 따라서 (4+3+2+0)/16=9/16=0.5625, 100점 척도 56.25입니다. 이웃 선택은 기준 구조에서 하므로 기준 거리 14 Å인 d는 계속 포함합니다. 계산에서 빼면 틀린 거리를 벌점 없이 제거하는 오류가 됩니다. 활동지 5쪽의 기본 표는 앞 슬라이드를 보며 채우고 이 시간에는 변경 문항만 풉니다. pLDDT 확률 계산과 정답 구조 필요 여부 문항은 다음 학습·추론 설명 뒤 구두 확인 또는 수업 후 확장에 사용합니다.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학습 정답으로</a:t>
            </a:r>
          </a:p>
          <a:p>
            <a:r>
              <a:t>시간: 100–102분 (2분)</a:t>
            </a:r>
          </a:p>
          <a:p/>
          <a:p>
            <a:r>
              <a:t>lDDT는 기준 구조가 있을 때만 채점할 수 있습니다. 새 서열은 그 기준 구조를 모르는 경우가 많으므로, AlphaFold2는 잔기별 lDDT-Cα 자체를 예상하는 보조 출력인 pLDDT를 학습합니다. p는 predicted를 뜻합니다. 구조 모듈의 잔기별 내부 표현을 작은 신경망에 넣어 50개 구간의 logits를 출력합니다. 학습 중 모델이 만든 Cα 좌표와 학습용 기준 좌표를 비교하여 정답 점수를 계산하고, 점수에 해당하는 구간을 cross-entropy로 지도합니다. 0.625라면 폭 0.02인 [0.62,0.64) 구간입니다. 기준 좌표를 신뢰도 head 입력으로 주는 것이 아니라 손실의 정답을 만드는 데 사용합니다. 정답 점수는 현재 예측 좌표에 따라 달라지며 pLDDT head만을 위한 수작업 confidence 라벨을 사람이 달지 않습니다. 코드에서는 정답 점수에 stop_gradient를 적용합니다. 여러 seed의 구조가 서로 얼마나 닮았는지를 계산하여 점수를 만드는 방식도 아닙니다. 여기서는 AF2의 학습 구조를 설명하며 학생이 ColabFold에서 재학습한다는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서열에서는 정답 없이 pLDDT를 출력한다</a:t>
            </a:r>
          </a:p>
          <a:p>
            <a:r>
              <a:t>시간: 102–104분 (2분)</a:t>
            </a:r>
          </a:p>
          <a:p/>
          <a:p>
            <a:r>
              <a:t>pLDDT는 predicted local Distance Difference Test입니다. 추론 시 새 표적의 정답 구조는 입력하지 않고, 이미 학습된 모델의 내부 표현으로 신뢰도 분포를 출력합니다. softmax는 50개의 logits를 합이 1인 확률로 바꿉니다. 실제 AF2의 구간 중심은 0.01,0.03,…,0.99입니다. 각 중심에 예측 확률을 곱해 더한 기대값에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확률분포는 점수 구간에 대한 것이며 pLDDT를 곧바로 구조 정답의 확률로 읽지 않습니다. 실제 lDDT는 나중에 기준 구조가 확보되면 따로 계산하고 pLDDT와 비교할 수 있습니다. AF2/ColabFold는 잔기별 점수이며 AF3의 원자별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104–106분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106–108분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108–110분 (2분)</a:t>
            </a:r>
          </a:p>
          <a:p/>
          <a:p>
            <a:r>
              <a:t>1분 개인 풀이 뒤1분 해설합니다.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 학생 활동지에는 정답을 적지 않았으며 이 노트만 교사용 해설입니다.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110–113분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113–115분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115–117분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117–120분 (3분)</a:t>
            </a:r>
          </a:p>
          <a:p/>
          <a:p>
            <a:r>
              <a:t>2분 짝 토의와1분 해설로 진행합니다.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120–130분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130–132분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132–133분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133–135분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135–138분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138–139분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139–141분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141–144분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144–146분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146–149분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149–152분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152–153분 (1분)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153–156분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156–157분 (1분)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157–158분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158–159분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159–161분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161–164분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164–166분 (2분)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166–168분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168–169분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169–170분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170–171분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171–176분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8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진화 관계·coevolution → MSA 조작 → 구조와 신뢰도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80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구조를 알고 싶은 단백질의 아미노산 서열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검색·정렬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상동 서열 검색 → 다중서열정렬(MSA)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모델의 추론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잔기 사이 관계 추론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구조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원자 좌표 + 예측 신뢰도(pLDDT·PAE)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서열의 대응 위치를 나란히 정렬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학습된 모델이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80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position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position: 정렬 위치 / 행: 관련 서열 하나 / 열: 대응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서열에서 유지되는 위치 → 보존(conservation)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공변화</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공진화 패턴은 3차원에서 가까운 잔기 쌍을 추정하는 단서입니다. 다음 그림으로 연결합니다.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80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공진화가 3차원 구조 정보를 주는 이유</a:t>
            </a:r>
          </a:p>
        </p:txBody>
      </p:sp>
      <p:sp>
        <p:nvSpPr>
          <p:cNvPr id="4" name="TextBox 3"/>
          <p:cNvSpPr txBox="1"/>
          <p:nvPr/>
        </p:nvSpPr>
        <p:spPr>
          <a:xfrm>
            <a:off x="731520" y="1490472"/>
            <a:ext cx="438912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MSA · 함께 달라지는 두 열</a:t>
            </a:r>
          </a:p>
        </p:txBody>
      </p:sp>
      <p:sp>
        <p:nvSpPr>
          <p:cNvPr id="5" name="TextBox 4"/>
          <p:cNvSpPr txBox="1"/>
          <p:nvPr/>
        </p:nvSpPr>
        <p:spPr>
          <a:xfrm>
            <a:off x="7635240" y="1490472"/>
            <a:ext cx="388620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구조 · 공간상 근접 후보</a:t>
            </a:r>
          </a:p>
        </p:txBody>
      </p:sp>
      <p:sp>
        <p:nvSpPr>
          <p:cNvPr id="6" name="TextBox 5"/>
          <p:cNvSpPr txBox="1"/>
          <p:nvPr/>
        </p:nvSpPr>
        <p:spPr>
          <a:xfrm>
            <a:off x="2331720" y="2075688"/>
            <a:ext cx="1005840" cy="320040"/>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i = 20</a:t>
            </a:r>
          </a:p>
        </p:txBody>
      </p:sp>
      <p:sp>
        <p:nvSpPr>
          <p:cNvPr id="7" name="TextBox 6"/>
          <p:cNvSpPr txBox="1"/>
          <p:nvPr/>
        </p:nvSpPr>
        <p:spPr>
          <a:xfrm>
            <a:off x="3776472" y="2075688"/>
            <a:ext cx="1005840" cy="320040"/>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j = 80</a:t>
            </a:r>
          </a:p>
        </p:txBody>
      </p:sp>
      <p:sp>
        <p:nvSpPr>
          <p:cNvPr id="8" name="Rectangle 7"/>
          <p:cNvSpPr/>
          <p:nvPr/>
        </p:nvSpPr>
        <p:spPr>
          <a:xfrm>
            <a:off x="2286000" y="2468880"/>
            <a:ext cx="914400" cy="1856231"/>
          </a:xfrm>
          <a:prstGeom prst="rect">
            <a:avLst/>
          </a:prstGeom>
          <a:solidFill>
            <a:srgbClr val="DE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0752" y="2468880"/>
            <a:ext cx="914400" cy="1856231"/>
          </a:xfrm>
          <a:prstGeom prst="rect">
            <a:avLst/>
          </a:prstGeom>
          <a:solidFill>
            <a:srgbClr val="F5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60320"/>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a:t>
            </a:r>
          </a:p>
        </p:txBody>
      </p:sp>
      <p:sp>
        <p:nvSpPr>
          <p:cNvPr id="11" name="TextBox 10"/>
          <p:cNvSpPr txBox="1"/>
          <p:nvPr/>
        </p:nvSpPr>
        <p:spPr>
          <a:xfrm>
            <a:off x="2606040" y="2560320"/>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D</a:t>
            </a:r>
          </a:p>
        </p:txBody>
      </p:sp>
      <p:sp>
        <p:nvSpPr>
          <p:cNvPr id="12" name="TextBox 11"/>
          <p:cNvSpPr txBox="1"/>
          <p:nvPr/>
        </p:nvSpPr>
        <p:spPr>
          <a:xfrm>
            <a:off x="3273552" y="2560320"/>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3" name="TextBox 12"/>
          <p:cNvSpPr txBox="1"/>
          <p:nvPr/>
        </p:nvSpPr>
        <p:spPr>
          <a:xfrm>
            <a:off x="4050791" y="2560320"/>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K</a:t>
            </a:r>
          </a:p>
        </p:txBody>
      </p:sp>
      <p:sp>
        <p:nvSpPr>
          <p:cNvPr id="14" name="TextBox 13"/>
          <p:cNvSpPr txBox="1"/>
          <p:nvPr/>
        </p:nvSpPr>
        <p:spPr>
          <a:xfrm>
            <a:off x="777240" y="2980944"/>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homolog1</a:t>
            </a:r>
          </a:p>
        </p:txBody>
      </p:sp>
      <p:sp>
        <p:nvSpPr>
          <p:cNvPr id="15" name="TextBox 14"/>
          <p:cNvSpPr txBox="1"/>
          <p:nvPr/>
        </p:nvSpPr>
        <p:spPr>
          <a:xfrm>
            <a:off x="2606040" y="2980944"/>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E</a:t>
            </a:r>
          </a:p>
        </p:txBody>
      </p:sp>
      <p:sp>
        <p:nvSpPr>
          <p:cNvPr id="16" name="TextBox 15"/>
          <p:cNvSpPr txBox="1"/>
          <p:nvPr/>
        </p:nvSpPr>
        <p:spPr>
          <a:xfrm>
            <a:off x="3273552" y="2980944"/>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7" name="TextBox 16"/>
          <p:cNvSpPr txBox="1"/>
          <p:nvPr/>
        </p:nvSpPr>
        <p:spPr>
          <a:xfrm>
            <a:off x="4050791" y="2980944"/>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R</a:t>
            </a:r>
          </a:p>
        </p:txBody>
      </p:sp>
      <p:sp>
        <p:nvSpPr>
          <p:cNvPr id="18" name="TextBox 17"/>
          <p:cNvSpPr txBox="1"/>
          <p:nvPr/>
        </p:nvSpPr>
        <p:spPr>
          <a:xfrm>
            <a:off x="777240" y="3401568"/>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homolog2</a:t>
            </a:r>
          </a:p>
        </p:txBody>
      </p:sp>
      <p:sp>
        <p:nvSpPr>
          <p:cNvPr id="19" name="TextBox 18"/>
          <p:cNvSpPr txBox="1"/>
          <p:nvPr/>
        </p:nvSpPr>
        <p:spPr>
          <a:xfrm>
            <a:off x="2606040" y="3401568"/>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K</a:t>
            </a:r>
          </a:p>
        </p:txBody>
      </p:sp>
      <p:sp>
        <p:nvSpPr>
          <p:cNvPr id="20" name="TextBox 19"/>
          <p:cNvSpPr txBox="1"/>
          <p:nvPr/>
        </p:nvSpPr>
        <p:spPr>
          <a:xfrm>
            <a:off x="3273552" y="3401568"/>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1" name="TextBox 20"/>
          <p:cNvSpPr txBox="1"/>
          <p:nvPr/>
        </p:nvSpPr>
        <p:spPr>
          <a:xfrm>
            <a:off x="4050791" y="3401568"/>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D</a:t>
            </a:r>
          </a:p>
        </p:txBody>
      </p:sp>
      <p:sp>
        <p:nvSpPr>
          <p:cNvPr id="22" name="TextBox 21"/>
          <p:cNvSpPr txBox="1"/>
          <p:nvPr/>
        </p:nvSpPr>
        <p:spPr>
          <a:xfrm>
            <a:off x="777240" y="3822191"/>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homolog3</a:t>
            </a:r>
          </a:p>
        </p:txBody>
      </p:sp>
      <p:sp>
        <p:nvSpPr>
          <p:cNvPr id="23" name="TextBox 22"/>
          <p:cNvSpPr txBox="1"/>
          <p:nvPr/>
        </p:nvSpPr>
        <p:spPr>
          <a:xfrm>
            <a:off x="2606040" y="3822191"/>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R</a:t>
            </a:r>
          </a:p>
        </p:txBody>
      </p:sp>
      <p:sp>
        <p:nvSpPr>
          <p:cNvPr id="24" name="TextBox 23"/>
          <p:cNvSpPr txBox="1"/>
          <p:nvPr/>
        </p:nvSpPr>
        <p:spPr>
          <a:xfrm>
            <a:off x="3273552" y="3822191"/>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5" name="TextBox 24"/>
          <p:cNvSpPr txBox="1"/>
          <p:nvPr/>
        </p:nvSpPr>
        <p:spPr>
          <a:xfrm>
            <a:off x="4050791" y="3822191"/>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E</a:t>
            </a:r>
          </a:p>
        </p:txBody>
      </p:sp>
      <p:sp>
        <p:nvSpPr>
          <p:cNvPr id="26" name="Right Arrow 25"/>
          <p:cNvSpPr/>
          <p:nvPr/>
        </p:nvSpPr>
        <p:spPr>
          <a:xfrm>
            <a:off x="5166360" y="2816352"/>
            <a:ext cx="1691640" cy="411480"/>
          </a:xfrm>
          <a:prstGeom prst="rightArrow">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3456432"/>
            <a:ext cx="2286000" cy="914400"/>
          </a:xfrm>
          <a:prstGeom prst="rect">
            <a:avLst/>
          </a:prstGeom>
          <a:noFill/>
        </p:spPr>
        <p:txBody>
          <a:bodyPr wrap="square" lIns="18288" rIns="18288" tIns="9144" bIns="9144">
            <a:spAutoFit/>
          </a:bodyPr>
          <a:lstStyle/>
          <a:p>
            <a:pPr>
              <a:lnSpc>
                <a:spcPct val="113000"/>
              </a:lnSpc>
            </a:pPr>
            <a:r>
              <a:rPr sz="1900" b="1" lang="ko-KR">
                <a:solidFill>
                  <a:srgbClr val="183342"/>
                </a:solidFill>
                <a:latin typeface="Arial Unicode MS"/>
                <a:ea typeface="Arial Unicode MS"/>
              </a:rPr>
              <a:t>학습된 모델이</a:t>
            </a:r>
          </a:p>
          <a:p>
            <a:pPr>
              <a:lnSpc>
                <a:spcPct val="113000"/>
              </a:lnSpc>
            </a:pPr>
            <a:r>
              <a:rPr sz="1900" b="1" lang="ko-KR">
                <a:solidFill>
                  <a:srgbClr val="183342"/>
                </a:solidFill>
                <a:latin typeface="Arial Unicode MS"/>
                <a:ea typeface="Arial Unicode MS"/>
              </a:rPr>
              <a:t>위치 사이 관계 추론</a:t>
            </a:r>
          </a:p>
        </p:txBody>
      </p:sp>
      <p:cxnSp>
        <p:nvCxnSpPr>
          <p:cNvPr id="28" name="Connector 27"/>
          <p:cNvCxnSpPr/>
          <p:nvPr/>
        </p:nvCxnSpPr>
        <p:spPr>
          <a:xfrm>
            <a:off x="7955279" y="2670048"/>
            <a:ext cx="365761"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21040" y="2761488"/>
            <a:ext cx="365760" cy="210312"/>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686800" y="2514600"/>
            <a:ext cx="320040" cy="45720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006840" y="2331720"/>
            <a:ext cx="731520" cy="18288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38360" y="2331720"/>
            <a:ext cx="914400" cy="2743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2606040"/>
            <a:ext cx="365760" cy="59436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863072" y="3200400"/>
            <a:ext cx="155448" cy="7315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0149840" y="3931920"/>
            <a:ext cx="713232" cy="3840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326880" y="4315968"/>
            <a:ext cx="822960"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613648" y="4114800"/>
            <a:ext cx="713232" cy="29260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8229600" y="3611880"/>
            <a:ext cx="384048" cy="5029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229600" y="3456432"/>
            <a:ext cx="457200" cy="1554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3456432"/>
            <a:ext cx="822960" cy="457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9760" y="3502152"/>
            <a:ext cx="411480" cy="246887"/>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86800" y="2971800"/>
            <a:ext cx="0" cy="484632"/>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513064" y="2798064"/>
            <a:ext cx="347472" cy="347472"/>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i</a:t>
            </a:r>
          </a:p>
        </p:txBody>
      </p:sp>
      <p:sp>
        <p:nvSpPr>
          <p:cNvPr id="44" name="Oval 43"/>
          <p:cNvSpPr/>
          <p:nvPr/>
        </p:nvSpPr>
        <p:spPr>
          <a:xfrm>
            <a:off x="8513064" y="3282696"/>
            <a:ext cx="347472" cy="347472"/>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j</a:t>
            </a:r>
          </a:p>
        </p:txBody>
      </p:sp>
      <p:sp>
        <p:nvSpPr>
          <p:cNvPr id="45" name="TextBox 44"/>
          <p:cNvSpPr txBox="1"/>
          <p:nvPr/>
        </p:nvSpPr>
        <p:spPr>
          <a:xfrm>
            <a:off x="7662672" y="2496312"/>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N</a:t>
            </a:r>
          </a:p>
        </p:txBody>
      </p:sp>
      <p:sp>
        <p:nvSpPr>
          <p:cNvPr id="46" name="TextBox 45"/>
          <p:cNvSpPr txBox="1"/>
          <p:nvPr/>
        </p:nvSpPr>
        <p:spPr>
          <a:xfrm>
            <a:off x="10040112" y="3657600"/>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C</a:t>
            </a:r>
          </a:p>
        </p:txBody>
      </p:sp>
      <p:sp>
        <p:nvSpPr>
          <p:cNvPr id="47" name="TextBox 46"/>
          <p:cNvSpPr txBox="1"/>
          <p:nvPr/>
        </p:nvSpPr>
        <p:spPr>
          <a:xfrm>
            <a:off x="8092440" y="2852928"/>
            <a:ext cx="411480" cy="310896"/>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20</a:t>
            </a:r>
          </a:p>
        </p:txBody>
      </p:sp>
      <p:sp>
        <p:nvSpPr>
          <p:cNvPr id="48" name="TextBox 47"/>
          <p:cNvSpPr txBox="1"/>
          <p:nvPr/>
        </p:nvSpPr>
        <p:spPr>
          <a:xfrm>
            <a:off x="8092440" y="3383280"/>
            <a:ext cx="411480" cy="310896"/>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80</a:t>
            </a:r>
          </a:p>
        </p:txBody>
      </p:sp>
      <p:sp>
        <p:nvSpPr>
          <p:cNvPr id="49" name="TextBox 48"/>
          <p:cNvSpPr txBox="1"/>
          <p:nvPr/>
        </p:nvSpPr>
        <p:spPr>
          <a:xfrm>
            <a:off x="9144000" y="2852928"/>
            <a:ext cx="1572768" cy="658368"/>
          </a:xfrm>
          <a:prstGeom prst="rect">
            <a:avLst/>
          </a:prstGeom>
          <a:noFill/>
        </p:spPr>
        <p:txBody>
          <a:bodyPr wrap="square" lIns="18288" rIns="18288" tIns="9144" bIns="9144">
            <a:spAutoFit/>
          </a:bodyPr>
          <a:lstStyle/>
          <a:p>
            <a:pPr>
              <a:lnSpc>
                <a:spcPct val="113000"/>
              </a:lnSpc>
            </a:pPr>
            <a:r>
              <a:rPr sz="1700" b="1" lang="ko-KR">
                <a:solidFill>
                  <a:srgbClr val="183342"/>
                </a:solidFill>
                <a:latin typeface="Arial Unicode MS"/>
                <a:ea typeface="Arial Unicode MS"/>
              </a:rPr>
              <a:t>점선:</a:t>
            </a:r>
          </a:p>
          <a:p>
            <a:pPr>
              <a:lnSpc>
                <a:spcPct val="113000"/>
              </a:lnSpc>
            </a:pPr>
            <a:r>
              <a:rPr sz="1700" b="1" lang="ko-KR">
                <a:solidFill>
                  <a:srgbClr val="183342"/>
                </a:solidFill>
                <a:latin typeface="Arial Unicode MS"/>
                <a:ea typeface="Arial Unicode MS"/>
              </a:rPr>
              <a:t>후보 접촉</a:t>
            </a:r>
          </a:p>
        </p:txBody>
      </p:sp>
      <p:sp>
        <p:nvSpPr>
          <p:cNvPr id="50" name="TextBox 49"/>
          <p:cNvSpPr txBox="1"/>
          <p:nvPr/>
        </p:nvSpPr>
        <p:spPr>
          <a:xfrm>
            <a:off x="749808" y="4553712"/>
            <a:ext cx="443484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서로 맞는 잔기 조합이</a:t>
            </a:r>
          </a:p>
          <a:p>
            <a:pPr>
              <a:lnSpc>
                <a:spcPct val="113000"/>
              </a:lnSpc>
            </a:pPr>
            <a:r>
              <a:rPr sz="1800" b="0" lang="ko-KR">
                <a:solidFill>
                  <a:srgbClr val="183342"/>
                </a:solidFill>
                <a:latin typeface="Arial Unicode MS"/>
                <a:ea typeface="Arial Unicode MS"/>
              </a:rPr>
              <a:t>여러 상동 서열에 남을 수 있음</a:t>
            </a:r>
          </a:p>
        </p:txBody>
      </p:sp>
      <p:sp>
        <p:nvSpPr>
          <p:cNvPr id="51" name="TextBox 50"/>
          <p:cNvSpPr txBox="1"/>
          <p:nvPr/>
        </p:nvSpPr>
        <p:spPr>
          <a:xfrm>
            <a:off x="7635240" y="4599432"/>
            <a:ext cx="402336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서열에서 60칸 떨어진 위치도</a:t>
            </a:r>
          </a:p>
          <a:p>
            <a:pPr>
              <a:lnSpc>
                <a:spcPct val="113000"/>
              </a:lnSpc>
            </a:pPr>
            <a:r>
              <a:rPr sz="1800" b="0" lang="ko-KR">
                <a:solidFill>
                  <a:srgbClr val="183342"/>
                </a:solidFill>
                <a:latin typeface="Arial Unicode MS"/>
                <a:ea typeface="Arial Unicode MS"/>
              </a:rPr>
              <a:t>접히면 가까워질 수 있음</a:t>
            </a:r>
          </a:p>
        </p:txBody>
      </p:sp>
      <p:sp>
        <p:nvSpPr>
          <p:cNvPr id="52" name="TextBox 51"/>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100잔기 중 20·80열만 발췌. 점선은 추론할 후보 관계이며 실제 예측 좌표가 아닙니다.</a:t>
            </a:r>
          </a:p>
        </p:txBody>
      </p:sp>
      <p:sp>
        <p:nvSpPr>
          <p:cNvPr id="53" name="TextBox 52"/>
          <p:cNvSpPr txBox="1"/>
          <p:nvPr/>
        </p:nvSpPr>
        <p:spPr>
          <a:xfrm>
            <a:off x="731520" y="5486400"/>
            <a:ext cx="10881360" cy="294767"/>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접촉을 유지하는 선택이 잔기 조합을 연결할 수 있으므로, MSA의 공진화 신호는 3차원 배치의 단서가 됩니다.</a:t>
            </a:r>
          </a:p>
        </p:txBody>
      </p:sp>
      <p:sp>
        <p:nvSpPr>
          <p:cNvPr id="54" name="TextBox 5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80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80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80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80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80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80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80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80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80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접촉을 유지하는 선택이 공진화를 만들 수 있다</a:t>
            </a:r>
          </a:p>
        </p:txBody>
      </p:sp>
      <p:sp>
        <p:nvSpPr>
          <p:cNvPr id="4" name="TextBox 3"/>
          <p:cNvSpPr txBox="1"/>
          <p:nvPr/>
        </p:nvSpPr>
        <p:spPr>
          <a:xfrm>
            <a:off x="731520"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상보적 조합 A</a:t>
            </a:r>
          </a:p>
        </p:txBody>
      </p:sp>
      <p:sp>
        <p:nvSpPr>
          <p:cNvPr id="5" name="TextBox 4"/>
          <p:cNvSpPr txBox="1"/>
          <p:nvPr/>
        </p:nvSpPr>
        <p:spPr>
          <a:xfrm>
            <a:off x="896112"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6" name="TextBox 5"/>
          <p:cNvSpPr txBox="1"/>
          <p:nvPr/>
        </p:nvSpPr>
        <p:spPr>
          <a:xfrm>
            <a:off x="2679191"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7" name="Connector 6"/>
          <p:cNvCxnSpPr/>
          <p:nvPr/>
        </p:nvCxnSpPr>
        <p:spPr>
          <a:xfrm flipV="1">
            <a:off x="777240"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32588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978408"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82112"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2112"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182112" y="3337560"/>
            <a:ext cx="640079"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60120"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15" name="Oval 14"/>
          <p:cNvSpPr/>
          <p:nvPr/>
        </p:nvSpPr>
        <p:spPr>
          <a:xfrm>
            <a:off x="2816352"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16" name="TextBox 15"/>
          <p:cNvSpPr txBox="1"/>
          <p:nvPr/>
        </p:nvSpPr>
        <p:spPr>
          <a:xfrm>
            <a:off x="731520"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반대 전하 조합</a:t>
            </a:r>
          </a:p>
          <a:p>
            <a:pPr>
              <a:lnSpc>
                <a:spcPct val="113000"/>
              </a:lnSpc>
            </a:pPr>
            <a:r>
              <a:rPr sz="2000" b="0" lang="ko-KR">
                <a:solidFill>
                  <a:srgbClr val="183342"/>
                </a:solidFill>
                <a:latin typeface="Arial Unicode MS"/>
                <a:ea typeface="Arial Unicode MS"/>
              </a:rPr>
              <a:t>이 가정에서는 유리</a:t>
            </a:r>
          </a:p>
        </p:txBody>
      </p:sp>
      <p:sp>
        <p:nvSpPr>
          <p:cNvPr id="17" name="TextBox 16"/>
          <p:cNvSpPr txBox="1"/>
          <p:nvPr/>
        </p:nvSpPr>
        <p:spPr>
          <a:xfrm>
            <a:off x="4535424"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상보적 조합 B</a:t>
            </a:r>
          </a:p>
        </p:txBody>
      </p:sp>
      <p:sp>
        <p:nvSpPr>
          <p:cNvPr id="18" name="TextBox 17"/>
          <p:cNvSpPr txBox="1"/>
          <p:nvPr/>
        </p:nvSpPr>
        <p:spPr>
          <a:xfrm>
            <a:off x="470001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19" name="TextBox 18"/>
          <p:cNvSpPr txBox="1"/>
          <p:nvPr/>
        </p:nvSpPr>
        <p:spPr>
          <a:xfrm>
            <a:off x="648309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20" name="Connector 19"/>
          <p:cNvCxnSpPr/>
          <p:nvPr/>
        </p:nvCxnSpPr>
        <p:spPr>
          <a:xfrm flipV="1">
            <a:off x="4581144"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129784"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782312"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986016"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86016"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86016"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9784"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764024"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28" name="Oval 27"/>
          <p:cNvSpPr/>
          <p:nvPr/>
        </p:nvSpPr>
        <p:spPr>
          <a:xfrm>
            <a:off x="6620256"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29" name="TextBox 28"/>
          <p:cNvSpPr txBox="1"/>
          <p:nvPr/>
        </p:nvSpPr>
        <p:spPr>
          <a:xfrm>
            <a:off x="4535424"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잔기라도</a:t>
            </a:r>
          </a:p>
          <a:p>
            <a:pPr>
              <a:lnSpc>
                <a:spcPct val="113000"/>
              </a:lnSpc>
            </a:pPr>
            <a:r>
              <a:rPr sz="2000" b="0" lang="ko-KR">
                <a:solidFill>
                  <a:srgbClr val="183342"/>
                </a:solidFill>
                <a:latin typeface="Arial Unicode MS"/>
                <a:ea typeface="Arial Unicode MS"/>
              </a:rPr>
              <a:t>반대 전하 조합 유지</a:t>
            </a:r>
          </a:p>
        </p:txBody>
      </p:sp>
      <p:sp>
        <p:nvSpPr>
          <p:cNvPr id="30" name="TextBox 29"/>
          <p:cNvSpPr txBox="1"/>
          <p:nvPr/>
        </p:nvSpPr>
        <p:spPr>
          <a:xfrm>
            <a:off x="8339328"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비상보적 조합</a:t>
            </a:r>
          </a:p>
        </p:txBody>
      </p:sp>
      <p:sp>
        <p:nvSpPr>
          <p:cNvPr id="31" name="TextBox 30"/>
          <p:cNvSpPr txBox="1"/>
          <p:nvPr/>
        </p:nvSpPr>
        <p:spPr>
          <a:xfrm>
            <a:off x="850392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32" name="TextBox 31"/>
          <p:cNvSpPr txBox="1"/>
          <p:nvPr/>
        </p:nvSpPr>
        <p:spPr>
          <a:xfrm>
            <a:off x="1028700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33" name="Connector 32"/>
          <p:cNvCxnSpPr/>
          <p:nvPr/>
        </p:nvCxnSpPr>
        <p:spPr>
          <a:xfrm flipV="1">
            <a:off x="8385048"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933688"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8586216"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0789920"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8992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89920"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933688"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567928"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1" name="Oval 40"/>
          <p:cNvSpPr/>
          <p:nvPr/>
        </p:nvSpPr>
        <p:spPr>
          <a:xfrm>
            <a:off x="10424160"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2" name="TextBox 41"/>
          <p:cNvSpPr txBox="1"/>
          <p:nvPr/>
        </p:nvSpPr>
        <p:spPr>
          <a:xfrm>
            <a:off x="8339328"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전하 조합</a:t>
            </a:r>
          </a:p>
          <a:p>
            <a:pPr>
              <a:lnSpc>
                <a:spcPct val="113000"/>
              </a:lnSpc>
            </a:pPr>
            <a:r>
              <a:rPr sz="2000" b="0" lang="ko-KR">
                <a:solidFill>
                  <a:srgbClr val="183342"/>
                </a:solidFill>
                <a:latin typeface="Arial Unicode MS"/>
                <a:ea typeface="Arial Unicode MS"/>
              </a:rPr>
              <a:t>이 가정에서는 덜 유리</a:t>
            </a:r>
          </a:p>
        </p:txBody>
      </p:sp>
      <p:sp>
        <p:nvSpPr>
          <p:cNvPr id="43" name="TextBox 42"/>
          <p:cNvSpPr txBox="1"/>
          <p:nvPr/>
        </p:nvSpPr>
        <p:spPr>
          <a:xfrm>
            <a:off x="731520" y="4809744"/>
            <a:ext cx="10927080" cy="521207"/>
          </a:xfrm>
          <a:prstGeom prst="rect">
            <a:avLst/>
          </a:prstGeom>
          <a:noFill/>
        </p:spPr>
        <p:txBody>
          <a:bodyPr wrap="square" lIns="18288" rIns="18288" tIns="9144" bIns="9144">
            <a:spAutoFit/>
          </a:bodyPr>
          <a:lstStyle/>
          <a:p>
            <a:pPr>
              <a:lnSpc>
                <a:spcPct val="113000"/>
              </a:lnSpc>
            </a:pPr>
            <a:r>
              <a:rPr sz="2300" b="1" lang="ko-KR">
                <a:solidFill>
                  <a:srgbClr val="277F87"/>
                </a:solidFill>
                <a:latin typeface="Arial Unicode MS"/>
                <a:ea typeface="Arial Unicode MS"/>
              </a:rPr>
              <a:t>한 위치의 변화가 다른 위치의 허용 잔기를 바꿀 수 있다</a:t>
            </a:r>
          </a:p>
        </p:txBody>
      </p:sp>
      <p:sp>
        <p:nvSpPr>
          <p:cNvPr id="44" name="TextBox 43"/>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가까운 두 위치의 반대 전하가 유리하다고 가정. 색=i/j 위치, −/+=측쇄 전하. 진화 순서 아님.</a:t>
            </a:r>
          </a:p>
        </p:txBody>
      </p:sp>
      <p:sp>
        <p:nvSpPr>
          <p:cNvPr id="45" name="TextBox 44"/>
          <p:cNvSpPr txBox="1"/>
          <p:nvPr/>
        </p:nvSpPr>
        <p:spPr>
          <a:xfrm>
            <a:off x="731520" y="5486400"/>
            <a:ext cx="10881360" cy="294767"/>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이런 제약이 상동 서열의 조합 패턴에 남을 수 있어, 진화 정보로 접촉하는 위치 쌍을 추정할 수 있습니다.</a:t>
            </a:r>
          </a:p>
        </p:txBody>
      </p:sp>
      <p:sp>
        <p:nvSpPr>
          <p:cNvPr id="46" name="TextBox 4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80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80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27 / 80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80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80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80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80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80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80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80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80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39번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80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80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서열만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80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80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lDDT · 기준 구조의 주변 거리가 얼마나 보존되었나?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기준 구조와 비교하는 정확도 점수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원자 단위 평가. 여기서는 AF2의 잔기별 lDDT-Cα를 사용</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기준 구조에서 중심 Cα의 15 Å 미만 이웃을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|예측 거리 − 기준 거리|를 0.5·1·2·4 Å로 검사</a:t>
            </a:r>
          </a:p>
        </p:txBody>
      </p:sp>
      <p:sp>
        <p:nvSpPr>
          <p:cNvPr id="8" name="TextBox 7"/>
          <p:cNvSpPr txBox="1"/>
          <p:nvPr/>
        </p:nvSpPr>
        <p:spPr>
          <a:xfrm>
            <a:off x="685800" y="4143756"/>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구조를 겹칠 필요는 없지만, 대응 잔기와 기준 좌표는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80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직접 계산 · 네 이웃의 거리 오차를 네 번 채점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잔기 i의 가상 이웃 4개만 사용. 오차 &lt; 0.5, &lt; 1, &lt; 2, &lt; 4 Å를 각각 검사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80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예측 거리가 더 멀어지면?</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마지막 이웃 d의 예측 거리만 17 → 19 Å로 변경</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거리는 여전히 14 Å. 나머지 세 이웃은 같습니다.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d는 네 검사 중 몇 개를 통과하나요? 새 lDDTᵢ는?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예측 거리가 15 Å를 넘으면 이 이웃을 빼도 될까요?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80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학습 정답으로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학습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구조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좌표 + 잔기별 내부 표현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좌표 + 학습용 기준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잔기별 lDDT-Cα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신뢰도 학습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내부 표현 → 신뢰도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구간에 대한 분포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구간이 학습 정답</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분포가 정답 구간을 맞히도록 학습합니다(cross-entropy).</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좌표는 채점·지도에 사용하며, 신뢰도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80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새 서열에서는 정답 없이 pLDDT를 출력한다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구간 중심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 잔기별 50 logits → softmax 확률 → pLDDTᵢ = 100 × Σₖ pᵢₖcₖ</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 50개 중 세 구간에만 확률을 둔 단순화 → 100 × 0.810 = 81점</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81은 예측한 lDDT 점수이며 ‘정답 확률 81%’도 ‘오차 81 Å’도 아닙니다.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80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80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80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80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80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80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80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80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54 / 80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80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80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80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80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80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80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80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80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80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80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80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80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80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80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80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80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80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80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80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80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80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80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80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80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80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
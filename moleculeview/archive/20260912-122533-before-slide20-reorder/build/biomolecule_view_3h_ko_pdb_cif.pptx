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0–3분 (3분)</a:t>
            </a:r>
          </a:p>
          <a:p/>
          <a:p>
            <a:r>
              <a:t>청록색 단백질과 주황색 탄소로 표시한 작은 분자를 차례로 짚는다. 오늘 살펴볼 작은 분자는 gefitinib이며, 그림은 EGFR의 kinase 영역과 약물이 함께 있는 구조라고 소개한다. EGFR 전체 수용체가 이 그림에 모두 담긴 것은 아니라고 덧붙인다. 학생에게 약물이 어디에 놓였는지 손으로 가리켜 보게 하되 정확한 용어는 아직 요구하지 않는다. 마지막에는 주변 아미노산의 특징을 근거로 이 자리를 설명할 것이라고 예고한다.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3–7분 (4분)</a:t>
            </a:r>
          </a:p>
          <a:p/>
          <a:p>
            <a:r>
              <a:t>최종 과제는 처음 보는 복합체 그림을 읽고 짧게 설명하는 일이라고 안내한다. 잔기 이름과 화학 특징의 범례는 제공하므로 아미노산 이름을 모두 외울 필요는 없다. 답안의 기본 문장을 '이 부분은 ○○이므로, 약물의 △△ 부분과 상호작용할 가능성이 있다'로 제시한다. 단순히 가깝다는 관찰과 강하게 결합한다는 결론은 다르다고 설명한다. 학생에게 현재 가장 낯선 표현 하나를 말하게 하고, 그 용어가 이후 어느 단계에서 등장하는지 연결한다.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7–10분 (3분)</a:t>
            </a:r>
          </a:p>
          <a:p/>
          <a:p>
            <a:r>
              <a:t>세 수업이 같은 분자 구조를 서로 다른 질문으로 살펴본다고 설명한다. 오늘은 눈앞의 구조에 무엇이 표시되어 있는지 읽는 데 집중한다. 다음 AI 구조 수업에서는 예측한 모양을 해석하고 신뢰도를 살펴보는 질문으로 이어진다고 소개한다. 마지막 수업에서는 구조의 움직임과 약물의 결합 자세를 다루게 된다고 예고한다. 각 도구의 조작법이나 계산 과정은 지금 설명하지 않고, 오늘 배울 원자·잔기·공간이라는 공통 언어를 강조한다.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10–12분 (2분)</a:t>
            </a:r>
          </a:p>
          <a:p/>
          <a:p>
            <a:r>
              <a:t>두 번의 휴식을 포함해 180분이라는 시간표를 확인한다. 개인 컴퓨터 조작 대신 그림에 표시하기와 짧은 구두 설명을 반복한다고 안내한다. 정답을 먼저 외우기보다 어떤 부분을 보고 판단했는지 말하는 것이 중요하다고 설명한다. 모르는 단어나 기호가 나오면 표시해 두었다가 활동 시간에 확인하도록 요청한다.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12–15분 (3분)</a:t>
            </a:r>
          </a:p>
          <a:p/>
          <a:p>
            <a:r>
              <a:t>물의 H와 O처럼 익숙한 기호부터 시작해 원소가 원자의 종류라는 뜻을 설명한다. 단백질과 약물도 같은 원소를 여러 방식으로 연결한 분자임을 연결한다. 전자껍질이나 주기율표 전체를 설명하지 않고, 오늘 그림에서 반복해 만날 다섯 기호만 읽는다. 산소는 흔히 빨강, 질소는 파랑으로 표시하지만 범례가 우선이라고 말한다. 탄소는 이 수업에서도 단백질과 약물을 구별하기 위해 다른 색을 쓸 수 있다고 알려준다.</a:t>
            </a:r>
          </a:p>
          <a:p/>
          <a:p>
            <a:r>
              <a:t>추가 설명</a:t>
            </a:r>
          </a:p>
          <a:p>
            <a:r>
              <a:t>원자는 분자를 이루는 단위이고, 원소는 원자의 종류다.</a:t>
            </a:r>
          </a:p>
          <a:p>
            <a:r>
              <a:t>원소 기호를 읽으면 분자의 재료를 알 수 있다.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15–18분 (3분)</a:t>
            </a:r>
          </a:p>
          <a:p/>
          <a:p>
            <a:r>
              <a:t>H—O—H를 읽으며 산소 하나에 수소 두 개가 공유결합해 물 한 분자를 이룬다고 설명한다. 이 표기는 원자의 연결을 나타내며 물이 실제로 일직선이라는 뜻은 아니라고 미리 짚는다. 선 하나와 선 두 개가 나타내는 결합 차이는 용어만 소개하고 세부 계산은 생략한다. 단백질 주사슬도 공유결합으로 이어진다는 점을 예고한다. 질문은 '두 원자가 화면에서 겹쳐 보이면 서로 연결되었다고 말할 수 있을까?'로 하고, 연결 정보가 필요하다는 답을 받는다.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18–20분 (2분)</a:t>
            </a:r>
          </a:p>
          <a:p/>
          <a:p>
            <a:r>
              <a:t>앞장의 간단한 구조식과 지금의 입체 모형이 각각 무엇을 강조하는지 연결한다. 두 그림은 같은 약물의 같은 구조를 표현 방식만 바꿔 보여 준다고 설명한다. 막대 그림에서는 연결을, 구 그림에서는 공간을 차지하는 정도를 살펴보게 한다. 수소는 이 그림에서 생략되어 있으므로 보이지 않는다고 없는 것은 아니라고 짚는다. 원자가 단단한 색 공으로 이루어졌다는 해석도 피하도록 한다.</a:t>
            </a:r>
          </a:p>
          <a:p/>
          <a:p>
            <a:r>
              <a:t>출처</a:t>
            </a:r>
          </a:p>
          <a:p>
            <a:r>
              <a:t>OpenStax Biology 2e, 2.1: 원자와 화학 결합</a:t>
            </a:r>
          </a:p>
          <a:p>
            <a:r>
              <a:t>https://openstax.org/books/biology-2e/pages/2-1-atoms-isotopes-ions-and-molecules-the-building-blocks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20–23분 (3분)</a:t>
            </a:r>
          </a:p>
          <a:p/>
          <a:p>
            <a:r>
              <a:t>먼저 이온의 더하기·빼기 기호와 부분전하의 작은 델타 기호를 구별한다. 순전하는 전체를 합산한 값이고 부분전하는 한 분자 안의 불균일한 전자 분포를 설명한다고 말한다. 물의 산소가 부분 음전하를 띤다고 해서 물속에서 산소 음이온 하나가 따로 떠다니는 것은 아니라고 설명한다. '중성인 분자는 주변 물과 아무 상호작용도 하지 않을까?'라고 묻고 다음 장의 물로 연결한다. 여기서는 전하의 수치 계산을 요구하지 않는다.</a:t>
            </a:r>
          </a:p>
          <a:p/>
          <a:p>
            <a:r>
              <a:t>추가 설명</a:t>
            </a:r>
          </a:p>
          <a:p>
            <a:r>
              <a:t>순전하는 분자 또는 이온 전체의 전하를 합친 값이다.</a:t>
            </a:r>
          </a:p>
          <a:p>
            <a:r>
              <a:t>부분전하는 전자가 고르게 분포하지 않아 생기는 국소적 치우침이다.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23–26분 (3분)</a:t>
            </a:r>
          </a:p>
          <a:p/>
          <a:p>
            <a:r>
              <a:t>가운데 물 한 분자를 먼저 가리키고 산소와 두 수소를 읽는다. 공유된 전자가 산소 쪽으로 더 치우치며 굽은 분자 모양 때문에 극성이 생긴다고 설명한다. 그림의 여러 물 분자가 하나의 큰 공유결합 분자가 아니라는 점을 확인한다. 분자 사이 점선의 자세한 의미는 수소결합 장에서 다룬다고 예고한다. 약물을 볼 때도 약물과 단백질만이 아니라 주변 물이 함께 있는 환경을 생각해야 한다고 연결한다.</a:t>
            </a:r>
          </a:p>
          <a:p/>
          <a:p>
            <a:r>
              <a:t>출처</a:t>
            </a:r>
          </a:p>
          <a:p>
            <a:r>
              <a:t>OpenStax Biology 2e, 2.2: 물과 극성</a:t>
            </a:r>
          </a:p>
          <a:p>
            <a:r>
              <a:t>https://openstax.org/books/biology-2e/pages/2-2-water</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26–29분 (3분)</a:t>
            </a:r>
          </a:p>
          <a:p/>
          <a:p>
            <a:r>
              <a:t>소금과 기름의 예를 짧게 떠올리게 하되 분자가 물을 좋아하거나 싫어하는 성격을 가졌다는 식으로 설명하지 않는다. 물과 주변 분자의 상호작용을 합친 결과로 나타나는 경향이라고 말한다. 비극성 부분은 물속에서 함께 모여 노출 면적을 줄이는 경향이 있음을 소개한다. 이것이 모든 비극성 부분이 반드시 단백질 안쪽에 있다는 규칙은 아니며 주변 환경도 중요하다고 덧붙인다. 약물 역시 극성 부분과 비극성 부분을 따로 찾아야 한다는 관찰 과제로 연결한다.</a:t>
            </a:r>
          </a:p>
          <a:p/>
          <a:p>
            <a:r>
              <a:t>추가 설명</a:t>
            </a:r>
          </a:p>
          <a:p>
            <a:r>
              <a:t>친수성·소수성은 물속에서 보이는 경향을 설명하는 말이다.</a:t>
            </a:r>
          </a:p>
          <a:p>
            <a:r>
              <a:t>전하·극성 부분과 비극성 부분은 물과 다르게 상호작용한다.</a:t>
            </a:r>
          </a:p>
          <a:p/>
          <a:p>
            <a:r>
              <a:t>출처</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29–32분 (3분)</a:t>
            </a:r>
          </a:p>
          <a:p/>
          <a:p>
            <a:r>
              <a:t>먼저 실선으로 연결된 O—H 또는 N—H를 읽고, 그 수소가 다른 원자와 만드는 점선의 관계를 설명한다. 수소를 가진 쪽은 주개, 적절한 전자쌍으로 받는 쪽은 받개라고 이름만 소개한다. 모든 질소나 산소가 언제나 받개가 되는 것은 아니며 원자 주변 연결과 전하 상태가 중요하다고 짚는다. 단백질과 약물의 그림에서 수소가 생략되면 거리만 보고 확정하기 어려울 수 있다고 말한다. 뒤의 구조에서는 근거가 제한될 때 '수소결합 후보'라고 표현하기로 약속한다.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32–35분 (3분)</a:t>
            </a:r>
          </a:p>
          <a:p/>
          <a:p>
            <a:r>
              <a:t>45초 동안 각 문장의 O 또는 X를 종이에 적게 한다. 60초 동안 옆 사람과 한 문장의 이유를 설명하게 하고, 남은 시간에는 서로 답이 달랐던 문장을 받는다. 정답은 순서대로 X, X, O이며 다음 장에서 해설한다. ①을 틀리면 전체 순전하와 국소적 치우침을 다시 구별한다. ②를 틀리면 한 물 분자 안의 연결과 서로 다른 분자 사이의 상호작용을 손으로 가리켜 보게 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35–37분 (2분)</a:t>
            </a:r>
          </a:p>
          <a:p/>
          <a:p>
            <a:r>
              <a:t>세 정답을 읽은 뒤 학생 설명에서 가장 많이 혼동한 한 가지만 다시 짚는다. 중성이라는 말은 전체 전하의 합에 대한 설명이고 비극성이라는 말과 같지 않다고 정리한다. 점선의 의미는 그림의 범례에 따라 달라질 수 있으므로 지금 제시한 그림에서는 수소결합을 뜻한다고 한정한다. 다음에는 같은 화학적 특징이 아미노산의 어느 부분에 놓이는지 살펴본다고 연결한다.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37–40분 (3분)</a:t>
            </a:r>
          </a:p>
          <a:p/>
          <a:p>
            <a:r>
              <a:t>공식을 왼쪽에서 오른쪽으로 읽으며 아미노기, 중심 탄소, 카복실기를 차례로 짚는다. Cα에 H와 R도 연결된다는 뜻이며 네 가지가 일직선에 놓였다는 그림은 아니라고 설명한다. R은 실제 원소 기호가 아니라 달라지는 곁사슬을 대신 적은 문자라고 강조한다. 이 식은 대표적인 유리 아미노산의 중성 pH 상태를 보여 주며 곁사슬의 전하는 별도로 달라질 수 있다고 말한다. 단백질 사슬 안에서는 이 아미노기와 카복실기가 대부분 펩타이드결합에 참여하므로 지금 모양을 모든 잔기에 그대로 적용하지 않도록 예고한다.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40–43분 (3분)</a:t>
            </a:r>
          </a:p>
          <a:p/>
          <a:p>
            <a:r>
              <a:t>methionine 한 잔기의 중심 탄소를 먼저 찾아 손가락으로 짚는다. 그 탄소에서 주사슬의 질소와 카보닐 탄소로 가는 길, 주황색 곁사슬로 가는 길을 나눠 따라간다. 주황색은 곁사슬 전체를 구별하기 위한 색이므로 이 그림에서 원소의 종류를 주황색만으로 판단하면 안 된다고 설명한다. 주사슬도 질소와 산소를 가지므로 상호작용에 참여할 수 있다고 강조한다. 뒤에서 Met793이 등장할 때 이름만 보고 곁사슬의 황이 접촉한다고 추측하지 않도록 이 구별을 기억하게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43–46분 (3분)</a:t>
            </a:r>
          </a:p>
          <a:p/>
          <a:p>
            <a:r>
              <a:t>Leu는 leucine, Met은 methionine의 세 글자 약어라고 읽어 주고 뒤의 구조에서 다시 만날 이름이라고 소개한다. Ser의 OH, Asp의 COO⁻, Lys의 NH₃⁺를 전하와 극성이라는 앞부분 개념으로 연결한다. 이 표는 곁사슬의 대표적 특징이며 주사슬까지 비극성이거나 하전되어 있다는 뜻은 아니라고 구별한다. Met에는 황이 있지만 곁사슬 전체는 대체로 비극성으로 분류된다고 설명하며 원소 하나만으로 분류하지 않게 한다. 표를 암기하는 대신 구조와 함께 범례로 사용할 것이라고 안내한다.</a:t>
            </a:r>
          </a:p>
          <a:p/>
          <a:p>
            <a:r>
              <a:t>추가 설명</a:t>
            </a:r>
          </a:p>
          <a:p>
            <a:r>
              <a:t>아미노산 20개를 외우기보다 곁사슬의 특징을 먼저 읽는다.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46–49분 (3분)</a:t>
            </a:r>
          </a:p>
          <a:p/>
          <a:p>
            <a:r>
              <a:t>세 식에서 C와 H가 반복되는 부분, OH, 음전하 기호를 차례로 찾아보게 한다. 괄호의 CH₃ 두 개는 가지가 두 갈래라는 뜻만 설명하고 복잡한 구조식 명명법은 생략한다. '물과 전기적으로 상호작용할 단서가 가장 뚜렷하게 표시된 것은 어느 부분인가?'라고 물어 Asp의 COO⁻를 짚게 한다. Ser도 극성 상호작용이 가능하므로 전하 표시가 없다고 아무 상호작용도 없다는 결론은 막는다. 실제 기여는 약물의 상대 부분과 거리·방향·물의 환경을 함께 보아야 한다고 정리한다.</a:t>
            </a:r>
          </a:p>
          <a:p/>
          <a:p>
            <a:r>
              <a:t>추가 설명</a:t>
            </a:r>
          </a:p>
          <a:p>
            <a:r>
              <a:t>먼저 +·− 표시를 보고, 다음으로 O·N과 그 연결을 살핀다.</a:t>
            </a:r>
          </a:p>
          <a:p>
            <a:r>
              <a:t>탄소·수소가 많은 부분과 극성 부분을 따로 표시한다.</a:t>
            </a:r>
          </a:p>
          <a:p/>
          <a:p>
            <a:r>
              <a:t>출처</a:t>
            </a:r>
          </a:p>
          <a:p>
            <a:r>
              <a:t>OpenStax Biology 2e, 3.4: 아미노산과 단백질</a:t>
            </a:r>
          </a:p>
          <a:p>
            <a:r>
              <a:t>https://openstax.org/books/biology-2e/pages/3-4-proteins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49–52분 (3분)</a:t>
            </a:r>
          </a:p>
          <a:p/>
          <a:p>
            <a:r>
              <a:t>그림 위쪽의 두 아미노산에서 각각 카복실기 쪽 탄소와 아미노기 쪽 질소를 찾는다. 아래쪽 파란 상자 안의 C—N 연결을 가리키며 펩타이드결합이라고 이름 붙인다. 물 한 분자가 빠지는 모양은 연결의 화학적 관계를 요약한 것으로, 세포에서 자유 아미노산이 저절로 이어진다는 설명은 아니라고 덧붙인다. 위 그림의 NH₂와 COOH 표기는 결합 형성을 단순하게 나타낸 것이며 앞서 본 중성 pH의 주된 형태와 구별한다. 결합한 자리의 N과 C=O는 계속 주사슬에 남고 각각의 R은 밖으로 뻗는다는 점을 확인한다.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52–55분 (3분)</a:t>
            </a:r>
          </a:p>
          <a:p/>
          <a:p>
            <a:r>
              <a:t>한 개의 자유 아미노산과 단백질 안의 한 잔기를 말로 구별한다. 그림의 반복되는 주사슬 연결을 따라가며 여러 곁사슬이 각각 다른 잔기에 속함을 짚는다. 그림은 긴 단백질에서 일부만 잘라 보여 준 것이므로 화면의 끝이 실제 단백질의 말단이라는 뜻은 아니라고 설명한다. 사슬 A와 사슬 B는 구조 안에서 대상을 구별하는 표지라고 소개한다. 다음부터 '약물 주변 아미노산'을 더 정확히 말할 때 '주변 잔기'라는 표현을 사용할 것이라고 안내한다.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55–57분 (2분)</a:t>
            </a:r>
          </a:p>
          <a:p/>
          <a:p>
            <a:r>
              <a:t>MET793을 '메티오닌, 잔기 번호 793'으로 읽고 사슬 정보까지 있으면 어느 사슬의 잔기인지 구별할 수 있다고 설명한다. 793이라는 숫자가 화면에 793개 잔기가 모두 보인다는 뜻은 아니라고 짚는다. 원래 단백질의 번호를 유지하거나 일부가 보이지 않는 경우도 있어 단순 개수와 다를 수 있다고 설명한다. IRE는 이 사례의 약물 코드이며 아미노산 세 글자 약어로 해석하지 않도록 구별한다. 번호 차이로 3차원 거리를 판단할 수 없다는 점은 마지막 장에서 다시 확인한다.</a:t>
            </a:r>
          </a:p>
          <a:p/>
          <a:p>
            <a:r>
              <a:t>추가 설명</a:t>
            </a:r>
          </a:p>
          <a:p>
            <a:r>
              <a:t>A / MET / 793은 사슬·잔기 종류·잔기 번호를 함께 읽는 표기다.</a:t>
            </a:r>
          </a:p>
          <a:p/>
          <a:p>
            <a:r>
              <a:t>출처</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57–60분 (3분)</a:t>
            </a:r>
          </a:p>
          <a:p/>
          <a:p>
            <a:r>
              <a:t>처음에 본 복합체를 다른 방향에서 바라본 그림이라고 소개하고 청록색 사슬과 주황색 약물을 다시 찾는다. 시점을 바꾼 것이 단백질이 접히는 순간을 촬영했다는 뜻은 아니라고 설명한다. 사슬이 공간에 배치되면서 홈과 틈이 생기며 그 주변의 원자들이 분자를 만나는 환경을 만든다고 연결한다. 하나의 구조 그림은 특정한 배치를 보여 주고 가능한 움직임 전체를 보여 주지는 않는다고 짚는다. 학생에게 약물이 단백질의 어느 부근에 놓였는지 지금 방향에서도 찾아보게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60–63분 (3분)</a:t>
            </a:r>
          </a:p>
          <a:p/>
          <a:p>
            <a:r>
              <a:t>위쪽의 α-나선과 아래쪽의 β-시트를 형태로 먼저 구별한다. 원자 모형 사이의 점선을 짚으며 앞서 배운 수소결합이 주사슬의 구조에도 연결된다고 설명한다. 오늘은 나선 한 바퀴의 잔기 수나 시트의 세부 분류를 외우지 않는다. 화살표는 β-가닥의 방향을 나타내며 단백질이 그쪽으로 움직인다는 뜻은 아니라고 짚는다. 나선과 시트 사이의 연결 부위도 단백질의 일부이며 가는 선으로 그렸다고 없어지거나 반드시 풀린 상태인 것은 아니라고 설명한다.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63–65분 (2분)</a:t>
            </a:r>
          </a:p>
          <a:p/>
          <a:p>
            <a:r>
              <a:t>Leu718과 Met793이라는 두 라벨을 읽고 숫자가 연속되지 않는다는 점을 확인한다. 그런데 두 잔기는 같은 약물 주변을 살펴볼 때 함께 등장한다고 그림에서 짚는다. 이것이 두 잔기가 서로 직접 결합한다는 뜻은 아니며 각각 약물과 어떤 관계인지 따로 보아야 한다고 설명한다. Met의 어느 부분, Leu의 어느 부분이 가까운지는 휴식 뒤 확대 그림으로 해석하겠다고 예고한다. 첫 부분을 마치며 '약물 주변은 서열 목록보다 입체 구조에서 찾는다'는 문장을 학생에게 완성하게 한 뒤 10분 휴식을 안내한다.</a:t>
            </a:r>
          </a:p>
          <a:p/>
          <a:p>
            <a:r>
              <a:t>출처</a:t>
            </a:r>
          </a:p>
          <a:p>
            <a:r>
              <a:t>OpenStax Biology 2e, 3.4: 아미노산과 단백질</a:t>
            </a:r>
          </a:p>
          <a:p>
            <a:r>
              <a:t>https://openstax.org/books/biology-2e/pages/3-4-proteins</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65–75분 (10분)</a:t>
            </a:r>
          </a:p>
          <a:p/>
          <a:p>
            <a:r>
              <a:t>10분간 쉽니다. 다음 구간에서 새 화학 용어를 늘리기보다 이미 배운 원자와 잔기를 화면 표현에 연결합니다.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75–78분 (3분)</a:t>
            </a:r>
          </a:p>
          <a:p/>
          <a:p>
            <a:r>
              <a:t>세 그림에서 주황색 약물의 위치를 먼저 찾게 합니다. 구조가 바뀐 것이 아니라 표시하는 정보가 달라졌습니다. Cartoon은 주사슬의 경로를 단순화하며 원자 크기를 나타내지 않습니다. Sticks는 원자 간 공유결합을, surface는 원자의 크기 등을 바탕으로 계산한 경계를 보여 줍니다. 표면의 종류와 설정에 따라 모양은 달라질 수 있습니다.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78–80분 (2분)</a:t>
            </a:r>
          </a:p>
          <a:p/>
          <a:p>
            <a:r>
              <a:t>단백질 사슬의 두 부분 사이에 약물이 놓였음을 지적합니다. 리본의 폭은 실제 단백질 두께가 아닙니다. 그림에서 끊어진 부위가 있어도 실제 사슬이 절단되었다고 바로 판단하지 않습니다. 이 그림은 앞의 전체 그림을 회전한 것으로, 시점 변화와 분자 변화가 다름을 설명합니다.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80–82분 (2분)</a:t>
            </a:r>
          </a:p>
          <a:p/>
          <a:p>
            <a:r>
              <a:t>학생에게 파란 질소와 빨간 산소를 각각 하나씩 지목하게 합니다. 막대 끝과 꺾이는 지점에 원자가 놓입니다. 염소 Cl은 초록, 플루오린 F는 밝은 청록입니다. 점선처럼 보이는 고리 내부 선은 결합 차수 표현이며 뒤에 나오는 분자 간 접촉 점선과 구별합니다. '안 보이는 수소는 없다'고 해석하지 않게 합니다. 리간드의 원자 위치는 복합체에서 분리해 표시했을 뿐 별도 계산으로 최적화한 것이 아닙니다.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82–84분 (2분)</a:t>
            </a:r>
          </a:p>
          <a:p/>
          <a:p>
            <a:r>
              <a:t>이 그림은 단백질 표면을 일부 투명하게 표시했습니다. 학생이 약물을 가리키면 그 주변이 단백질과 맞닿는 공간임을 짚습니다. 약물이 들어갈 공간을 포켓(pocket)이라 부를 수 있습니다. 깊은 틈만이 결합 부위인 것은 아니며 평평한 표면에서도 결합할 수 있다는 예외는 짧게 덧붙입니다. 표면에 표시하지 않은 물 분자도 실제 환경에는 존재합니다.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84–86분 (2분)</a:t>
            </a:r>
          </a:p>
          <a:p/>
          <a:p>
            <a:r>
              <a:t>원자에는 이 화면과 같은 고유한 색이 없습니다. 같은 파랑이라도 어떤 뷰어에서는 질소, 다른 화면에서는 사슬 구분이나 예측 신뢰도를 뜻할 수 있습니다. 전하 분포를 나타낸 표면을 나중에 보게 되면 반드시 그 화면의 범례를 다시 읽도록 합니다. 이 수업의 청록색 표면은 전하 계산 결과가 아닙니다.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86–90분 (4분)</a:t>
            </a:r>
          </a:p>
          <a:p/>
          <a:p>
            <a:r>
              <a:t>1분 혼자 생각하고 1분 짝에게 이유를 설명합니다. 나머지 2분 동안 구두 응답을 받습니다. 기대 답은 각각 cartoon, sticks, surface입니다. 정답 단어뿐 아니라 '어떤 정보가 더 잘 보이는지'를 말해야 합니다. 다른 표현을 선택해도 구체적인 근거가 맞으면 인정합니다. 활동지는 1쪽 활동 2를 사용합니다.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90–92분 (2분)</a:t>
            </a:r>
          </a:p>
          <a:p/>
          <a:p>
            <a:r>
              <a:t>앞 활동의 답 cartoon/sticks/surface를 확인한 뒤 구조 데이터의 한계를 설명합니다. 결정구조는 분자의 사진을 확대해 얻은 그림이 아니라 실험 신호에 맞춘 좌표 모델입니다. 보이지 않는 부분과 생물학적으로 존재하지 않는 부분을 구별해야 합니다. 실험 구조와 AI 예측 구조의 출처를 구별하는 습관이 다음 수업으로 연결됩니다.</a:t>
            </a:r>
          </a:p>
          <a:p/>
          <a:p>
            <a:r>
              <a:t>출처</a:t>
            </a:r>
          </a:p>
          <a:p>
            <a:r>
              <a:t>RCSB PDB-101: Methods for Determining Structure</a:t>
            </a:r>
          </a:p>
          <a:p>
            <a:r>
              <a:t>https://pdb101.rcsb.org/learn/guide-to-understanding-pdb-data/methods-for-determining-structure</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92–94분 (2분)</a:t>
            </a:r>
          </a:p>
          <a:p/>
          <a:p>
            <a:r>
              <a:t>EGFR은 세포 신호 전달에 관여하는 단백질이며 kinase 부분은 ATP를 이용하는 인산화 반응을 수행합니다. Gefitinib은 이 부분의 ATP 결합 부위에 결합하는 억제제입니다. 약리 기전의 자세한 내용이나 환자별 약물 선택은 이 시간에 다루지 않습니다. Å는 0.1 nm인 길이 단위입니다. 3.42 Å는 실험 데이터의 해상도이며 모든 원자의 위치 오차가 3.42 Å라는 뜻은 아닙니다. PDB auth 번호를 사용하며 IRE는 A2020입니다. mmCIF label 체인 B와 혼용하지 않습니다.</a:t>
            </a:r>
          </a:p>
          <a:p/>
          <a:p>
            <a:r>
              <a:t>출처</a:t>
            </a:r>
          </a:p>
          <a:p>
            <a:r>
              <a:t>RCSB PDB 2ITY: EGFR kinase–gefitinib</a:t>
            </a:r>
          </a:p>
          <a:p>
            <a:r>
              <a:t>https://www.rcsb.org/structure/2ITY</a:t>
            </a:r>
          </a:p>
          <a:p>
            <a:r>
              <a:t>Yun et al. (2007), Cancer Cell 11:217–227</a:t>
            </a:r>
          </a:p>
          <a:p>
            <a:r>
              <a:t>https://doi.org/10.1016/j.ccr.2006.12.017</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94–96분 (2분)</a:t>
            </a:r>
          </a:p>
          <a:p/>
          <a:p>
            <a:r>
              <a:t>PDB(Protein Data Bank)라는 자료 저장소의 이름과 확장자 .pdb인 legacy 파일 포맷을 구별합니다. 이 예시는 assets/structures/2ITY.pdb의 첫 ATOM 두 행을 발췌했고 내부 공백과 실제 값을 유지했습니다. ATOM/HETATM 좌표 레코드 한 행은 원자 위치 하나를 기술합니다. 정확한 문자 열은 레코드 1–6, 일련번호 7–11, 원자 이름 13–16, 대체 위치 17, 잔기 이름 18–20, 사슬 22, 잔기 번호 23–26, 삽입 코드 27, x 31–38, y 39–46, z 47–54, occupancy 55–60, B factor 61–66, 원소 77–78, 전하 79–80입니다. 표시한 두 행의 대체 위치·삽입 코드·전하 칸은 비어 있습니다. 전하 공백을 중성의 증거로 읽지 않습니다. GLU는 glutamate(글루탐산) 잔기이고 N은 그 잔기의 주사슬 질소 원자입니다. 둘째 행의 CA는 calcium이 아니라 alpha carbon이며 실제 원소는 C 열에서 확인합니다. 학생에게 A / GLU / 697을 읽고 두 원자가 같은 잔기인지 설명하게 합니다. HETATM은 약물뿐 아니라 물·이온·비표준 잔기에도 쓰입니다. 파일에는 HEADER, TITLE, REMARK 등 다른 종류의 레코드도 있고 여기서는 원자 좌표 부분만 발췌했습니다.</a:t>
            </a:r>
          </a:p>
          <a:p/>
          <a:p>
            <a:r>
              <a:t>출처</a:t>
            </a:r>
          </a:p>
          <a:p>
            <a:r>
              <a:t>wwPDB: PDB Format v3.3, ATOM / HETATM coordinate records</a:t>
            </a:r>
          </a:p>
          <a:p>
            <a:r>
              <a:t>https://www.wwpdb.org/documentation/file-format-content/format33/sect9.html</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96–98분 (2분)</a:t>
            </a:r>
          </a:p>
          <a:p/>
          <a:p>
            <a:r>
              <a:t>PDBx/mmCIF는 생체고분자 구조를 위한 CIF 계열 텍스트 포맷이며 PDBx는 PDB exchange, mmCIF는 macromolecular Crystallographic Information File의 약자입니다. 이 예시는 원본 2ITY.cif의 _atom_site 표에서 10개 열과 첫 두 행을 선별한 교육용 발췌입니다. 전체 파일을 그대로 재현한 것은 아니며 나머지 열과 행, 메타데이터를 생략했습니다. 값은 원본에서 바꾸지 않았고 앞 슬라이드 PDB의 동일한 두 원자입니다. data_2ITY는 블록 이름, loop_는 반복 데이터 표의 시작, _atom_site.는 원자 정보를 담는 범주입니다. 데이터 값은 태그의 나열 순서에 대응하며 고정 문자 열에 맞출 필요가 없습니다. 한 논리적 행을 물리적 여러 줄에 나누어 쓸 수도 있으므로 한 줄에 원자 하나라는 설명은 이 예시의 표시 방식에 한정합니다. 첫 행에서 type_symbol=N, label_atom_id=N, label_comp_id=GLU, auth_asym_id=A, auth_seq_id=697입니다. 둘째 행의 C와 CA를 원소와 원자 이름에 각각 연결하게 합니다. CIF는 태그 이름으로 의미를 식별하므로 사슬·번호를 읽을 때 label과 auth 접두사를 함께 확인해야 합니다. 좌표가 앞 슬라이드와 같은지 학생에게 확인하게 합니다.</a:t>
            </a:r>
          </a:p>
          <a:p/>
          <a:p>
            <a:r>
              <a:t>출처</a:t>
            </a:r>
          </a:p>
          <a:p>
            <a:r>
              <a:t>wwPDB: PDBx/mmCIF syntax and loop tables</a:t>
            </a:r>
          </a:p>
          <a:p>
            <a:r>
              <a:t>https://mmcif.wwpdb.org/docs/tutorials/mechanics/pdbx-mmcif-syntax.html</a:t>
            </a:r>
          </a:p>
          <a:p>
            <a:r>
              <a:t>RCSB PDB: 2ITY PDBx/mmCIF original coordinates</a:t>
            </a:r>
          </a:p>
          <a:p>
            <a:r>
              <a:t>https://files.rcsb.org/download/2ITY.cif</a:t>
            </a:r>
          </a:p>
          <a:p>
            <a:r>
              <a:t>2026-09-12다운로드. assets/structures/2ITY.cif에 원본 보관. 예시는 _atom_site에서 10개 열과 첫 두 행을 선별한 발췌. 첫 원자: GLU, auth A697, label A2, xyz (-68.144, -7.449, -50.184) Å, occupancy 1.00, B_iso_or_equiv 55.89 Å².</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98–100분 (2분)</a:t>
            </a:r>
          </a:p>
          <a:p/>
          <a:p>
            <a:r>
              <a:t>표의 값은 원본 assets/structures/2ITY.cif의 첫 원자에서 확인했습니다. occupancy 1.00은 모델에서 해당 원자 위치를 완전히 점유한다고 기술한 값이며 위치 정확도 100%나 약물 결합률 100%가 아닙니다. B_iso_or_equiv는 등방성 또는 등가 등방성 원자 변위 매개변수이고 여기서는 55.89 Å²입니다. 움직임, 무질서, 모델링 등의 영향을 받으므로 직접적인 결합 세기나 정확도 백분율로 읽지 않습니다. 이 설명은 2ITY 실험 결정구조에 관한 것이며 예측 구조 파일은 같은 필드에 신뢰도 점수 등을 넣을 수 있어 생성 도구의 정의를 확인해야 합니다. mmCIF의 label_seq_id는 등록 고분자 서열의 위치이고 auth_seq_id는 저자 번호입니다. 같은 GLU 잔기에 label 2와 auth 697이 붙습니다. 첫 좌표가 label 2라고 해서 모든 CIF가 2부터 번호를 매기는 것은 아닙니다. 수업의 그림 라벨과 PDB 형식은 저자 번호를 기준으로 맞춥니다. 원자 일련번호 1과 잔기 번호 697도 구별합니다. 따옴표 없는 마침표(.)는 해당 값이 없거나 의도적으로 생략되었음을, 물음표(?)는 값이 미상임을 뜻하며 숫자 0과 다릅니다. 원본 첫 원자의 label_alt_id는 점, pdbx_PDB_ins_code는 물음표입니다. 이 기호가 원자 자체가 없다는 뜻은 아닙니다. 구두 확인: 같은 원자의 좌표는 같은데 잔기 번호가 2와 697로 다르면 구조가 달라졌는가? 정답: 번호 체계가 다른 것이므로 어떤 태그인지 먼저 확인한다. 공식 사전: https://mmcif.wwpdb.org/dictionaries/mmcif_pdbx_v50.dic/Items/_atom_site.label_seq_id.html 및 https://mmcif.wwpdb.org/dictionaries/mmcif_pdbx_v50.dic/Items/_atom_site.auth_seq_id.html</a:t>
            </a:r>
          </a:p>
          <a:p/>
          <a:p>
            <a:r>
              <a:t>출처</a:t>
            </a:r>
          </a:p>
          <a:p>
            <a:r>
              <a:t>RCSB PDB-101: Dealing with Coordinates</a:t>
            </a:r>
          </a:p>
          <a:p>
            <a:r>
              <a:t>https://pdb101.rcsb.org/learn/guide-to-understanding-pdb-data/dealing-with-coordinates</a:t>
            </a:r>
          </a:p>
          <a:p>
            <a:r>
              <a:t>wwPDB: PDBx/mmCIF syntax and loop tables</a:t>
            </a:r>
          </a:p>
          <a:p>
            <a:r>
              <a:t>https://mmcif.wwpdb.org/docs/tutorials/mechanics/pdbx-mmcif-syntax.html</a:t>
            </a:r>
          </a:p>
          <a:p>
            <a:r>
              <a:t>RCSB PDB: 2ITY PDBx/mmCIF original coordinates</a:t>
            </a:r>
          </a:p>
          <a:p>
            <a:r>
              <a:t>https://files.rcsb.org/download/2ITY.cif</a:t>
            </a:r>
          </a:p>
          <a:p>
            <a:r>
              <a:t>2026-09-12다운로드. assets/structures/2ITY.cif에 원본 보관. 예시는 _atom_site에서 10개 열과 첫 두 행을 선별한 발췌. 첫 원자: GLU, auth A697, label A2, xyz (-68.144, -7.449, -50.184) Å, occupancy 1.00, B_iso_or_equiv 55.89 Å².</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100–104분 (4분)</a:t>
            </a:r>
          </a:p>
          <a:p/>
          <a:p>
            <a:r>
              <a:t>이 표는 구조를 읽을 때의 질문 목록입니다. 모든 항목을 모든 복합체에서 찾으라는 뜻은 아닙니다. 이 사례에서는 비극성 접촉과 주사슬 수소결합을 살펴봅니다. 전하가 있다고 언제나 결합에 유리한 것은 아니며 주변 물과 전하 차폐 등 환경이 영향을 줍니다. 가까운 중성 원자 사이에도 분산력 등이 기여할 수 있지만, 너무 가까워지면 원자들이 강하게 밀어냅니다. 에너지 식과 수치 계산은 뒤 MD 수업으로 넘깁니다.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104–108분 (4분)</a:t>
            </a:r>
          </a:p>
          <a:p/>
          <a:p>
            <a:r>
              <a:t>가까이에서 표면을 본 모습입니다. 반투명 표면은 가려진 리간드를 보여 주기 위한 표시입니다. 학생들에게 약물의 어느 부분이 더 안쪽이고 어느 부분이 바깥쪽에 노출되는지 말하게 합니다. 고정된 자물쇠 비유만으로 설명하면 단백질 유연성을 놓치므로, 뒤 MD 시간에 포켓 모양의 변화를 다룬다고 연결합니다. 원논문에서는 gefitinib의 용매 쪽 꼬리 부분이 덜 뚜렷하다고 설명하므로 꼬리의 정확한 방향을 확정적으로 해석하지 않습니다.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108–112분 (4분)</a:t>
            </a:r>
          </a:p>
          <a:p/>
          <a:p>
            <a:r>
              <a:t>Leu는 leucine의 약자이며 대표적인 비극성 곁사슬을 갖습니다. Met793과 Leu718 두 잔기만 표시한 그림으로, 실제 포켓에는 다른 잔기들도 있습니다. 좌표상 Leu A718 CD2와 IRE A2020 CAA의 거리는 3.737 Å입니다. 이는 해당 곁사슬과 약물의 중원자 쌍 중 최소거리로, 수업에서는 수치를 암기시키지 않습니다. 탄소 주변의 접촉과 물 노출 변화라는 설명을 받습니다. 근접한 탄소 간에 새 공유결합이 생겼다는 설명은 수정합니다.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112–117분 (5분)</a:t>
            </a:r>
          </a:p>
          <a:p/>
          <a:p>
            <a:r>
              <a:t>Met 곁사슬의 이름이나 소수성 분류만으로 잔기 전체를 판단하면 틀릴 수 있다는 핵심 장면입니다. 주사슬의 N–H가 주개, 약물 고리의 N이 받개인 수소결합을 원논문에서 설명합니다. 이 좌표에는 H가 없고 보라색 선은 N에서 N까지 표시했습니다. 순전하가 반대인 이온 두 개를 나타낸 선이 아닙니다. PDB 원자명은 MET A793 N과 IRE A2020 N3이며 거리는 2.670 Å입니다. 소수점 셋째 자리는 모델에서 계산한 정밀도일 뿐 실험 정확도를 뜻하지 않습니다. 구조 그림만 처음 본 학생의 답은 '수소결합 후보'로 표현하도록 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117–120분 (3분)</a:t>
            </a:r>
          </a:p>
          <a:p/>
          <a:p>
            <a:r>
              <a:t>결합 그림에 좋은 점선 하나를 추가하는 것만으로 더 좋은 약물이 되지는 않습니다. 물속에서는 약물과 단백질이 이미 물과 상호작용합니다. 결합 후 생기는 접촉과 잃거나 바뀌는 접촉을 함께 생각해야 합니다. 또 분자가 가질 수 있는 여러 형태와 운동이 달라집니다. 자유에너지나 엔트로피 식은 도입하지 않고 '전체 변화의 결과'라는 사고방식만 남깁니다. 도킹 점수와 실제 결합 실험의 차이는 마지막 시간에 다룹니다.</a:t>
            </a:r>
          </a:p>
          <a:p/>
          <a:p>
            <a:r>
              <a:t>출처</a:t>
            </a:r>
          </a:p>
          <a:p>
            <a:r>
              <a:t>OpenStax Biology 2e, 2.2: 물과 극성</a:t>
            </a:r>
          </a:p>
          <a:p>
            <a:r>
              <a:t>https://openstax.org/books/biology-2e/pages/2-2-water</a:t>
            </a:r>
          </a:p>
          <a:p>
            <a:r>
              <a:t>AutoDock Vina: Frequently Asked Questions</a:t>
            </a:r>
          </a:p>
          <a:p>
            <a:r>
              <a:t>https://autodock-vina.readthedocs.io/en/latest/faq.html</a:t>
            </a:r>
          </a:p>
          <a:p>
            <a:r>
              <a:t>GROMACS: Introduction to Molecular Dynamics</a:t>
            </a:r>
          </a:p>
          <a:p>
            <a:r>
              <a:t>https://tutorials.gromacs.org/md-intro-tutorial.html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120–125분 (5분)</a:t>
            </a:r>
          </a:p>
          <a:p/>
          <a:p>
            <a:r>
              <a:t>각 문장을 관찰, 가능한 해석, 근거 부족으로 분류합니다. 혼자 1분, 짝 설명 2분, 전체 확인 2분입니다. 기대 답은 ① 관찰 ② 가능한 해석 ③ 근거 부족입니다. ②는 원논문 근거까지 보면 더 뒷받침되지만, 그림만으로 말할 때는 근거의 수준을 구별합니다. ③은 결합 세기 비교 자료도 없으며 결합이 세포나 환자에서의 효과로 바로 이어진다는 보장도 없습니다. 약물 효능을 예측했다고 말하지 않도록 합니다.</a:t>
            </a:r>
          </a:p>
          <a:p/>
          <a:p>
            <a:r>
              <a:t>출처</a:t>
            </a:r>
          </a:p>
          <a:p>
            <a:r>
              <a:t>RCSB PDB 2ITY: EGFR kinase–gefitinib</a:t>
            </a:r>
          </a:p>
          <a:p>
            <a:r>
              <a:t>https://www.rcsb.org/structure/2ITY</a:t>
            </a:r>
          </a:p>
          <a:p>
            <a:r>
              <a:t>Yun et al. (2007), Cancer Cell 11:217–227</a:t>
            </a:r>
          </a:p>
          <a:p>
            <a:r>
              <a:t>https://doi.org/10.1016/j.ccr.2006.12.017</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125–135분 (10분)</a:t>
            </a:r>
          </a:p>
          <a:p/>
          <a:p>
            <a:r>
              <a:t>10분간 쉽니다. 재개 후 학생이 다음에 볼 정보를 말하게 하고 강사가 그림을 전환합니다. 인터넷이나 분자 뷰어가 없어도 뒤의 연속 그림으로 진행할 수 있습니다.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135–138분 (3분)</a:t>
            </a:r>
          </a:p>
          <a:p/>
          <a:p>
            <a:r>
              <a:t>먼저 한 학생에게 단백질과 약물을 구별하게 합니다. 다른 학생에게 다음 화면에서 보고 싶은 정보를 말하게 합니다. 기대 응답은 약물 주변 포켓 확대입니다. 이 그림은 도입 그림을 의도적으로 다시 사용해 학습 전후의 읽기 능력을 비교합니다. 라이브 뷰어를 사용한다면 2ITY 구조를 열고 단백질 cartoon, IRE sticks를 표시합니다. 라이브 조작 없이도 다음 슬라이드만으로 진행 가능합니다.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138–142분 (4분)</a:t>
            </a:r>
          </a:p>
          <a:p/>
          <a:p>
            <a:r>
              <a:t>학생의 구두 지시에 따라 포켓을 가리킵니다. 단백질 표면이라는 답에서 한 단계 더 들어가 '주변 아미노산과 원자'를 보자고 이끕니다. 표면 뒤에 가려진 원자를 보기 위해 표면을 숨기거나 투명하게 하고 sticks를 사용한다는 목적을 설명합니다. 이미 본 포켓 그림의 재사용은 조작의 목적을 학생이 말하게 하기 위한 의도적인 반복입니다.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142–146분 (4분)</a:t>
            </a:r>
          </a:p>
          <a:p/>
          <a:p>
            <a:r>
              <a:t>이 그림의 선택 기준은 약물 중원자에서 4.5 Å 이내에 원자가 하나라도 있는 단백질 잔기를 통째로 표시한 것입니다. 4.5 Å는 보기 편하게 정한 검색 범위이며 수소결합 판정 기준이 아닙니다. 주변을 모두 표시하면 해석에 방해될 정도로 복잡할 수 있으므로 Met793과 Leu718을 선택해 다음 그림으로 이동합니다. 특정 거리 안의 잔기라는 사실과 실제 결합에 중요한 잔기라는 주장을 구별합니다.</a:t>
            </a:r>
          </a:p>
          <a:p/>
          <a:p>
            <a:r>
              <a:t>출처</a:t>
            </a:r>
          </a:p>
          <a:p>
            <a:r>
              <a:t>RCSB PDB 2ITY: EGFR kinase–gefitinib</a:t>
            </a:r>
          </a:p>
          <a:p>
            <a:r>
              <a:t>https://www.rcsb.org/structure/2ITY</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146–151분 (5분)</a:t>
            </a:r>
          </a:p>
          <a:p/>
          <a:p>
            <a:r>
              <a:t>Leu718은 비극성 곁사슬 탄소의 근접, Met793은 주사슬 N과 약물 고리 N의 접촉을 말하게 합니다. 잔기 이름만 나열하는 답에는 '그 잔기의 어느 원자 또는 어느 부분인가'를 되묻습니다. 관찰은 위치와 형태, 해석은 가능한 결합 기여입니다. 실제 수소 원자가 없으므로 이 그림에서는 H의 방향을 직접 관찰했다고 말할 수 없습니다. 원논문 근거와 구조에서 얻는 관찰을 나누어 설명합니다.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151–155분 (4분)</a:t>
            </a:r>
          </a:p>
          <a:p/>
          <a:p>
            <a:r>
              <a:t>학생에게 이 문장을 그대로 암기시키기보다 문장의 역할을 읽게 합니다. 첫 문장은 위치, 둘째는 잔기와 특징에 근거한 해석, 셋째는 판단의 한계입니다. 한 학생이 같은 내용을 자기 표현으로 30초 동안 설명하도록 합니다. 틀린 부분을 강사가 바로 정답으로 덮기보다 다른 학생이 추가 근거를 제시하게 합니다. 다음 평가는 같은 표적에 다른 약물이 결합한 그림입니다.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155–160분 (5분)</a:t>
            </a:r>
          </a:p>
          <a:p/>
          <a:p>
            <a:r>
              <a:t>학생용 활동지 2쪽을 사용합니다. 이 평가에서는 erlotinib의 약리학적 지식을 요구하지 않습니다. 같은 표적이라도 새 리간드와 새 그림에서 구조를 읽는 방법을 적용하는지 확인합니다. 1M17의 리간드 이름은 AQ4, auth 체인 A 잔기999입니다. 1M17은 원문 PDB 번호를 사용하며 UniProt 번호와 +24 차이가 있습니다. 따라서 이 그림의 Met769는 2ITY의 Met793에 대응합니다. 학생 답안에서는 각 그림에 표시된 번호를 그대로 사용하게 하고 번호 차이는 채점 대상에서 제외합니다.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160–167분 (7분)</a:t>
            </a:r>
          </a:p>
          <a:p/>
          <a:p>
            <a:r>
              <a:t>범례를 반드시 같이 제공합니다: Leu764의 곁사슬은 비극성이고, Met769의 주사슬 N–H는 수소결합 주개가 될 수 있습니다. 약물의 표시된 고리 N은 받개 후보입니다. 4분 개별 답안 작성 후 3분 짝과 비교합니다. 채점은 결합공간2점, 주변잔기2점, 가능한 기여4점(잔기별 특징1+연결설명1), 한계와이유2점, 총10점입니다. 이름 암기가 아니라 근거 연결을 평가합니다. 만점을 임의의 합격선으로 삼지 않으며, 특히 주사슬/곁사슬 혼동이 남아 있는지 확인합니다.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167–172분 (5분)</a:t>
            </a:r>
          </a:p>
          <a:p/>
          <a:p>
            <a:r>
              <a:t>최소 모범답은 포켓을 제대로 표시하고 두 잔기를 특징에 연결하는 것입니다. 1M17 좌표에서 Leu764 CB–AQ4 C1은 3.431 Å, Met769 N–AQ4 N2는 2.699 Å입니다. 모든 수치는 좌표 모델에서 계산했습니다. 보라색 선은 N···N 접촉이고 수소를 직접 관찰한 그림이 아닙니다. 구조에서의 근접을 공유결합으로 설명하거나 Met769의 황 원자가 점선 상대라고 설명하면 수정합니다. 2ITY와 1M17의 거리가 비슷하다는 이유로 두 약물의 결합력이나 효능이 같다고 결론 내리지 않도록 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172–175분 (3분)</a:t>
            </a:r>
          </a:p>
          <a:p/>
          <a:p>
            <a:r>
              <a:t>이번 수업의 성공 기준을 다시 확인합니다. 약물을 새로 합성하거나 약효를 맞히는 것이 아니라, 구조에서 근거를 찾아 다음에 검증할 가설을 세우는 단계입니다. 예를 들어 약물 부분을 바꾸었을 때 접촉이 달라질 수 있다는 가설을 낼 수 있지만 더 잘 듣는 약이라고 확정할 수는 없습니다. 이후 계산도 각각의 가정을 가진 추가 근거이며 실험을 자동으로 대체하지 않습니다.</a:t>
            </a:r>
          </a:p>
          <a:p/>
          <a:p>
            <a:r>
              <a:t>출처</a:t>
            </a:r>
          </a:p>
          <a:p>
            <a:r>
              <a:t>Yun et al. (2007), Cancer Cell 11:217–227</a:t>
            </a:r>
          </a:p>
          <a:p>
            <a:r>
              <a:t>https://doi.org/10.1016/j.ccr.2006.12.017</a:t>
            </a:r>
          </a:p>
          <a:p>
            <a:r>
              <a:t>Stamos et al. (2002), J Biol Chem 277:46265–46272</a:t>
            </a:r>
          </a:p>
          <a:p>
            <a:r>
              <a:t>https://doi.org/10.1074/jbc.M207135200</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175–178분 (3분)</a:t>
            </a:r>
          </a:p>
          <a:p/>
          <a:p>
            <a:r>
              <a:t>전체 과정은 세 번의 3시간으로 총9시간입니다. MD와 docking을 합쳐 마지막3시간임을 분명히 합니다. AI 구조 시간에는 AlphaFold 계열 구조의 신뢰도와 빠진 생물학적 맥락을, 마지막 시간에는 MD의 시간 변화와 docking의 후보 자세 및 점수 해석을 다룰 수 있습니다. 오늘은 알고리즘, 계산 실행, 서버 이용법을 소개하지 않습니다. 높은 구조 예측 신뢰도가 높은 결합력이나 약효를 뜻하지 않는다는 연결만 남깁니다.</a:t>
            </a:r>
          </a:p>
          <a:p/>
          <a:p>
            <a:r>
              <a:t>출처</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178–180분 (2분)</a:t>
            </a:r>
          </a:p>
          <a:p/>
          <a:p>
            <a:r>
              <a:t>마지막 구두 확인으로 'Met의 곁사슬이 비극성이면 그 잔기는 수소결합을 못 하나요?'라고 묻습니다. 기대 답은 주사슬의 N–H와 C=O는 수소결합에 참여할 수 있다는 것입니다. 오늘 가장 헷갈린 용어 하나를 종이에 적어 내게 하면 다음 수업 도입에서 다시 확인할 수 있습니다. 준비된 답을 외운 학생보다 자기 말로 근거를 연결한 학생을 성취 사례로 피드백합니다.</a:t>
            </a:r>
          </a:p>
          <a:p/>
          <a:p>
            <a:r>
              <a:t>출처</a:t>
            </a:r>
          </a:p>
          <a:p>
            <a:r>
              <a:t>OpenStax Biology 2e, 3.4: 아미노산과 단백질</a:t>
            </a:r>
          </a:p>
          <a:p>
            <a:r>
              <a:t>https://openstax.org/books/biology-2e/pages/3-4-proteins</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수업 이후 찾아볼 자료입니다. OpenStax 그림은 해당 페이지에 저작자와 라이선스를 표시했습니다. 강의 문장과 활동은 수업 목적에 맞게 작성했습니다. 분자 그림은 공개 PDB 원좌표를 PyMOL로 표현한 것입니다.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PDB-101: Methods for Determining Structure</a:t>
            </a:r>
          </a:p>
          <a:p>
            <a:r>
              <a:t>https://pdb101.rcsb.org/learn/guide-to-understanding-pdb-data/methods-for-determining-structure</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Yun et al. Cancer Cell 2007과 Stamos et al. JBC 2002가 사례 구조의 원논문입니다. 상세 출처와 좌표 원자쌍은 관련 슬라이드의 발표자 노트에서 확인할 수 있습니다. 전체 강의는 첫3시간 자료이며 후속6시간을 위한 자료 자체는 포함하지 않습니다.</a:t>
            </a:r>
          </a:p>
          <a:p/>
          <a:p>
            <a:r>
              <a:t>출처</a:t>
            </a:r>
          </a:p>
          <a:p>
            <a:r>
              <a:t>RCSB PDB 2ITY: EGFR kinase–gefitinib</a:t>
            </a:r>
          </a:p>
          <a:p>
            <a:r>
              <a:t>https://www.rcsb.org/structure/2ITY</a:t>
            </a:r>
          </a:p>
          <a:p>
            <a:r>
              <a:t>Yun et al. (2007), Cancer Cell 11:217–227</a:t>
            </a:r>
          </a:p>
          <a:p>
            <a:r>
              <a:t>https://doi.org/10.1016/j.ccr.2006.12.017</a:t>
            </a:r>
          </a:p>
          <a:p>
            <a:r>
              <a:t>RCSB PDB 1M17: EGFR kinase–erlotinib</a:t>
            </a:r>
          </a:p>
          <a:p>
            <a:r>
              <a:t>https://www.rcsb.org/structure/1M17</a:t>
            </a:r>
          </a:p>
          <a:p>
            <a:r>
              <a:t>Stamos et al. (2002), J Biol Chem 277:46265–46272</a:t>
            </a:r>
          </a:p>
          <a:p>
            <a:r>
              <a:t>https://doi.org/10.1074/jbc.M207135200</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stax.org/books/biology-2e/pages/2-1-atoms-isotopes-ions-and-molecules-the-building-blocks" TargetMode="External"/><Relationship Id="rId3" Type="http://schemas.openxmlformats.org/officeDocument/2006/relationships/hyperlink" Target="https://openstax.org/books/biology-2e/pages/2-2-water" TargetMode="External"/><Relationship Id="rId4" Type="http://schemas.openxmlformats.org/officeDocument/2006/relationships/hyperlink" Target="https://openstax.org/books/biology-2e/pages/3-4-proteins" TargetMode="External"/><Relationship Id="rId5" Type="http://schemas.openxmlformats.org/officeDocument/2006/relationships/hyperlink" Target="https://pdb101.rcsb.org/learn/guide-to-understanding-pdb-data/molecular-graphics-programs" TargetMode="External"/><Relationship Id="rId6" Type="http://schemas.openxmlformats.org/officeDocument/2006/relationships/hyperlink" Target="https://pdb101.rcsb.org/learn/guide-to-understanding-pdb-data/missing-coordinates" TargetMode="External"/><Relationship Id="rId7" Type="http://schemas.openxmlformats.org/officeDocument/2006/relationships/hyperlink" Target="https://pdb101.rcsb.org/learn/guide-to-understanding-pdb-data/methods-for-determining-structure" TargetMode="External"/><Relationship Id="rId8" Type="http://schemas.openxmlformats.org/officeDocument/2006/relationships/hyperlink" Target="https://www.rcsb.org/structure/2ITY" TargetMode="External"/><Relationship Id="rId9"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rcsb.org/structure/2ITY" TargetMode="External"/><Relationship Id="rId3" Type="http://schemas.openxmlformats.org/officeDocument/2006/relationships/hyperlink" Target="https://doi.org/10.1016/j.ccr.2006.12.017" TargetMode="External"/><Relationship Id="rId4" Type="http://schemas.openxmlformats.org/officeDocument/2006/relationships/hyperlink" Target="https://www.rcsb.org/structure/1M17" TargetMode="External"/><Relationship Id="rId5" Type="http://schemas.openxmlformats.org/officeDocument/2006/relationships/hyperlink" Target="https://doi.org/10.1074/jbc.M207135200" TargetMode="External"/><Relationship Id="rId6" Type="http://schemas.openxmlformats.org/officeDocument/2006/relationships/hyperlink" Target="https://www.ebi.ac.uk/training/online/courses/alphafold/inputs-and-outputs/evaluating-alphafolds-predicted-structures-using-confidence-scores/" TargetMode="External"/><Relationship Id="rId7" Type="http://schemas.openxmlformats.org/officeDocument/2006/relationships/hyperlink" Target="https://tutorials.gromacs.org/md-intro-tutorial.html" TargetMode="External"/><Relationship Id="rId8" Type="http://schemas.openxmlformats.org/officeDocument/2006/relationships/hyperlink" Target="https://autodock-vina.readthedocs.io/en/latest/faq.html" TargetMode="External"/><Relationship Id="rId9"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5486400" cy="457200"/>
          </a:xfrm>
          <a:prstGeom prst="rect">
            <a:avLst/>
          </a:prstGeom>
          <a:noFill/>
        </p:spPr>
        <p:txBody>
          <a:bodyPr wrap="square" lIns="18288" rIns="18288" tIns="18288" bIns="18288">
            <a:spAutoFit/>
          </a:bodyPr>
          <a:lstStyle/>
          <a:p>
            <a:pPr algn="l">
              <a:lnSpc>
                <a:spcPct val="115000"/>
              </a:lnSpc>
            </a:pPr>
            <a:r>
              <a:rPr sz="1700" b="1" lang="ko-KR">
                <a:solidFill>
                  <a:srgbClr val="277F87"/>
                </a:solidFill>
                <a:latin typeface="Arial Unicode MS"/>
                <a:ea typeface="Arial Unicode MS"/>
                <a:cs typeface="Arial Unicode MS"/>
              </a:rPr>
              <a:t>BIOMOLECULE VIEW</a:t>
            </a:r>
          </a:p>
        </p:txBody>
      </p:sp>
      <p:sp>
        <p:nvSpPr>
          <p:cNvPr id="3" name="TextBox 2"/>
          <p:cNvSpPr txBox="1"/>
          <p:nvPr/>
        </p:nvSpPr>
        <p:spPr>
          <a:xfrm>
            <a:off x="640080" y="1417320"/>
            <a:ext cx="5486400" cy="1920240"/>
          </a:xfrm>
          <a:prstGeom prst="rect">
            <a:avLst/>
          </a:prstGeom>
          <a:noFill/>
        </p:spPr>
        <p:txBody>
          <a:bodyPr wrap="square" lIns="18288" rIns="18288" tIns="18288" bIns="18288">
            <a:spAutoFit/>
          </a:bodyPr>
          <a:lstStyle/>
          <a:p>
            <a:pPr algn="l">
              <a:lnSpc>
                <a:spcPct val="115000"/>
              </a:lnSpc>
            </a:pPr>
            <a:r>
              <a:rPr sz="4800" b="1" lang="ko-KR">
                <a:solidFill>
                  <a:srgbClr val="183342"/>
                </a:solidFill>
                <a:latin typeface="Arial Unicode MS"/>
                <a:ea typeface="Arial Unicode MS"/>
                <a:cs typeface="Arial Unicode MS"/>
              </a:rPr>
              <a:t>생체분자</a:t>
            </a:r>
          </a:p>
          <a:p>
            <a:pPr algn="l">
              <a:lnSpc>
                <a:spcPct val="115000"/>
              </a:lnSpc>
            </a:pPr>
            <a:r>
              <a:rPr sz="4800" b="1" lang="ko-KR">
                <a:solidFill>
                  <a:srgbClr val="183342"/>
                </a:solidFill>
                <a:latin typeface="Arial Unicode MS"/>
                <a:ea typeface="Arial Unicode MS"/>
                <a:cs typeface="Arial Unicode MS"/>
              </a:rPr>
              <a:t>구조 읽기</a:t>
            </a:r>
          </a:p>
        </p:txBody>
      </p:sp>
      <p:sp>
        <p:nvSpPr>
          <p:cNvPr id="4" name="TextBox 3"/>
          <p:cNvSpPr txBox="1"/>
          <p:nvPr/>
        </p:nvSpPr>
        <p:spPr>
          <a:xfrm>
            <a:off x="640080" y="3657600"/>
            <a:ext cx="5486400" cy="548640"/>
          </a:xfrm>
          <a:prstGeom prst="rect">
            <a:avLst/>
          </a:prstGeom>
          <a:noFill/>
        </p:spPr>
        <p:txBody>
          <a:bodyPr wrap="square" lIns="18288" rIns="18288" tIns="18288" bIns="18288">
            <a:spAutoFit/>
          </a:bodyPr>
          <a:lstStyle/>
          <a:p>
            <a:pPr algn="l">
              <a:lnSpc>
                <a:spcPct val="115000"/>
              </a:lnSpc>
            </a:pPr>
            <a:r>
              <a:rPr sz="2400" b="0" lang="ko-KR">
                <a:solidFill>
                  <a:srgbClr val="183342"/>
                </a:solidFill>
                <a:latin typeface="Arial Unicode MS"/>
                <a:ea typeface="Arial Unicode MS"/>
                <a:cs typeface="Arial Unicode MS"/>
              </a:rPr>
              <a:t>약물 설계를 위한 첫걸음</a:t>
            </a:r>
          </a:p>
        </p:txBody>
      </p:sp>
      <p:sp>
        <p:nvSpPr>
          <p:cNvPr id="5" name="TextBox 4"/>
          <p:cNvSpPr txBox="1"/>
          <p:nvPr/>
        </p:nvSpPr>
        <p:spPr>
          <a:xfrm>
            <a:off x="640080" y="4617720"/>
            <a:ext cx="5212080" cy="960120"/>
          </a:xfrm>
          <a:prstGeom prst="rect">
            <a:avLst/>
          </a:prstGeom>
          <a:noFill/>
        </p:spPr>
        <p:txBody>
          <a:bodyPr wrap="square" lIns="18288" rIns="18288" tIns="18288" bIns="18288">
            <a:spAutoFit/>
          </a:bodyPr>
          <a:lstStyle/>
          <a:p>
            <a:pPr algn="l">
              <a:lnSpc>
                <a:spcPct val="115000"/>
              </a:lnSpc>
            </a:pPr>
            <a:r>
              <a:rPr sz="1800" b="0" lang="ko-KR">
                <a:solidFill>
                  <a:srgbClr val="5A6A72"/>
                </a:solidFill>
                <a:latin typeface="Arial Unicode MS"/>
                <a:ea typeface="Arial Unicode MS"/>
                <a:cs typeface="Arial Unicode MS"/>
              </a:rPr>
              <a:t>AI 단백질 구조 · MD · docking의 기초</a:t>
            </a:r>
          </a:p>
          <a:p>
            <a:pPr algn="l">
              <a:lnSpc>
                <a:spcPct val="115000"/>
              </a:lnSpc>
            </a:pPr>
            <a:r>
              <a:rPr sz="1800" b="0" lang="ko-KR">
                <a:solidFill>
                  <a:srgbClr val="5A6A72"/>
                </a:solidFill>
                <a:latin typeface="Arial Unicode MS"/>
                <a:ea typeface="Arial Unicode MS"/>
                <a:cs typeface="Arial Unicode MS"/>
              </a:rPr>
              <a:t>한국어 강의 3시간</a:t>
            </a:r>
          </a:p>
        </p:txBody>
      </p:sp>
      <p:pic>
        <p:nvPicPr>
          <p:cNvPr id="6" name="2ITY_whole.png" descr="2ITY whole"/>
          <p:cNvPicPr>
            <a:picLocks noChangeAspect="1"/>
          </p:cNvPicPr>
          <p:nvPr/>
        </p:nvPicPr>
        <p:blipFill>
          <a:blip r:embed="rId2"/>
          <a:srcRect l="25944" t="10640" r="21611" b="17280"/>
          <a:stretch>
            <a:fillRect/>
          </a:stretch>
        </p:blipFill>
        <p:spPr>
          <a:xfrm>
            <a:off x="6186078" y="960120"/>
            <a:ext cx="5412923" cy="5166360"/>
          </a:xfrm>
          <a:prstGeom prst="rect">
            <a:avLst/>
          </a:prstGeom>
        </p:spPr>
      </p:pic>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끝나면 무엇을 할 수 있을까?</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약물이 놓인 결합공간과 주변 잔기 두 개를 찾는다.</a:t>
            </a:r>
          </a:p>
          <a:p>
            <a:pPr algn="l">
              <a:lnSpc>
                <a:spcPct val="115000"/>
              </a:lnSpc>
              <a:spcAft>
                <a:spcPts val="1800"/>
              </a:spcAft>
            </a:pPr>
            <a:r>
              <a:rPr sz="2700" b="0" lang="ko-KR">
                <a:solidFill>
                  <a:srgbClr val="183342"/>
                </a:solidFill>
                <a:latin typeface="Arial Unicode MS"/>
                <a:ea typeface="Arial Unicode MS"/>
                <a:cs typeface="Arial Unicode MS"/>
              </a:rPr>
              <a:t>주사슬·곁사슬의 특징을 근거로 가능한 결합 기여를 설명한다.</a:t>
            </a:r>
          </a:p>
          <a:p>
            <a:pPr algn="l">
              <a:lnSpc>
                <a:spcPct val="115000"/>
              </a:lnSpc>
            </a:pPr>
            <a:r>
              <a:rPr sz="2700" b="0" lang="ko-KR">
                <a:solidFill>
                  <a:srgbClr val="183342"/>
                </a:solidFill>
                <a:latin typeface="Arial Unicode MS"/>
                <a:ea typeface="Arial Unicode MS"/>
                <a:cs typeface="Arial Unicode MS"/>
              </a:rPr>
              <a:t>그림에서 관찰한 사실과 아직 확인하지 못한 추정을 구분한다.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전체 9시간의 연결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시간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중심 질문</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Biomolecule View</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 주변에 무엇이 있는가?</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AI application for protein structure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예측한 구조를 어떻게 해석할까?</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MD &amp; docking simulation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움직임과 결합 자세를 어떻게 살펴볼까?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오늘은 다음 두 수업에서 사용할 구조 읽기의 기초를 만든다.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180분</a:t>
            </a:r>
          </a:p>
        </p:txBody>
      </p:sp>
      <p:graphicFrame>
        <p:nvGraphicFramePr>
          <p:cNvPr id="3" name="Table 2"/>
          <p:cNvGraphicFramePr>
            <a:graphicFrameLocks noGrp="1"/>
          </p:cNvGraphicFramePr>
          <p:nvPr/>
        </p:nvGraphicFramePr>
        <p:xfrm>
          <a:off x="594360" y="1463040"/>
          <a:ext cx="10972799" cy="3794760"/>
        </p:xfrm>
        <a:graphic>
          <a:graphicData uri="http://schemas.openxmlformats.org/drawingml/2006/table">
            <a:tbl>
              <a:tblPr firstRow="1" bandRow="1">
                <a:tableStyleId>{5C22544A-7EE6-4342-B048-85BDC9FD1C3A}</a:tableStyleId>
              </a:tblPr>
              <a:tblGrid>
                <a:gridCol w="4389120"/>
                <a:gridCol w="6583679"/>
              </a:tblGrid>
              <a:tr h="632460">
                <a:tc>
                  <a:txBody>
                    <a:bodyPr wrap="square"/>
                    <a:lstStyle/>
                    <a:p>
                      <a:pPr>
                        <a:lnSpc>
                          <a:spcPct val="108000"/>
                        </a:lnSpc>
                      </a:pPr>
                      <a:r>
                        <a:rPr sz="1800" b="1" lang="ko-KR">
                          <a:solidFill>
                            <a:srgbClr val="FFFFFF"/>
                          </a:solidFill>
                          <a:latin typeface="Arial Unicode MS"/>
                          <a:ea typeface="Arial Unicode MS"/>
                          <a:cs typeface="Arial Unicode MS"/>
                        </a:rPr>
                        <a:t>경과 시간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활동</a:t>
                      </a:r>
                    </a:p>
                  </a:txBody>
                  <a:tcPr marL="164592" marR="146304" marT="73152" marB="45720" anchor="ctr">
                    <a:solidFill>
                      <a:srgbClr val="277F87"/>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0–65분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화학 기초와 단백질의 구성</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65–75분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75–125분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구조 표현과 결합공간 읽기</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125–135분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135–180분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강사 시연 · 그림 해석 평가 · 다음 수업 연결</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73151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강사 시연을 보고, 종이에 표시하고, 말로 근거를 설명한다.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원자와 원소</a:t>
            </a:r>
          </a:p>
        </p:txBody>
      </p:sp>
      <p:graphicFrame>
        <p:nvGraphicFramePr>
          <p:cNvPr id="3" name="Table 2"/>
          <p:cNvGraphicFramePr>
            <a:graphicFrameLocks noGrp="1"/>
          </p:cNvGraphicFramePr>
          <p:nvPr/>
        </p:nvGraphicFramePr>
        <p:xfrm>
          <a:off x="594360" y="1463040"/>
          <a:ext cx="10972800" cy="3794760"/>
        </p:xfrm>
        <a:graphic>
          <a:graphicData uri="http://schemas.openxmlformats.org/drawingml/2006/table">
            <a:tbl>
              <a:tblPr firstRow="1" bandRow="1">
                <a:tableStyleId>{5C22544A-7EE6-4342-B048-85BDC9FD1C3A}</a:tableStyleId>
              </a:tblPr>
              <a:tblGrid>
                <a:gridCol w="3657600"/>
                <a:gridCol w="3657600"/>
                <a:gridCol w="3657600"/>
              </a:tblGrid>
              <a:tr h="632460">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원소 이름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읽을 때 볼 것</a:t>
                      </a:r>
                    </a:p>
                  </a:txBody>
                  <a:tcPr marL="164592" marR="146304" marT="73152" marB="45720" anchor="ctr">
                    <a:solidFill>
                      <a:srgbClr val="277F87"/>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C</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탄소</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분자의 뼈대를 따라간다.</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수소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그림에서 생략되기도 한다.</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질소</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O</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산소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S</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황</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일부 아미노산에서 만난다.</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73151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그림의 색은 표시 규칙이며 원자의 고유색이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공유결합: 원자를 잇는 연결</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H—O—H</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공유결합은 원자들이 전자를 공유하는 연결이다.</a:t>
            </a:r>
          </a:p>
          <a:p>
            <a:pPr algn="l">
              <a:lnSpc>
                <a:spcPct val="115000"/>
              </a:lnSpc>
              <a:spcAft>
                <a:spcPts val="1800"/>
              </a:spcAft>
            </a:pPr>
            <a:r>
              <a:rPr sz="2500" b="0" lang="ko-KR">
                <a:solidFill>
                  <a:srgbClr val="183342"/>
                </a:solidFill>
                <a:latin typeface="Arial Unicode MS"/>
                <a:ea typeface="Arial Unicode MS"/>
                <a:cs typeface="Arial Unicode MS"/>
              </a:rPr>
              <a:t>구조식의 선은 어떤 원자들이 연결되어 있는지 보여준다.</a:t>
            </a:r>
          </a:p>
          <a:p>
            <a:pPr algn="l">
              <a:lnSpc>
                <a:spcPct val="115000"/>
              </a:lnSpc>
            </a:pPr>
            <a:r>
              <a:rPr sz="2500" b="0" lang="ko-KR">
                <a:solidFill>
                  <a:srgbClr val="183342"/>
                </a:solidFill>
                <a:latin typeface="Arial Unicode MS"/>
                <a:ea typeface="Arial Unicode MS"/>
                <a:cs typeface="Arial Unicode MS"/>
              </a:rPr>
              <a:t>공간에서 가까이 보이는 원자가 모두 공유결합한 것은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약물의 두 가지 표현</a:t>
            </a:r>
          </a:p>
        </p:txBody>
      </p:sp>
      <p:pic>
        <p:nvPicPr>
          <p:cNvPr id="3" name="2ITY_ligand.png" descr="2ITY ligand"/>
          <p:cNvPicPr>
            <a:picLocks noChangeAspect="1"/>
          </p:cNvPicPr>
          <p:nvPr/>
        </p:nvPicPr>
        <p:blipFill>
          <a:blip r:embed="rId2"/>
          <a:srcRect l="23222" t="19920" r="17611" b="25600"/>
          <a:stretch>
            <a:fillRect/>
          </a:stretch>
        </p:blipFill>
        <p:spPr>
          <a:xfrm>
            <a:off x="594360" y="1414261"/>
            <a:ext cx="5372100" cy="3435117"/>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막대: 원자의 연결을 따라가기</a:t>
            </a:r>
          </a:p>
        </p:txBody>
      </p:sp>
      <p:pic>
        <p:nvPicPr>
          <p:cNvPr id="5" name="2ITY_ligand_spheres.png" descr="2ITY ligand spheres"/>
          <p:cNvPicPr>
            <a:picLocks noChangeAspect="1"/>
          </p:cNvPicPr>
          <p:nvPr/>
        </p:nvPicPr>
        <p:blipFill>
          <a:blip r:embed="rId3"/>
          <a:srcRect l="17833" t="12160" r="12167" b="18960"/>
          <a:stretch>
            <a:fillRect/>
          </a:stretch>
        </p:blipFill>
        <p:spPr>
          <a:xfrm>
            <a:off x="6350898" y="1371600"/>
            <a:ext cx="5151863" cy="3520440"/>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구: 차지하는 공간을 살펴보기</a:t>
            </a:r>
          </a:p>
        </p:txBody>
      </p:sp>
      <p:sp>
        <p:nvSpPr>
          <p:cNvPr id="7" name="TextBox 6"/>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막대는 연결을, 구는 원자의 크기와 공간 배치를 강조합니다.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순전하와 부분전하</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구분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표시 예</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순전하</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Na⁺, Cl⁻</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각 이온 전체의 전하가 +1, −1이다.</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부분전하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δ⁺, δ⁻</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분자 안에서 전자가 상대적으로 덜·더 모인다.</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물의 예</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전체 0 · O는 δ⁻ · H는 δ⁺</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중성이면서 극성을 띨 수 있다.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순전하가 0이어도 분자 안에 부분전하가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물은 중성이면서 극성이다</a:t>
            </a:r>
          </a:p>
        </p:txBody>
      </p:sp>
      <p:pic>
        <p:nvPicPr>
          <p:cNvPr id="3" name="water.png" descr="water"/>
          <p:cNvPicPr>
            <a:picLocks noChangeAspect="1"/>
          </p:cNvPicPr>
          <p:nvPr/>
        </p:nvPicPr>
        <p:blipFill>
          <a:blip r:embed="rId2"/>
          <a:srcRect/>
          <a:stretch>
            <a:fillRect/>
          </a:stretch>
        </p:blipFill>
        <p:spPr>
          <a:xfrm>
            <a:off x="914399" y="1325880"/>
            <a:ext cx="60350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물의 전자는 산소 쪽으로 치우칩니다.</a:t>
            </a:r>
          </a:p>
          <a:p>
            <a:pPr algn="l">
              <a:lnSpc>
                <a:spcPct val="115000"/>
              </a:lnSpc>
              <a:spcAft>
                <a:spcPts val="1800"/>
              </a:spcAft>
            </a:pPr>
            <a:r>
              <a:rPr sz="2200" b="0" lang="ko-KR">
                <a:solidFill>
                  <a:srgbClr val="183342"/>
                </a:solidFill>
                <a:latin typeface="Arial Unicode MS"/>
                <a:ea typeface="Arial Unicode MS"/>
                <a:cs typeface="Arial Unicode MS"/>
              </a:rPr>
              <a:t>O는 δ⁻, H는 δ⁺이며 물 전체의 순전하는 0입니다.</a:t>
            </a:r>
          </a:p>
          <a:p>
            <a:pPr algn="l">
              <a:lnSpc>
                <a:spcPct val="115000"/>
              </a:lnSpc>
            </a:pPr>
            <a:r>
              <a:rPr sz="2200" b="0" lang="ko-KR">
                <a:solidFill>
                  <a:srgbClr val="183342"/>
                </a:solidFill>
                <a:latin typeface="Arial Unicode MS"/>
                <a:ea typeface="Arial Unicode MS"/>
                <a:cs typeface="Arial Unicode MS"/>
              </a:rPr>
              <a:t>주변의 물도 단백질·약물과 상호작용합니다.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비극성 부분</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살펴볼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물속에서 생각할 점</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전하 또는 극성이 있는 부분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물의 극성과 상호작용할 수 있다.</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탄소·수소가 많은 비극성 부분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물에 노출되는 면적을 줄이는 경향에 기여할 수 있다.</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여러 특징이 섞인 분자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분자 전체를 한 단어로 단정하지 않는다.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한 단백질이나 약물 안에 두 종류의 부분이 함께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수소결합은 공유결합과 다르다</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O—H···O     N—H···N</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O나 N에 붙은 H가 적절한 받개 원자와 상호작용할 수 있다.</a:t>
            </a:r>
          </a:p>
          <a:p>
            <a:pPr algn="l">
              <a:lnSpc>
                <a:spcPct val="115000"/>
              </a:lnSpc>
              <a:spcAft>
                <a:spcPts val="1800"/>
              </a:spcAft>
            </a:pPr>
            <a:r>
              <a:rPr sz="2500" b="0" lang="ko-KR">
                <a:solidFill>
                  <a:srgbClr val="183342"/>
                </a:solidFill>
                <a:latin typeface="Arial Unicode MS"/>
                <a:ea typeface="Arial Unicode MS"/>
                <a:cs typeface="Arial Unicode MS"/>
              </a:rPr>
              <a:t>실선은 공유결합, 점선은 수소결합을 나타내는 데 흔히 사용한다.</a:t>
            </a:r>
          </a:p>
          <a:p>
            <a:pPr algn="l">
              <a:lnSpc>
                <a:spcPct val="115000"/>
              </a:lnSpc>
            </a:pPr>
            <a:r>
              <a:rPr sz="2500" b="0" lang="ko-KR">
                <a:solidFill>
                  <a:srgbClr val="183342"/>
                </a:solidFill>
                <a:latin typeface="Arial Unicode MS"/>
                <a:ea typeface="Arial Unicode MS"/>
                <a:cs typeface="Arial Unicode MS"/>
              </a:rPr>
              <a:t>원자의 종류·연결·거리·방향을 함께 보아야 한다.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형성평가 ①: 기호를 읽자</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① 물의 순전하가 0이면 물은 비극성이다. O / X</a:t>
            </a:r>
          </a:p>
          <a:p>
            <a:pPr algn="l">
              <a:lnSpc>
                <a:spcPct val="115000"/>
              </a:lnSpc>
              <a:spcAft>
                <a:spcPts val="1800"/>
              </a:spcAft>
            </a:pPr>
            <a:r>
              <a:rPr sz="2800" b="0" lang="ko-KR">
                <a:solidFill>
                  <a:srgbClr val="183342"/>
                </a:solidFill>
                <a:latin typeface="Arial Unicode MS"/>
                <a:ea typeface="Arial Unicode MS"/>
                <a:cs typeface="Arial Unicode MS"/>
              </a:rPr>
              <a:t>② O—H의 실선과 O—H···O의 점선은 같은 종류의 결합이다. O / X</a:t>
            </a:r>
          </a:p>
          <a:p>
            <a:pPr algn="l">
              <a:lnSpc>
                <a:spcPct val="115000"/>
              </a:lnSpc>
            </a:pPr>
            <a:r>
              <a:rPr sz="2800" b="0" lang="ko-KR">
                <a:solidFill>
                  <a:srgbClr val="183342"/>
                </a:solidFill>
                <a:latin typeface="Arial Unicode MS"/>
                <a:ea typeface="Arial Unicode MS"/>
                <a:cs typeface="Arial Unicode MS"/>
              </a:rPr>
              <a:t>③ 한 약물에 극성·비극성 부분이 함께 있을 수 있다. O / X</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해설 ①: 중성과 비극성</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① X · 전체 순전하가 0이어도 전자가 한쪽으로 치우칠 수 있다.</a:t>
            </a:r>
          </a:p>
          <a:p>
            <a:pPr algn="l">
              <a:lnSpc>
                <a:spcPct val="115000"/>
              </a:lnSpc>
              <a:spcAft>
                <a:spcPts val="1800"/>
              </a:spcAft>
            </a:pPr>
            <a:r>
              <a:rPr sz="2700" b="0" lang="ko-KR">
                <a:solidFill>
                  <a:srgbClr val="183342"/>
                </a:solidFill>
                <a:latin typeface="Arial Unicode MS"/>
                <a:ea typeface="Arial Unicode MS"/>
                <a:cs typeface="Arial Unicode MS"/>
              </a:rPr>
              <a:t>② X · 실선은 공유결합, 여기의 점선은 수소결합을 나타낸다.</a:t>
            </a:r>
          </a:p>
          <a:p>
            <a:pPr algn="l">
              <a:lnSpc>
                <a:spcPct val="115000"/>
              </a:lnSpc>
            </a:pPr>
            <a:r>
              <a:rPr sz="2700" b="0" lang="ko-KR">
                <a:solidFill>
                  <a:srgbClr val="183342"/>
                </a:solidFill>
                <a:latin typeface="Arial Unicode MS"/>
                <a:ea typeface="Arial Unicode MS"/>
                <a:cs typeface="Arial Unicode MS"/>
              </a:rPr>
              <a:t>③ O · 분자의 부분마다 전하·극성·노출 환경이 다를 수 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아미노산의 공통 뼈대</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⁺H₃N—Cα(H)(R)—COO⁻</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대표적인 α-아미노산은 중심 탄소 Cα에 아미노기·카복실기·H·R이 연결된다.</a:t>
            </a:r>
          </a:p>
          <a:p>
            <a:pPr algn="l">
              <a:lnSpc>
                <a:spcPct val="115000"/>
              </a:lnSpc>
              <a:spcAft>
                <a:spcPts val="1800"/>
              </a:spcAft>
            </a:pPr>
            <a:r>
              <a:rPr sz="2500" b="0" lang="ko-KR">
                <a:solidFill>
                  <a:srgbClr val="183342"/>
                </a:solidFill>
                <a:latin typeface="Arial Unicode MS"/>
                <a:ea typeface="Arial Unicode MS"/>
                <a:cs typeface="Arial Unicode MS"/>
              </a:rPr>
              <a:t>R은 곁사슬이며 아미노산마다 달라지는 부분이다.</a:t>
            </a:r>
          </a:p>
          <a:p>
            <a:pPr algn="l">
              <a:lnSpc>
                <a:spcPct val="115000"/>
              </a:lnSpc>
            </a:pPr>
            <a:r>
              <a:rPr sz="2500" b="0" lang="ko-KR">
                <a:solidFill>
                  <a:srgbClr val="183342"/>
                </a:solidFill>
                <a:latin typeface="Arial Unicode MS"/>
                <a:ea typeface="Arial Unicode MS"/>
                <a:cs typeface="Arial Unicode MS"/>
              </a:rPr>
              <a:t>유리 아미노산은 중성 pH에서 보통 NH₃⁺와 COO⁻ 형태를 가진다.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주사슬과 곁사슬을 나누어 보기</a:t>
            </a:r>
          </a:p>
        </p:txBody>
      </p:sp>
      <p:pic>
        <p:nvPicPr>
          <p:cNvPr id="3" name="methionine_residue.png" descr="methionine residue"/>
          <p:cNvPicPr>
            <a:picLocks noChangeAspect="1"/>
          </p:cNvPicPr>
          <p:nvPr/>
        </p:nvPicPr>
        <p:blipFill>
          <a:blip r:embed="rId2"/>
          <a:srcRect l="21556" t="31680" r="26056" b="25360"/>
          <a:stretch>
            <a:fillRect/>
          </a:stretch>
        </p:blipFill>
        <p:spPr>
          <a:xfrm>
            <a:off x="502920" y="1636344"/>
            <a:ext cx="6857999" cy="3905351"/>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주사슬은 여러 잔기를 이어 주는 공통 연결 경로다.</a:t>
            </a:r>
          </a:p>
          <a:p>
            <a:pPr algn="l">
              <a:lnSpc>
                <a:spcPct val="115000"/>
              </a:lnSpc>
              <a:spcAft>
                <a:spcPts val="1800"/>
              </a:spcAft>
            </a:pPr>
            <a:r>
              <a:rPr sz="2200" b="0" lang="ko-KR">
                <a:solidFill>
                  <a:srgbClr val="183342"/>
                </a:solidFill>
                <a:latin typeface="Arial Unicode MS"/>
                <a:ea typeface="Arial Unicode MS"/>
                <a:cs typeface="Arial Unicode MS"/>
              </a:rPr>
              <a:t>곁사슬은 중심 탄소 Cα에서 갈라져 나오는 부분이다.</a:t>
            </a:r>
          </a:p>
          <a:p>
            <a:pPr algn="l">
              <a:lnSpc>
                <a:spcPct val="115000"/>
              </a:lnSpc>
            </a:pPr>
            <a:r>
              <a:rPr sz="2200" b="0" lang="ko-KR">
                <a:solidFill>
                  <a:srgbClr val="183342"/>
                </a:solidFill>
                <a:latin typeface="Arial Unicode MS"/>
                <a:ea typeface="Arial Unicode MS"/>
                <a:cs typeface="Arial Unicode MS"/>
              </a:rPr>
              <a:t>이 그림의 주황색은 methionine의 곁사슬을 강조한 표시다.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대표 곁사슬의 네 가지 특징</a:t>
            </a:r>
          </a:p>
        </p:txBody>
      </p:sp>
      <p:graphicFrame>
        <p:nvGraphicFramePr>
          <p:cNvPr id="3" name="Table 2"/>
          <p:cNvGraphicFramePr>
            <a:graphicFrameLocks noGrp="1"/>
          </p:cNvGraphicFramePr>
          <p:nvPr/>
        </p:nvGraphicFramePr>
        <p:xfrm>
          <a:off x="594360" y="1463040"/>
          <a:ext cx="10972800" cy="3474720"/>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대표 특징</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예</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곁사슬에서 볼 단서</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대체로 비극성</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Leu · Met</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탄소·수소가 많은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극성 · 보통 무전하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—OH</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중성 pH에서 보통 음전하</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—COO⁻</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중성 pH에서 보통 양전하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Lys</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—NH₃⁺</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전하 상태는 pH와 주변 환경에 따라 달라질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곁사슬에서 단서 찾기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곁사슬</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Cα 뒤에 연결된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읽을 특징</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Leu</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—CH₂—CH(CH₃)₂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가지 친 비극성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—CH₂—OH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극성인 OH 부분</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—CH₂—COO⁻</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음전하를 띤 부분</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이 특징은 가능한 상호작용의 단서이며 결합 세기의 답은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펩타이드결합으로 연결하기</a:t>
            </a:r>
          </a:p>
        </p:txBody>
      </p:sp>
      <p:pic>
        <p:nvPicPr>
          <p:cNvPr id="3" name="peptide.png" descr="peptide"/>
          <p:cNvPicPr>
            <a:picLocks noChangeAspect="1"/>
          </p:cNvPicPr>
          <p:nvPr/>
        </p:nvPicPr>
        <p:blipFill>
          <a:blip r:embed="rId2"/>
          <a:srcRect/>
          <a:stretch>
            <a:fillRect/>
          </a:stretch>
        </p:blipFill>
        <p:spPr>
          <a:xfrm>
            <a:off x="787425" y="1325880"/>
            <a:ext cx="6288989"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한 아미노산의 카복실기 쪽 C와 다음 아미노산의 N이 연결된다.</a:t>
            </a:r>
          </a:p>
          <a:p>
            <a:pPr algn="l">
              <a:lnSpc>
                <a:spcPct val="115000"/>
              </a:lnSpc>
              <a:spcAft>
                <a:spcPts val="1800"/>
              </a:spcAft>
            </a:pPr>
            <a:r>
              <a:rPr sz="2200" b="0" lang="ko-KR">
                <a:solidFill>
                  <a:srgbClr val="183342"/>
                </a:solidFill>
                <a:latin typeface="Arial Unicode MS"/>
                <a:ea typeface="Arial Unicode MS"/>
                <a:cs typeface="Arial Unicode MS"/>
              </a:rPr>
              <a:t>펩타이드결합은 단백질 주사슬을 잇는 공유결합이다.</a:t>
            </a:r>
          </a:p>
          <a:p>
            <a:pPr algn="l">
              <a:lnSpc>
                <a:spcPct val="115000"/>
              </a:lnSpc>
            </a:pPr>
            <a:r>
              <a:rPr sz="2200" b="0" lang="ko-KR">
                <a:solidFill>
                  <a:srgbClr val="183342"/>
                </a:solidFill>
                <a:latin typeface="Arial Unicode MS"/>
                <a:ea typeface="Arial Unicode MS"/>
                <a:cs typeface="Arial Unicode MS"/>
              </a:rPr>
              <a:t>그림은 연결 원리를 보이기 위해 전하를 생략했다.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아미노산에서 잔기와 사슬로</a:t>
            </a:r>
          </a:p>
        </p:txBody>
      </p:sp>
      <p:pic>
        <p:nvPicPr>
          <p:cNvPr id="3" name="peptide_fragment.png" descr="peptide fragment"/>
          <p:cNvPicPr>
            <a:picLocks noChangeAspect="1"/>
          </p:cNvPicPr>
          <p:nvPr/>
        </p:nvPicPr>
        <p:blipFill>
          <a:blip r:embed="rId2"/>
          <a:srcRect l="22667" t="25680" r="20944" b="29440"/>
          <a:stretch>
            <a:fillRect/>
          </a:stretch>
        </p:blipFill>
        <p:spPr>
          <a:xfrm>
            <a:off x="502920" y="1693779"/>
            <a:ext cx="6858000" cy="37904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아미노산이 사슬에 들어간 한 단위를 잔기(residue)라 한다.</a:t>
            </a:r>
          </a:p>
          <a:p>
            <a:pPr algn="l">
              <a:lnSpc>
                <a:spcPct val="115000"/>
              </a:lnSpc>
              <a:spcAft>
                <a:spcPts val="1800"/>
              </a:spcAft>
            </a:pPr>
            <a:r>
              <a:rPr sz="2200" b="0" lang="ko-KR">
                <a:solidFill>
                  <a:srgbClr val="183342"/>
                </a:solidFill>
                <a:latin typeface="Arial Unicode MS"/>
                <a:ea typeface="Arial Unicode MS"/>
                <a:cs typeface="Arial Unicode MS"/>
              </a:rPr>
              <a:t>연속된 폴리펩타이드에 A·B 같은 사슬(chain) 표지를 붙여 구별한다.</a:t>
            </a:r>
          </a:p>
          <a:p>
            <a:pPr algn="l">
              <a:lnSpc>
                <a:spcPct val="115000"/>
              </a:lnSpc>
            </a:pPr>
            <a:r>
              <a:rPr sz="2200" b="0" lang="ko-KR">
                <a:solidFill>
                  <a:srgbClr val="183342"/>
                </a:solidFill>
                <a:latin typeface="Arial Unicode MS"/>
                <a:ea typeface="Arial Unicode MS"/>
                <a:cs typeface="Arial Unicode MS"/>
              </a:rPr>
              <a:t>단백질은 사슬 하나 또는 여러 개로 이루어질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잔기 라벨 읽기</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라벨의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사슬 표지</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MET 또는 Met</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methionine이라는 잔기 종류</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793</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이 구조에서 사용한 잔기 번호</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IRE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2ITY에서 gefitinib을 가리키는 리간드 코드</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잔기 번호는 구조에서 위치를 찾는 주소이며 공간 거리의 값이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사슬이 접히면 공간이 생긴다</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연결된 사슬이 접히면서 잔기들이 3차원으로 배치된다.</a:t>
            </a:r>
          </a:p>
          <a:p>
            <a:pPr algn="l">
              <a:lnSpc>
                <a:spcPct val="115000"/>
              </a:lnSpc>
              <a:spcAft>
                <a:spcPts val="1800"/>
              </a:spcAft>
            </a:pPr>
            <a:r>
              <a:rPr sz="2200" b="0" lang="ko-KR">
                <a:solidFill>
                  <a:srgbClr val="183342"/>
                </a:solidFill>
                <a:latin typeface="Arial Unicode MS"/>
                <a:ea typeface="Arial Unicode MS"/>
                <a:cs typeface="Arial Unicode MS"/>
              </a:rPr>
              <a:t>이 배치가 약물이나 다른 분자가 만나는 공간을 만든다.</a:t>
            </a:r>
          </a:p>
          <a:p>
            <a:pPr algn="l">
              <a:lnSpc>
                <a:spcPct val="115000"/>
              </a:lnSpc>
            </a:pPr>
            <a:r>
              <a:rPr sz="2200" b="0" lang="ko-KR">
                <a:solidFill>
                  <a:srgbClr val="183342"/>
                </a:solidFill>
                <a:latin typeface="Arial Unicode MS"/>
                <a:ea typeface="Arial Unicode MS"/>
                <a:cs typeface="Arial Unicode MS"/>
              </a:rPr>
              <a:t>오늘의 사례는 EGFR 전체가 아닌 kinase 영역의 구조다.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나선과 시트는 무엇일까?</a:t>
            </a:r>
          </a:p>
        </p:txBody>
      </p:sp>
      <p:pic>
        <p:nvPicPr>
          <p:cNvPr id="3" name="secondary.png" descr="secondary"/>
          <p:cNvPicPr>
            <a:picLocks noChangeAspect="1"/>
          </p:cNvPicPr>
          <p:nvPr/>
        </p:nvPicPr>
        <p:blipFill>
          <a:blip r:embed="rId2"/>
          <a:srcRect/>
          <a:stretch>
            <a:fillRect/>
          </a:stretch>
        </p:blipFill>
        <p:spPr>
          <a:xfrm>
            <a:off x="877749" y="1325880"/>
            <a:ext cx="61083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α-나선과 β-시트는 주사슬이 만드는 대표적인 국소 구조다.</a:t>
            </a:r>
          </a:p>
          <a:p>
            <a:pPr algn="l">
              <a:lnSpc>
                <a:spcPct val="115000"/>
              </a:lnSpc>
              <a:spcAft>
                <a:spcPts val="1800"/>
              </a:spcAft>
            </a:pPr>
            <a:r>
              <a:rPr sz="2200" b="0" lang="ko-KR">
                <a:solidFill>
                  <a:srgbClr val="183342"/>
                </a:solidFill>
                <a:latin typeface="Arial Unicode MS"/>
                <a:ea typeface="Arial Unicode MS"/>
                <a:cs typeface="Arial Unicode MS"/>
              </a:rPr>
              <a:t>반복되는 주사슬의 수소결합이 이 구조들을 안정화하는 데 기여한다.</a:t>
            </a:r>
          </a:p>
          <a:p>
            <a:pPr algn="l">
              <a:lnSpc>
                <a:spcPct val="115000"/>
              </a:lnSpc>
            </a:pPr>
            <a:r>
              <a:rPr sz="2200" b="0" lang="ko-KR">
                <a:solidFill>
                  <a:srgbClr val="183342"/>
                </a:solidFill>
                <a:latin typeface="Arial Unicode MS"/>
                <a:ea typeface="Arial Unicode MS"/>
                <a:cs typeface="Arial Unicode MS"/>
              </a:rPr>
              <a:t>리본·화살표·가는 선은 사슬의 모양을 요약한 표시다.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서열의 이웃과 공간의 이웃</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서열에서 떨어진 잔기도 접힌 구조에서 같은 결합공간 주변에 놓일 수 있다.</a:t>
            </a:r>
          </a:p>
          <a:p>
            <a:pPr algn="l">
              <a:lnSpc>
                <a:spcPct val="115000"/>
              </a:lnSpc>
              <a:spcAft>
                <a:spcPts val="1800"/>
              </a:spcAft>
            </a:pPr>
            <a:r>
              <a:rPr sz="2200" b="0" lang="ko-KR">
                <a:solidFill>
                  <a:srgbClr val="183342"/>
                </a:solidFill>
                <a:latin typeface="Arial Unicode MS"/>
                <a:ea typeface="Arial Unicode MS"/>
                <a:cs typeface="Arial Unicode MS"/>
              </a:rPr>
              <a:t>Leu718과 Met793은 같은 gefitinib 주변에서 살펴볼 잔기다.</a:t>
            </a:r>
          </a:p>
          <a:p>
            <a:pPr algn="l">
              <a:lnSpc>
                <a:spcPct val="115000"/>
              </a:lnSpc>
            </a:pPr>
            <a:r>
              <a:rPr sz="2200" b="0" lang="ko-KR">
                <a:solidFill>
                  <a:srgbClr val="183342"/>
                </a:solidFill>
                <a:latin typeface="Arial Unicode MS"/>
                <a:ea typeface="Arial Unicode MS"/>
                <a:cs typeface="Arial Unicode MS"/>
              </a:rPr>
              <a:t>약물의 이웃은 번호만 읽지 말고 실제 입체 배치에서 찾는다.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155448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FFFFFF"/>
                </a:solidFill>
                <a:latin typeface="Arial Unicode MS"/>
                <a:ea typeface="Arial Unicode MS"/>
                <a:cs typeface="Arial Unicode MS"/>
              </a:rPr>
              <a:t>다음: 같은 분자를 서로 다른 그림으로 읽기</a:t>
            </a:r>
          </a:p>
          <a:p>
            <a:pPr algn="l">
              <a:lnSpc>
                <a:spcPct val="115000"/>
              </a:lnSpc>
            </a:pPr>
            <a:r>
              <a:rPr sz="2400" b="0" lang="ko-KR">
                <a:solidFill>
                  <a:srgbClr val="FFFFFF"/>
                </a:solidFill>
                <a:latin typeface="Arial Unicode MS"/>
                <a:ea typeface="Arial Unicode MS"/>
                <a:cs typeface="Arial Unicode MS"/>
              </a:rPr>
              <a:t>수업 시작 후 75분에 다시 시작합니다.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좌표, 세 가지 표현</a:t>
            </a:r>
          </a:p>
        </p:txBody>
      </p:sp>
      <p:pic>
        <p:nvPicPr>
          <p:cNvPr id="3" name="2ITY_whole.png" descr="2ITY whole"/>
          <p:cNvPicPr>
            <a:picLocks noChangeAspect="1"/>
          </p:cNvPicPr>
          <p:nvPr/>
        </p:nvPicPr>
        <p:blipFill>
          <a:blip r:embed="rId2"/>
          <a:srcRect l="25944" t="10640" r="21611" b="17280"/>
          <a:stretch>
            <a:fillRect/>
          </a:stretch>
        </p:blipFill>
        <p:spPr>
          <a:xfrm>
            <a:off x="594360" y="1466325"/>
            <a:ext cx="3489960" cy="3330989"/>
          </a:xfrm>
          <a:prstGeom prst="rect">
            <a:avLst/>
          </a:prstGeom>
        </p:spPr>
      </p:pic>
      <p:sp>
        <p:nvSpPr>
          <p:cNvPr id="4" name="TextBox 3"/>
          <p:cNvSpPr txBox="1"/>
          <p:nvPr/>
        </p:nvSpPr>
        <p:spPr>
          <a:xfrm>
            <a:off x="59436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Cartoon: 사슬의 접힘</a:t>
            </a:r>
          </a:p>
        </p:txBody>
      </p:sp>
      <p:pic>
        <p:nvPicPr>
          <p:cNvPr id="5" name="2ITY_allsticks.png" descr="2ITY allsticks"/>
          <p:cNvPicPr>
            <a:picLocks noChangeAspect="1"/>
          </p:cNvPicPr>
          <p:nvPr/>
        </p:nvPicPr>
        <p:blipFill>
          <a:blip r:embed="rId3"/>
          <a:srcRect l="23500" t="7040" r="19889" b="15600"/>
          <a:stretch>
            <a:fillRect/>
          </a:stretch>
        </p:blipFill>
        <p:spPr>
          <a:xfrm>
            <a:off x="4358640" y="1475887"/>
            <a:ext cx="3489960" cy="3311865"/>
          </a:xfrm>
          <a:prstGeom prst="rect">
            <a:avLst/>
          </a:prstGeom>
        </p:spPr>
      </p:pic>
      <p:sp>
        <p:nvSpPr>
          <p:cNvPr id="6" name="TextBox 5"/>
          <p:cNvSpPr txBox="1"/>
          <p:nvPr/>
        </p:nvSpPr>
        <p:spPr>
          <a:xfrm>
            <a:off x="435864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Sticks: 원자와 결합</a:t>
            </a:r>
          </a:p>
        </p:txBody>
      </p:sp>
      <p:pic>
        <p:nvPicPr>
          <p:cNvPr id="7" name="2ITY_surface.png" descr="2ITY surface"/>
          <p:cNvPicPr>
            <a:picLocks noChangeAspect="1"/>
          </p:cNvPicPr>
          <p:nvPr/>
        </p:nvPicPr>
        <p:blipFill>
          <a:blip r:embed="rId4"/>
          <a:srcRect l="22222" t="4960" r="18444" b="13600"/>
          <a:stretch>
            <a:fillRect/>
          </a:stretch>
        </p:blipFill>
        <p:spPr>
          <a:xfrm>
            <a:off x="8122920" y="1468533"/>
            <a:ext cx="3489960" cy="3326572"/>
          </a:xfrm>
          <a:prstGeom prst="rect">
            <a:avLst/>
          </a:prstGeom>
        </p:spPr>
      </p:pic>
      <p:sp>
        <p:nvSpPr>
          <p:cNvPr id="8" name="TextBox 7"/>
          <p:cNvSpPr txBox="1"/>
          <p:nvPr/>
        </p:nvSpPr>
        <p:spPr>
          <a:xfrm>
            <a:off x="812292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Surface: 바깥 경계</a:t>
            </a:r>
          </a:p>
        </p:txBody>
      </p:sp>
      <p:sp>
        <p:nvSpPr>
          <p:cNvPr id="9" name="TextBox 8"/>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모두 EGFR–gefitinib, PDB 2ITY의 같은 좌표입니다.</a:t>
            </a:r>
          </a:p>
        </p:txBody>
      </p:sp>
      <p:sp>
        <p:nvSpPr>
          <p:cNvPr id="10" name="TextBox 9"/>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11" name="TextBox 10"/>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Cartoon으로 보는 단백질</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나선과 시트, 사슬의 전체 경로를 봅니다.</a:t>
            </a:r>
          </a:p>
          <a:p>
            <a:pPr algn="l">
              <a:lnSpc>
                <a:spcPct val="115000"/>
              </a:lnSpc>
              <a:spcAft>
                <a:spcPts val="1800"/>
              </a:spcAft>
            </a:pPr>
            <a:r>
              <a:rPr sz="2200" b="0" lang="ko-KR">
                <a:solidFill>
                  <a:srgbClr val="183342"/>
                </a:solidFill>
                <a:latin typeface="Arial Unicode MS"/>
                <a:ea typeface="Arial Unicode MS"/>
                <a:cs typeface="Arial Unicode MS"/>
              </a:rPr>
              <a:t>곁사슬 원자는 대부분 생략합니다.</a:t>
            </a:r>
          </a:p>
          <a:p>
            <a:pPr algn="l">
              <a:lnSpc>
                <a:spcPct val="115000"/>
              </a:lnSpc>
            </a:pPr>
            <a:r>
              <a:rPr sz="2200" b="0" lang="ko-KR">
                <a:solidFill>
                  <a:srgbClr val="183342"/>
                </a:solidFill>
                <a:latin typeface="Arial Unicode MS"/>
                <a:ea typeface="Arial Unicode MS"/>
                <a:cs typeface="Arial Unicode MS"/>
              </a:rPr>
              <a:t>주황색 막대는 결합한 약물입니다.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Sticks로 보는 약물</a:t>
            </a:r>
          </a:p>
        </p:txBody>
      </p:sp>
      <p:pic>
        <p:nvPicPr>
          <p:cNvPr id="3" name="2ITY_ligand.png" descr="2ITY ligand"/>
          <p:cNvPicPr>
            <a:picLocks noChangeAspect="1"/>
          </p:cNvPicPr>
          <p:nvPr/>
        </p:nvPicPr>
        <p:blipFill>
          <a:blip r:embed="rId2"/>
          <a:srcRect l="23222" t="19920" r="17611" b="25600"/>
          <a:stretch>
            <a:fillRect/>
          </a:stretch>
        </p:blipFill>
        <p:spPr>
          <a:xfrm>
            <a:off x="502920" y="1396391"/>
            <a:ext cx="6858000" cy="4385256"/>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막대는 원자를 잇는 공유결합을 나타냅니다.</a:t>
            </a:r>
          </a:p>
          <a:p>
            <a:pPr algn="l">
              <a:lnSpc>
                <a:spcPct val="115000"/>
              </a:lnSpc>
              <a:spcAft>
                <a:spcPts val="1800"/>
              </a:spcAft>
            </a:pPr>
            <a:r>
              <a:rPr sz="2200" b="0" lang="ko-KR">
                <a:solidFill>
                  <a:srgbClr val="183342"/>
                </a:solidFill>
                <a:latin typeface="Arial Unicode MS"/>
                <a:ea typeface="Arial Unicode MS"/>
                <a:cs typeface="Arial Unicode MS"/>
              </a:rPr>
              <a:t>탄소 C는 주황, 질소 N은 파랑, 산소 O는 빨강입니다.</a:t>
            </a:r>
          </a:p>
          <a:p>
            <a:pPr algn="l">
              <a:lnSpc>
                <a:spcPct val="115000"/>
              </a:lnSpc>
            </a:pPr>
            <a:r>
              <a:rPr sz="2200" b="0" lang="ko-KR">
                <a:solidFill>
                  <a:srgbClr val="183342"/>
                </a:solidFill>
                <a:latin typeface="Arial Unicode MS"/>
                <a:ea typeface="Arial Unicode MS"/>
                <a:cs typeface="Arial Unicode MS"/>
              </a:rPr>
              <a:t>수소 H는 이 좌표에 없어 보이지 않습니다.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Surface로 보는 결합 공간</a:t>
            </a:r>
          </a:p>
        </p:txBody>
      </p:sp>
      <p:pic>
        <p:nvPicPr>
          <p:cNvPr id="3" name="2ITY_surface.png" descr="2ITY surface"/>
          <p:cNvPicPr>
            <a:picLocks noChangeAspect="1"/>
          </p:cNvPicPr>
          <p:nvPr/>
        </p:nvPicPr>
        <p:blipFill>
          <a:blip r:embed="rId2"/>
          <a:srcRect l="22222" t="4960" r="18444" b="13600"/>
          <a:stretch>
            <a:fillRect/>
          </a:stretch>
        </p:blipFill>
        <p:spPr>
          <a:xfrm>
            <a:off x="1557623" y="1325880"/>
            <a:ext cx="4748592"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단백질의 경계와 움푹한 공간을 봅니다.</a:t>
            </a:r>
          </a:p>
          <a:p>
            <a:pPr algn="l">
              <a:lnSpc>
                <a:spcPct val="115000"/>
              </a:lnSpc>
              <a:spcAft>
                <a:spcPts val="1800"/>
              </a:spcAft>
            </a:pPr>
            <a:r>
              <a:rPr sz="2200" b="0" lang="ko-KR">
                <a:solidFill>
                  <a:srgbClr val="183342"/>
                </a:solidFill>
                <a:latin typeface="Arial Unicode MS"/>
                <a:ea typeface="Arial Unicode MS"/>
                <a:cs typeface="Arial Unicode MS"/>
              </a:rPr>
              <a:t>약물은 단백질 표면의 틈에 놓여 있습니다.</a:t>
            </a:r>
          </a:p>
          <a:p>
            <a:pPr algn="l">
              <a:lnSpc>
                <a:spcPct val="115000"/>
              </a:lnSpc>
            </a:pPr>
            <a:r>
              <a:rPr sz="2200" b="0" lang="ko-KR">
                <a:solidFill>
                  <a:srgbClr val="183342"/>
                </a:solidFill>
                <a:latin typeface="Arial Unicode MS"/>
                <a:ea typeface="Arial Unicode MS"/>
                <a:cs typeface="Arial Unicode MS"/>
              </a:rPr>
              <a:t>표면 안쪽의 원자는 가려질 수 있습니다.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색을 읽기 위한 범례</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이 수업의 표시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청록색 리본</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단백질 사슬</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주황색 탄소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약물의 탄소 원자</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파란 원자 / 빨간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질소 N / 산소 O</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보라색 점선</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선택한 두 원자 사이의 접촉</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색은 표시 규칙입니다. 색만으로 전하나 결합 세기를 판단하지 않습니다.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2: 질문에 맞는 그림</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사슬이 어떻게 접혔는지 보려면 어떤 표현이 유용할까요?</a:t>
            </a:r>
          </a:p>
          <a:p>
            <a:pPr algn="l">
              <a:lnSpc>
                <a:spcPct val="115000"/>
              </a:lnSpc>
              <a:spcAft>
                <a:spcPts val="1800"/>
              </a:spcAft>
            </a:pPr>
            <a:r>
              <a:rPr sz="2800" b="0" lang="ko-KR">
                <a:solidFill>
                  <a:srgbClr val="183342"/>
                </a:solidFill>
                <a:latin typeface="Arial Unicode MS"/>
                <a:ea typeface="Arial Unicode MS"/>
                <a:cs typeface="Arial Unicode MS"/>
              </a:rPr>
              <a:t>약물의 질소 원자를 찾으려면 어떤 표현이 유용할까요?</a:t>
            </a:r>
          </a:p>
          <a:p>
            <a:pPr algn="l">
              <a:lnSpc>
                <a:spcPct val="115000"/>
              </a:lnSpc>
            </a:pPr>
            <a:r>
              <a:rPr sz="2800" b="0" lang="ko-KR">
                <a:solidFill>
                  <a:srgbClr val="183342"/>
                </a:solidFill>
                <a:latin typeface="Arial Unicode MS"/>
                <a:ea typeface="Arial Unicode MS"/>
                <a:cs typeface="Arial Unicode MS"/>
              </a:rPr>
              <a:t>약물이 놓일 공간을 보려면 어떤 표현이 유용할까요?</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파일에 없는 정보</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실험 자료를 바탕으로 만든 원자 좌표 모델입니다.</a:t>
            </a:r>
          </a:p>
          <a:p>
            <a:pPr algn="l">
              <a:lnSpc>
                <a:spcPct val="115000"/>
              </a:lnSpc>
              <a:spcAft>
                <a:spcPts val="1800"/>
              </a:spcAft>
            </a:pPr>
            <a:r>
              <a:rPr sz="2700" b="0" lang="ko-KR">
                <a:solidFill>
                  <a:srgbClr val="183342"/>
                </a:solidFill>
                <a:latin typeface="Arial Unicode MS"/>
                <a:ea typeface="Arial Unicode MS"/>
                <a:cs typeface="Arial Unicode MS"/>
              </a:rPr>
              <a:t>수소나 유연한 구간의 좌표가 빠질 수 있습니다.</a:t>
            </a:r>
          </a:p>
          <a:p>
            <a:pPr algn="l">
              <a:lnSpc>
                <a:spcPct val="115000"/>
              </a:lnSpc>
            </a:pPr>
            <a:r>
              <a:rPr sz="2700" b="0" lang="ko-KR">
                <a:solidFill>
                  <a:srgbClr val="183342"/>
                </a:solidFill>
                <a:latin typeface="Arial Unicode MS"/>
                <a:ea typeface="Arial Unicode MS"/>
                <a:cs typeface="Arial Unicode MS"/>
              </a:rPr>
              <a:t>그림 한 장은 결합 과정 전체와 시간 변화를 보여 주지 않습니다.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METHODS, MISSING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구조: PDB 2ITY</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항목</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확인한 내용</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단백질</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인간 EGFR의 kinase domain</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 / 파일 속 이름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Gefitinib / IRE</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단백질 체인</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실험 방법 / 해상도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X선 결정학 / 3.42 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전체 EGFR 중 세포 안쪽 kinase 부분을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RESOLUTION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PDB 텍스트: 문자 위치로 읽는 원자 정보</a:t>
            </a:r>
          </a:p>
        </p:txBody>
      </p:sp>
      <p:sp>
        <p:nvSpPr>
          <p:cNvPr id="3" name="TextBox 2"/>
          <p:cNvSpPr txBox="1"/>
          <p:nvPr/>
        </p:nvSpPr>
        <p:spPr>
          <a:xfrm>
            <a:off x="594360" y="132588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2ITY.pdb의 실제 두 행입니다. 각 필드는 정해진 문자 열을 차지합니다.</a:t>
            </a:r>
          </a:p>
        </p:txBody>
      </p:sp>
      <p:sp>
        <p:nvSpPr>
          <p:cNvPr id="4" name="TextBox 3"/>
          <p:cNvSpPr txBox="1"/>
          <p:nvPr/>
        </p:nvSpPr>
        <p:spPr>
          <a:xfrm>
            <a:off x="594360" y="1828800"/>
            <a:ext cx="10972800" cy="59436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ATOM      1  N   GLU A 697     -68.144  -7.449 -50.184  1.00 55.89           N</a:t>
            </a:r>
          </a:p>
          <a:p>
            <a:pPr algn="l">
              <a:lnSpc>
                <a:spcPts val="1954"/>
              </a:lnSpc>
            </a:pPr>
            <a:r>
              <a:rPr sz="1700" b="0" lang="ko-KR">
                <a:solidFill>
                  <a:srgbClr val="183342"/>
                </a:solidFill>
                <a:latin typeface="Courier New"/>
                <a:ea typeface="Arial Unicode MS"/>
                <a:cs typeface="Arial Unicode MS"/>
              </a:rPr>
              <a:t>ATOM      2  CA  GLU A 697     -67.658  -6.829 -48.889  1.00 55.39           C</a:t>
            </a:r>
          </a:p>
        </p:txBody>
      </p:sp>
      <p:graphicFrame>
        <p:nvGraphicFramePr>
          <p:cNvPr id="5" name="Table 4"/>
          <p:cNvGraphicFramePr>
            <a:graphicFrameLocks noGrp="1"/>
          </p:cNvGraphicFramePr>
          <p:nvPr/>
        </p:nvGraphicFramePr>
        <p:xfrm>
          <a:off x="594360" y="2606040"/>
          <a:ext cx="10972799" cy="3127248"/>
        </p:xfrm>
        <a:graphic>
          <a:graphicData uri="http://schemas.openxmlformats.org/drawingml/2006/table">
            <a:tbl>
              <a:tblPr firstRow="1" bandRow="1">
                <a:tableStyleId>{5C22544A-7EE6-4342-B048-85BDC9FD1C3A}</a:tableStyleId>
              </a:tblPr>
              <a:tblGrid>
                <a:gridCol w="4389120"/>
                <a:gridCol w="6583679"/>
              </a:tblGrid>
              <a:tr h="521208">
                <a:tc>
                  <a:txBody>
                    <a:bodyPr wrap="square"/>
                    <a:lstStyle/>
                    <a:p>
                      <a:pPr>
                        <a:lnSpc>
                          <a:spcPct val="108000"/>
                        </a:lnSpc>
                      </a:pPr>
                      <a:r>
                        <a:rPr sz="1800" b="1" lang="ko-KR">
                          <a:solidFill>
                            <a:srgbClr val="FFFFFF"/>
                          </a:solidFill>
                          <a:latin typeface="Arial Unicode MS"/>
                          <a:ea typeface="Arial Unicode MS"/>
                          <a:cs typeface="Arial Unicode MS"/>
                        </a:rPr>
                        <a:t>문자 열 / 첫 행의 값</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1–11: ATOM / 1</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좌표 레코드 / 원자 일련번호</a:t>
                      </a:r>
                    </a:p>
                  </a:txBody>
                  <a:tcPr marL="164592" marR="146304" marT="73152" marB="45720" anchor="ctr">
                    <a:solidFill>
                      <a:srgbClr val="F2F6F6"/>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13–26: N / GLU / A / 697</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이름 / 잔기 이름 / 사슬 / 잔기 번호</a:t>
                      </a:r>
                    </a:p>
                  </a:txBody>
                  <a:tcPr marL="164592" marR="146304" marT="73152" marB="45720" anchor="ctr">
                    <a:solidFill>
                      <a:srgbClr val="FFFFFF"/>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31–54: −68.144, −7.449, −50.184</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x, y, z 좌표 (Å). 1 Å = 0.1 nm</a:t>
                      </a:r>
                    </a:p>
                  </a:txBody>
                  <a:tcPr marL="164592" marR="146304" marT="73152" marB="45720" anchor="ctr">
                    <a:solidFill>
                      <a:srgbClr val="F2F6F6"/>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55–66: 1.00 / 55.89</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점유율 (occupancy) / B factor (Å²)</a:t>
                      </a:r>
                    </a:p>
                  </a:txBody>
                  <a:tcPr marL="164592" marR="146304" marT="73152" marB="45720" anchor="ctr">
                    <a:solidFill>
                      <a:srgbClr val="FFFFFF"/>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77–78: 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원소 기호. N은 질소</a:t>
                      </a:r>
                    </a:p>
                  </a:txBody>
                  <a:tcPr marL="164592" marR="146304" marT="73152" marB="45720" anchor="ctr">
                    <a:solidFill>
                      <a:srgbClr val="F2F6F6"/>
                    </a:solidFill>
                  </a:tcPr>
                </a:tc>
              </a:tr>
            </a:tbl>
          </a:graphicData>
        </a:graphic>
      </p:graphicFrame>
      <p:sp>
        <p:nvSpPr>
          <p:cNvPr id="6" name="TextBox 5"/>
          <p:cNvSpPr txBox="1"/>
          <p:nvPr/>
        </p:nvSpPr>
        <p:spPr>
          <a:xfrm>
            <a:off x="594360" y="5925312"/>
            <a:ext cx="10972800" cy="365760"/>
          </a:xfrm>
          <a:prstGeom prst="rect">
            <a:avLst/>
          </a:prstGeom>
          <a:noFill/>
        </p:spPr>
        <p:txBody>
          <a:bodyPr wrap="square" lIns="18288" rIns="18288" tIns="18288" bIns="18288">
            <a:spAutoFit/>
          </a:bodyPr>
          <a:lstStyle/>
          <a:p>
            <a:pPr algn="l">
              <a:lnSpc>
                <a:spcPct val="115000"/>
              </a:lnSpc>
            </a:pPr>
            <a:r>
              <a:rPr sz="2000" b="0" lang="ko-KR">
                <a:solidFill>
                  <a:srgbClr val="183342"/>
                </a:solidFill>
                <a:latin typeface="Arial Unicode MS"/>
                <a:ea typeface="Arial Unicode MS"/>
                <a:cs typeface="Arial Unicode MS"/>
              </a:rPr>
              <a:t>둘째 행의 CA는 Cα 원자 이름이고, 마지막 C는 탄소 원소입니다.</a:t>
            </a:r>
          </a:p>
        </p:txBody>
      </p:sp>
      <p:sp>
        <p:nvSpPr>
          <p:cNvPr id="7" name="TextBox 6"/>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PDBFMT, PDB2ITY  ·  상세 출처는 발표자 노트와 마지막 참고 자료에 수록</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mmCIF 텍스트: 태그 순서로 읽는 원자 정보</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수업의 .cif는 PDBx/mmCIF입니다. 2ITY.cif에서 필요한 열과 두 행을 선별했습니다.</a:t>
            </a:r>
          </a:p>
        </p:txBody>
      </p:sp>
      <p:sp>
        <p:nvSpPr>
          <p:cNvPr id="4" name="TextBox 3"/>
          <p:cNvSpPr txBox="1"/>
          <p:nvPr/>
        </p:nvSpPr>
        <p:spPr>
          <a:xfrm>
            <a:off x="594360" y="1810512"/>
            <a:ext cx="5212080" cy="306324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data_2ITY</a:t>
            </a:r>
          </a:p>
          <a:p>
            <a:pPr algn="l">
              <a:lnSpc>
                <a:spcPts val="1954"/>
              </a:lnSpc>
            </a:pPr>
            <a:r>
              <a:rPr sz="1700" b="0" lang="ko-KR">
                <a:solidFill>
                  <a:srgbClr val="183342"/>
                </a:solidFill>
                <a:latin typeface="Courier New"/>
                <a:ea typeface="Arial Unicode MS"/>
                <a:cs typeface="Arial Unicode MS"/>
              </a:rPr>
              <a:t>loop_</a:t>
            </a:r>
          </a:p>
          <a:p>
            <a:pPr algn="l">
              <a:lnSpc>
                <a:spcPts val="1954"/>
              </a:lnSpc>
            </a:pPr>
            <a:r>
              <a:rPr sz="1700" b="0" lang="ko-KR">
                <a:solidFill>
                  <a:srgbClr val="183342"/>
                </a:solidFill>
                <a:latin typeface="Courier New"/>
                <a:ea typeface="Arial Unicode MS"/>
                <a:cs typeface="Arial Unicode MS"/>
              </a:rPr>
              <a:t>_atom_site.group_PDB</a:t>
            </a:r>
          </a:p>
          <a:p>
            <a:pPr algn="l">
              <a:lnSpc>
                <a:spcPts val="1954"/>
              </a:lnSpc>
            </a:pPr>
            <a:r>
              <a:rPr sz="1700" b="0" lang="ko-KR">
                <a:solidFill>
                  <a:srgbClr val="183342"/>
                </a:solidFill>
                <a:latin typeface="Courier New"/>
                <a:ea typeface="Arial Unicode MS"/>
                <a:cs typeface="Arial Unicode MS"/>
              </a:rPr>
              <a:t>_atom_site.id</a:t>
            </a:r>
          </a:p>
          <a:p>
            <a:pPr algn="l">
              <a:lnSpc>
                <a:spcPts val="1954"/>
              </a:lnSpc>
            </a:pPr>
            <a:r>
              <a:rPr sz="1700" b="0" lang="ko-KR">
                <a:solidFill>
                  <a:srgbClr val="183342"/>
                </a:solidFill>
                <a:latin typeface="Courier New"/>
                <a:ea typeface="Arial Unicode MS"/>
                <a:cs typeface="Arial Unicode MS"/>
              </a:rPr>
              <a:t>_atom_site.type_symbol</a:t>
            </a:r>
          </a:p>
          <a:p>
            <a:pPr algn="l">
              <a:lnSpc>
                <a:spcPts val="1954"/>
              </a:lnSpc>
            </a:pPr>
            <a:r>
              <a:rPr sz="1700" b="0" lang="ko-KR">
                <a:solidFill>
                  <a:srgbClr val="183342"/>
                </a:solidFill>
                <a:latin typeface="Courier New"/>
                <a:ea typeface="Arial Unicode MS"/>
                <a:cs typeface="Arial Unicode MS"/>
              </a:rPr>
              <a:t>_atom_site.label_atom_id</a:t>
            </a:r>
          </a:p>
          <a:p>
            <a:pPr algn="l">
              <a:lnSpc>
                <a:spcPts val="1954"/>
              </a:lnSpc>
            </a:pPr>
            <a:r>
              <a:rPr sz="1700" b="0" lang="ko-KR">
                <a:solidFill>
                  <a:srgbClr val="183342"/>
                </a:solidFill>
                <a:latin typeface="Courier New"/>
                <a:ea typeface="Arial Unicode MS"/>
                <a:cs typeface="Arial Unicode MS"/>
              </a:rPr>
              <a:t>_atom_site.label_comp_id</a:t>
            </a:r>
          </a:p>
          <a:p>
            <a:pPr algn="l">
              <a:lnSpc>
                <a:spcPts val="1954"/>
              </a:lnSpc>
            </a:pPr>
            <a:r>
              <a:rPr sz="1700" b="0" lang="ko-KR">
                <a:solidFill>
                  <a:srgbClr val="183342"/>
                </a:solidFill>
                <a:latin typeface="Courier New"/>
                <a:ea typeface="Arial Unicode MS"/>
                <a:cs typeface="Arial Unicode MS"/>
              </a:rPr>
              <a:t>_atom_site.auth_asym_id</a:t>
            </a:r>
          </a:p>
          <a:p>
            <a:pPr algn="l">
              <a:lnSpc>
                <a:spcPts val="1954"/>
              </a:lnSpc>
            </a:pPr>
            <a:r>
              <a:rPr sz="1700" b="0" lang="ko-KR">
                <a:solidFill>
                  <a:srgbClr val="183342"/>
                </a:solidFill>
                <a:latin typeface="Courier New"/>
                <a:ea typeface="Arial Unicode MS"/>
                <a:cs typeface="Arial Unicode MS"/>
              </a:rPr>
              <a:t>_atom_site.auth_seq_id</a:t>
            </a:r>
          </a:p>
          <a:p>
            <a:pPr algn="l">
              <a:lnSpc>
                <a:spcPts val="1954"/>
              </a:lnSpc>
            </a:pPr>
            <a:r>
              <a:rPr sz="1700" b="0" lang="ko-KR">
                <a:solidFill>
                  <a:srgbClr val="183342"/>
                </a:solidFill>
                <a:latin typeface="Courier New"/>
                <a:ea typeface="Arial Unicode MS"/>
                <a:cs typeface="Arial Unicode MS"/>
              </a:rPr>
              <a:t>_atom_site.Cartn_x</a:t>
            </a:r>
          </a:p>
          <a:p>
            <a:pPr algn="l">
              <a:lnSpc>
                <a:spcPts val="1954"/>
              </a:lnSpc>
            </a:pPr>
            <a:r>
              <a:rPr sz="1700" b="0" lang="ko-KR">
                <a:solidFill>
                  <a:srgbClr val="183342"/>
                </a:solidFill>
                <a:latin typeface="Courier New"/>
                <a:ea typeface="Arial Unicode MS"/>
                <a:cs typeface="Arial Unicode MS"/>
              </a:rPr>
              <a:t>_atom_site.Cartn_y</a:t>
            </a:r>
          </a:p>
          <a:p>
            <a:pPr algn="l">
              <a:lnSpc>
                <a:spcPts val="1954"/>
              </a:lnSpc>
            </a:pPr>
            <a:r>
              <a:rPr sz="1700" b="0" lang="ko-KR">
                <a:solidFill>
                  <a:srgbClr val="183342"/>
                </a:solidFill>
                <a:latin typeface="Courier New"/>
                <a:ea typeface="Arial Unicode MS"/>
                <a:cs typeface="Arial Unicode MS"/>
              </a:rPr>
              <a:t>_atom_site.Cartn_z</a:t>
            </a:r>
          </a:p>
        </p:txBody>
      </p:sp>
      <p:sp>
        <p:nvSpPr>
          <p:cNvPr id="5" name="TextBox 4"/>
          <p:cNvSpPr txBox="1"/>
          <p:nvPr/>
        </p:nvSpPr>
        <p:spPr>
          <a:xfrm>
            <a:off x="6080760" y="1810512"/>
            <a:ext cx="5486400" cy="3063240"/>
          </a:xfrm>
          <a:prstGeom prst="rect">
            <a:avLst/>
          </a:prstGeom>
          <a:noFill/>
        </p:spPr>
        <p:txBody>
          <a:bodyPr wrap="square" lIns="18288" rIns="18288" tIns="18288" bIns="18288">
            <a:spAutoFit/>
          </a:bodyPr>
          <a:lstStyle/>
          <a:p>
            <a:pPr algn="l">
              <a:lnSpc>
                <a:spcPts val="1954"/>
              </a:lnSpc>
            </a:pPr>
            <a:r>
              <a:rPr sz="1700" b="0" lang="ko-KR">
                <a:solidFill>
                  <a:srgbClr val="183342"/>
                </a:solidFill>
                <a:latin typeface="Arial Unicode MS"/>
                <a:ea typeface="Arial Unicode MS"/>
                <a:cs typeface="Arial Unicode MS"/>
              </a:rPr>
              <a:t>2ITY 데이터 묶음의 시작</a:t>
            </a:r>
          </a:p>
          <a:p>
            <a:pPr algn="l">
              <a:lnSpc>
                <a:spcPts val="1954"/>
              </a:lnSpc>
            </a:pPr>
            <a:r>
              <a:rPr sz="1700" b="0" lang="ko-KR">
                <a:solidFill>
                  <a:srgbClr val="183342"/>
                </a:solidFill>
                <a:latin typeface="Arial Unicode MS"/>
                <a:ea typeface="Arial Unicode MS"/>
                <a:cs typeface="Arial Unicode MS"/>
              </a:rPr>
              <a:t>표의 시작. 아래 태그 순서대로 값을 읽음</a:t>
            </a:r>
          </a:p>
          <a:p>
            <a:pPr algn="l">
              <a:lnSpc>
                <a:spcPts val="1954"/>
              </a:lnSpc>
            </a:pPr>
            <a:r>
              <a:rPr sz="1700" b="0" lang="ko-KR">
                <a:solidFill>
                  <a:srgbClr val="183342"/>
                </a:solidFill>
                <a:latin typeface="Arial Unicode MS"/>
                <a:ea typeface="Arial Unicode MS"/>
                <a:cs typeface="Arial Unicode MS"/>
              </a:rPr>
              <a:t>레코드 종류</a:t>
            </a:r>
          </a:p>
          <a:p>
            <a:pPr algn="l">
              <a:lnSpc>
                <a:spcPts val="1954"/>
              </a:lnSpc>
            </a:pPr>
            <a:r>
              <a:rPr sz="1700" b="0" lang="ko-KR">
                <a:solidFill>
                  <a:srgbClr val="183342"/>
                </a:solidFill>
                <a:latin typeface="Arial Unicode MS"/>
                <a:ea typeface="Arial Unicode MS"/>
                <a:cs typeface="Arial Unicode MS"/>
              </a:rPr>
              <a:t>원자 일련번호</a:t>
            </a:r>
          </a:p>
          <a:p>
            <a:pPr algn="l">
              <a:lnSpc>
                <a:spcPts val="1954"/>
              </a:lnSpc>
            </a:pPr>
            <a:r>
              <a:rPr sz="1700" b="0" lang="ko-KR">
                <a:solidFill>
                  <a:srgbClr val="183342"/>
                </a:solidFill>
                <a:latin typeface="Arial Unicode MS"/>
                <a:ea typeface="Arial Unicode MS"/>
                <a:cs typeface="Arial Unicode MS"/>
              </a:rPr>
              <a:t>원소 기호</a:t>
            </a:r>
          </a:p>
          <a:p>
            <a:pPr algn="l">
              <a:lnSpc>
                <a:spcPts val="1954"/>
              </a:lnSpc>
            </a:pPr>
            <a:r>
              <a:rPr sz="1700" b="0" lang="ko-KR">
                <a:solidFill>
                  <a:srgbClr val="183342"/>
                </a:solidFill>
                <a:latin typeface="Arial Unicode MS"/>
                <a:ea typeface="Arial Unicode MS"/>
                <a:cs typeface="Arial Unicode MS"/>
              </a:rPr>
              <a:t>원자 이름</a:t>
            </a:r>
          </a:p>
          <a:p>
            <a:pPr algn="l">
              <a:lnSpc>
                <a:spcPts val="1954"/>
              </a:lnSpc>
            </a:pPr>
            <a:r>
              <a:rPr sz="1700" b="0" lang="ko-KR">
                <a:solidFill>
                  <a:srgbClr val="183342"/>
                </a:solidFill>
                <a:latin typeface="Arial Unicode MS"/>
                <a:ea typeface="Arial Unicode MS"/>
                <a:cs typeface="Arial Unicode MS"/>
              </a:rPr>
              <a:t>잔기 이름</a:t>
            </a:r>
          </a:p>
          <a:p>
            <a:pPr algn="l">
              <a:lnSpc>
                <a:spcPts val="1954"/>
              </a:lnSpc>
            </a:pPr>
            <a:r>
              <a:rPr sz="1700" b="0" lang="ko-KR">
                <a:solidFill>
                  <a:srgbClr val="183342"/>
                </a:solidFill>
                <a:latin typeface="Arial Unicode MS"/>
                <a:ea typeface="Arial Unicode MS"/>
                <a:cs typeface="Arial Unicode MS"/>
              </a:rPr>
              <a:t>저자 사슬 표지</a:t>
            </a:r>
          </a:p>
          <a:p>
            <a:pPr algn="l">
              <a:lnSpc>
                <a:spcPts val="1954"/>
              </a:lnSpc>
            </a:pPr>
            <a:r>
              <a:rPr sz="1700" b="0" lang="ko-KR">
                <a:solidFill>
                  <a:srgbClr val="183342"/>
                </a:solidFill>
                <a:latin typeface="Arial Unicode MS"/>
                <a:ea typeface="Arial Unicode MS"/>
                <a:cs typeface="Arial Unicode MS"/>
              </a:rPr>
              <a:t>저자 잔기 번호</a:t>
            </a:r>
          </a:p>
          <a:p>
            <a:pPr algn="l">
              <a:lnSpc>
                <a:spcPts val="1954"/>
              </a:lnSpc>
            </a:pPr>
            <a:r>
              <a:rPr sz="1700" b="0" lang="ko-KR">
                <a:solidFill>
                  <a:srgbClr val="183342"/>
                </a:solidFill>
                <a:latin typeface="Arial Unicode MS"/>
                <a:ea typeface="Arial Unicode MS"/>
                <a:cs typeface="Arial Unicode MS"/>
              </a:rPr>
              <a:t>x 좌표 (Å)</a:t>
            </a:r>
          </a:p>
          <a:p>
            <a:pPr algn="l">
              <a:lnSpc>
                <a:spcPts val="1954"/>
              </a:lnSpc>
            </a:pPr>
            <a:r>
              <a:rPr sz="1700" b="0" lang="ko-KR">
                <a:solidFill>
                  <a:srgbClr val="183342"/>
                </a:solidFill>
                <a:latin typeface="Arial Unicode MS"/>
                <a:ea typeface="Arial Unicode MS"/>
                <a:cs typeface="Arial Unicode MS"/>
              </a:rPr>
              <a:t>y 좌표 (Å)</a:t>
            </a:r>
          </a:p>
          <a:p>
            <a:pPr algn="l">
              <a:lnSpc>
                <a:spcPts val="1954"/>
              </a:lnSpc>
            </a:pPr>
            <a:r>
              <a:rPr sz="1700" b="0" lang="ko-KR">
                <a:solidFill>
                  <a:srgbClr val="183342"/>
                </a:solidFill>
                <a:latin typeface="Arial Unicode MS"/>
                <a:ea typeface="Arial Unicode MS"/>
                <a:cs typeface="Arial Unicode MS"/>
              </a:rPr>
              <a:t>z 좌표 (Å)</a:t>
            </a:r>
          </a:p>
        </p:txBody>
      </p:sp>
      <p:sp>
        <p:nvSpPr>
          <p:cNvPr id="6" name="TextBox 5"/>
          <p:cNvSpPr txBox="1"/>
          <p:nvPr/>
        </p:nvSpPr>
        <p:spPr>
          <a:xfrm>
            <a:off x="594360" y="5029200"/>
            <a:ext cx="10972800" cy="59436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ATOM 1 N N  GLU A 697 -68.144 -7.449 -50.184</a:t>
            </a:r>
          </a:p>
          <a:p>
            <a:pPr algn="l">
              <a:lnSpc>
                <a:spcPts val="1954"/>
              </a:lnSpc>
            </a:pPr>
            <a:r>
              <a:rPr sz="1700" b="0" lang="ko-KR">
                <a:solidFill>
                  <a:srgbClr val="183342"/>
                </a:solidFill>
                <a:latin typeface="Courier New"/>
                <a:ea typeface="Arial Unicode MS"/>
                <a:cs typeface="Arial Unicode MS"/>
              </a:rPr>
              <a:t>ATOM 2 C CA GLU A 697 -67.658 -6.829 -48.889</a:t>
            </a:r>
          </a:p>
        </p:txBody>
      </p:sp>
      <p:sp>
        <p:nvSpPr>
          <p:cNvPr id="7" name="TextBox 6"/>
          <p:cNvSpPr txBox="1"/>
          <p:nvPr/>
        </p:nvSpPr>
        <p:spPr>
          <a:xfrm>
            <a:off x="594360" y="5897880"/>
            <a:ext cx="10972800" cy="411480"/>
          </a:xfrm>
          <a:prstGeom prst="rect">
            <a:avLst/>
          </a:prstGeom>
          <a:noFill/>
        </p:spPr>
        <p:txBody>
          <a:bodyPr wrap="square" lIns="18288" rIns="18288" tIns="18288" bIns="18288">
            <a:spAutoFit/>
          </a:bodyPr>
          <a:lstStyle/>
          <a:p>
            <a:pPr algn="l">
              <a:lnSpc>
                <a:spcPct val="115000"/>
              </a:lnSpc>
            </a:pPr>
            <a:r>
              <a:rPr sz="2000" b="0" lang="ko-KR">
                <a:solidFill>
                  <a:srgbClr val="183342"/>
                </a:solidFill>
                <a:latin typeface="Arial Unicode MS"/>
                <a:ea typeface="Arial Unicode MS"/>
                <a:cs typeface="Arial Unicode MS"/>
              </a:rPr>
              <a:t>각 행의 10개 값은 위의 10개 태그와 같은 순서로 대응합니다.</a:t>
            </a:r>
          </a:p>
        </p:txBody>
      </p:sp>
      <p:sp>
        <p:nvSpPr>
          <p:cNvPr id="8" name="TextBox 7"/>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CIFSYNTAX, CIF2ITY  ·  상세 출처는 발표자 노트와 마지막 참고 자료에 수록</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좌표 외의 값과 잔기 번호 읽기</a:t>
            </a:r>
          </a:p>
        </p:txBody>
      </p:sp>
      <p:graphicFrame>
        <p:nvGraphicFramePr>
          <p:cNvPr id="3" name="Table 2"/>
          <p:cNvGraphicFramePr>
            <a:graphicFrameLocks noGrp="1"/>
          </p:cNvGraphicFramePr>
          <p:nvPr/>
        </p:nvGraphicFramePr>
        <p:xfrm>
          <a:off x="594360" y="1463040"/>
          <a:ext cx="10972800" cy="3474720"/>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필드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2ITY 첫 원자의 값</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occupancy</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1.00</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해당 원자 위치의 점유율</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B factor</a:t>
                      </a:r>
                    </a:p>
                    <a:p>
                      <a:pPr>
                        <a:lnSpc>
                          <a:spcPct val="108000"/>
                        </a:lnSpc>
                      </a:pPr>
                      <a:r>
                        <a:rPr sz="2000" b="0" lang="ko-KR">
                          <a:solidFill>
                            <a:srgbClr val="183342"/>
                          </a:solidFill>
                          <a:latin typeface="Arial Unicode MS"/>
                          <a:ea typeface="Arial Unicode MS"/>
                          <a:cs typeface="Arial Unicode MS"/>
                        </a:rPr>
                        <a:t>B_iso_or_equiv</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55.89 Å²</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위치의 퍼짐</a:t>
                      </a:r>
                    </a:p>
                    <a:p>
                      <a:pPr>
                        <a:lnSpc>
                          <a:spcPct val="108000"/>
                        </a:lnSpc>
                      </a:pPr>
                      <a:r>
                        <a:rPr sz="2000" b="0" lang="ko-KR">
                          <a:solidFill>
                            <a:srgbClr val="183342"/>
                          </a:solidFill>
                          <a:latin typeface="Arial Unicode MS"/>
                          <a:ea typeface="Arial Unicode MS"/>
                          <a:cs typeface="Arial Unicode MS"/>
                        </a:rPr>
                        <a:t>(이 결정구조의 모델 값)</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label_seq_id / auth_seq_id</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2 / 697</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등록 서열 위치 /</a:t>
                      </a:r>
                    </a:p>
                    <a:p>
                      <a:pPr>
                        <a:lnSpc>
                          <a:spcPct val="108000"/>
                        </a:lnSpc>
                      </a:pPr>
                      <a:r>
                        <a:rPr sz="2000" b="0" lang="ko-KR">
                          <a:solidFill>
                            <a:srgbClr val="183342"/>
                          </a:solidFill>
                          <a:latin typeface="Arial Unicode MS"/>
                          <a:ea typeface="Arial Unicode MS"/>
                          <a:cs typeface="Arial Unicode MS"/>
                        </a:rPr>
                        <a:t>저자 잔기 번호</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label_alt_id /</a:t>
                      </a:r>
                    </a:p>
                    <a:p>
                      <a:pPr>
                        <a:lnSpc>
                          <a:spcPct val="108000"/>
                        </a:lnSpc>
                      </a:pPr>
                      <a:r>
                        <a:rPr sz="2000" b="0" lang="ko-KR">
                          <a:solidFill>
                            <a:srgbClr val="183342"/>
                          </a:solidFill>
                          <a:latin typeface="Arial Unicode MS"/>
                          <a:ea typeface="Arial Unicode MS"/>
                          <a:cs typeface="Arial Unicode MS"/>
                        </a:rPr>
                        <a:t>pdbx_PDB_ins_code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 / ?</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해당 없음·생략 / 값 미상</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점유율과 B factor로 결합 세기를 판단하지 않습니다. 이 수업의 잔기 번호는 auth 기준입니다.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COORDREAD, CIFSYNTAX, CIF2ITY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결합에 기여하는 특징</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구조에서 찾는 단서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가능한 기여</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맞닿는 모양과 크기</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공간적 맞물림, 가까운 원자 간 접촉</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주변의 비극성 부분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물과의 접촉 변화</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적절한 N–H 또는 O–H와 상대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수소결합</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반대 부호의 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정전기적 인력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각 단서의 방향, 거리, 물 환경을 함께 살펴봅니다.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YUN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포켓과 약물의 모양</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청록색은 반투명 단백질 표면입니다.</a:t>
            </a:r>
          </a:p>
          <a:p>
            <a:pPr algn="l">
              <a:lnSpc>
                <a:spcPct val="115000"/>
              </a:lnSpc>
              <a:spcAft>
                <a:spcPts val="1800"/>
              </a:spcAft>
            </a:pPr>
            <a:r>
              <a:rPr sz="2200" b="0" lang="ko-KR">
                <a:solidFill>
                  <a:srgbClr val="183342"/>
                </a:solidFill>
                <a:latin typeface="Arial Unicode MS"/>
                <a:ea typeface="Arial Unicode MS"/>
                <a:cs typeface="Arial Unicode MS"/>
              </a:rPr>
              <a:t>주황색 약물 주변에 단백질 공간이 형성됩니다.</a:t>
            </a:r>
          </a:p>
          <a:p>
            <a:pPr algn="l">
              <a:lnSpc>
                <a:spcPct val="115000"/>
              </a:lnSpc>
            </a:pPr>
            <a:r>
              <a:rPr sz="2200" b="0" lang="ko-KR">
                <a:solidFill>
                  <a:srgbClr val="183342"/>
                </a:solidFill>
                <a:latin typeface="Arial Unicode MS"/>
                <a:ea typeface="Arial Unicode MS"/>
                <a:cs typeface="Arial Unicode MS"/>
              </a:rPr>
              <a:t>모양의 맞물림은 결합을 설명하는 한 가지 단서입니다.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Leu718의 비극성 곁사슬</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Leu718의 탄소 곁사슬이 약물 탄소 근처에 있습니다.</a:t>
            </a:r>
          </a:p>
          <a:p>
            <a:pPr algn="l">
              <a:lnSpc>
                <a:spcPct val="115000"/>
              </a:lnSpc>
              <a:spcAft>
                <a:spcPts val="1800"/>
              </a:spcAft>
            </a:pPr>
            <a:r>
              <a:rPr sz="2200" b="0" lang="ko-KR">
                <a:solidFill>
                  <a:srgbClr val="183342"/>
                </a:solidFill>
                <a:latin typeface="Arial Unicode MS"/>
                <a:ea typeface="Arial Unicode MS"/>
                <a:cs typeface="Arial Unicode MS"/>
              </a:rPr>
              <a:t>비극성 부분의 접촉이 결합에 기여할 수 있습니다.</a:t>
            </a:r>
          </a:p>
          <a:p>
            <a:pPr algn="l">
              <a:lnSpc>
                <a:spcPct val="115000"/>
              </a:lnSpc>
            </a:pPr>
            <a:r>
              <a:rPr sz="2200" b="0" lang="ko-KR">
                <a:solidFill>
                  <a:srgbClr val="183342"/>
                </a:solidFill>
                <a:latin typeface="Arial Unicode MS"/>
                <a:ea typeface="Arial Unicode MS"/>
                <a:cs typeface="Arial Unicode MS"/>
              </a:rPr>
              <a:t>이 근접만으로 기여의 크기는 알 수 없습니다.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Met793 주사슬의 수소결합</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보라색 점선: Met793 주사슬 N과 약물 고리 N 사이</a:t>
            </a:r>
          </a:p>
          <a:p>
            <a:pPr algn="l">
              <a:lnSpc>
                <a:spcPct val="115000"/>
              </a:lnSpc>
              <a:spcAft>
                <a:spcPts val="1800"/>
              </a:spcAft>
            </a:pPr>
            <a:r>
              <a:rPr sz="2200" b="0" lang="ko-KR">
                <a:solidFill>
                  <a:srgbClr val="183342"/>
                </a:solidFill>
                <a:latin typeface="Arial Unicode MS"/>
                <a:ea typeface="Arial Unicode MS"/>
                <a:cs typeface="Arial Unicode MS"/>
              </a:rPr>
              <a:t>원자 좌표로 계산한 N···N 거리 약 2.7 Å</a:t>
            </a:r>
          </a:p>
          <a:p>
            <a:pPr algn="l">
              <a:lnSpc>
                <a:spcPct val="115000"/>
              </a:lnSpc>
            </a:pPr>
            <a:r>
              <a:rPr sz="2200" b="0" lang="ko-KR">
                <a:solidFill>
                  <a:srgbClr val="183342"/>
                </a:solidFill>
                <a:latin typeface="Arial Unicode MS"/>
                <a:ea typeface="Arial Unicode MS"/>
                <a:cs typeface="Arial Unicode MS"/>
              </a:rPr>
              <a:t>Met의 곁사슬과 주사슬을 구별해 읽습니다.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분자의 움직임</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결합하기 전에도 약물과 단백질은 물과 상호작용합니다.</a:t>
            </a:r>
          </a:p>
          <a:p>
            <a:pPr algn="l">
              <a:lnSpc>
                <a:spcPct val="115000"/>
              </a:lnSpc>
              <a:spcAft>
                <a:spcPts val="1800"/>
              </a:spcAft>
            </a:pPr>
            <a:r>
              <a:rPr sz="2700" b="0" lang="ko-KR">
                <a:solidFill>
                  <a:srgbClr val="183342"/>
                </a:solidFill>
                <a:latin typeface="Arial Unicode MS"/>
                <a:ea typeface="Arial Unicode MS"/>
                <a:cs typeface="Arial Unicode MS"/>
              </a:rPr>
              <a:t>새 접촉의 이득과 기존 접촉의 변화를 함께 고려합니다.</a:t>
            </a:r>
          </a:p>
          <a:p>
            <a:pPr algn="l">
              <a:lnSpc>
                <a:spcPct val="115000"/>
              </a:lnSpc>
            </a:pPr>
            <a:r>
              <a:rPr sz="2700" b="0" lang="ko-KR">
                <a:solidFill>
                  <a:srgbClr val="183342"/>
                </a:solidFill>
                <a:latin typeface="Arial Unicode MS"/>
                <a:ea typeface="Arial Unicode MS"/>
                <a:cs typeface="Arial Unicode MS"/>
              </a:rPr>
              <a:t>결합하며 모양과 움직임의 자유도도 달라질 수 있습니다.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DOCKING, MD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3: 관찰과 해석</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① Leu718의 곁사슬 탄소가 약물 가까이에 있다.</a:t>
            </a:r>
          </a:p>
          <a:p>
            <a:pPr algn="l">
              <a:lnSpc>
                <a:spcPct val="115000"/>
              </a:lnSpc>
              <a:spcAft>
                <a:spcPts val="1800"/>
              </a:spcAft>
            </a:pPr>
            <a:r>
              <a:rPr sz="2800" b="0" lang="ko-KR">
                <a:solidFill>
                  <a:srgbClr val="183342"/>
                </a:solidFill>
                <a:latin typeface="Arial Unicode MS"/>
                <a:ea typeface="Arial Unicode MS"/>
                <a:cs typeface="Arial Unicode MS"/>
              </a:rPr>
              <a:t>② Met793 주사슬이 수소결합에 기여할 수 있다.</a:t>
            </a:r>
          </a:p>
          <a:p>
            <a:pPr algn="l">
              <a:lnSpc>
                <a:spcPct val="115000"/>
              </a:lnSpc>
            </a:pPr>
            <a:r>
              <a:rPr sz="2800" b="0" lang="ko-KR">
                <a:solidFill>
                  <a:srgbClr val="183342"/>
                </a:solidFill>
                <a:latin typeface="Arial Unicode MS"/>
                <a:ea typeface="Arial Unicode MS"/>
                <a:cs typeface="Arial Unicode MS"/>
              </a:rPr>
              <a:t>③ 이 그림만으로 다른 약보다 효과가 크다고 알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155448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FFFFFF"/>
                </a:solidFill>
                <a:latin typeface="Arial Unicode MS"/>
                <a:ea typeface="Arial Unicode MS"/>
                <a:cs typeface="Arial Unicode MS"/>
              </a:rPr>
              <a:t>다음: 학생의 설명으로 구조 탐색하기</a:t>
            </a:r>
          </a:p>
          <a:p>
            <a:pPr algn="l">
              <a:lnSpc>
                <a:spcPct val="115000"/>
              </a:lnSpc>
            </a:pPr>
            <a:r>
              <a:rPr sz="2400" b="0" lang="ko-KR">
                <a:solidFill>
                  <a:srgbClr val="FFFFFF"/>
                </a:solidFill>
                <a:latin typeface="Arial Unicode MS"/>
                <a:ea typeface="Arial Unicode MS"/>
                <a:cs typeface="Arial Unicode MS"/>
              </a:rPr>
              <a:t>수업 시작 후 135분에 다시 시작합니다.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1: 전체 구조</a:t>
            </a:r>
          </a:p>
        </p:txBody>
      </p:sp>
      <p:pic>
        <p:nvPicPr>
          <p:cNvPr id="3" name="2ITY_whole.png" descr="2ITY whole"/>
          <p:cNvPicPr>
            <a:picLocks noChangeAspect="1"/>
          </p:cNvPicPr>
          <p:nvPr/>
        </p:nvPicPr>
        <p:blipFill>
          <a:blip r:embed="rId2"/>
          <a:srcRect l="25944" t="10640" r="21611" b="17280"/>
          <a:stretch>
            <a:fillRect/>
          </a:stretch>
        </p:blipFill>
        <p:spPr>
          <a:xfrm>
            <a:off x="1560772" y="1325880"/>
            <a:ext cx="4742295"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단백질과 약물을 각각 가리켜 보세요.</a:t>
            </a:r>
          </a:p>
          <a:p>
            <a:pPr algn="l">
              <a:lnSpc>
                <a:spcPct val="115000"/>
              </a:lnSpc>
            </a:pPr>
            <a:r>
              <a:rPr sz="2200" b="0" lang="ko-KR">
                <a:solidFill>
                  <a:srgbClr val="183342"/>
                </a:solidFill>
                <a:latin typeface="Arial Unicode MS"/>
                <a:ea typeface="Arial Unicode MS"/>
                <a:cs typeface="Arial Unicode MS"/>
              </a:rPr>
              <a:t>약물 주변을 자세히 보려면 무엇을 확대해야 할까요?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2: 결합 공간</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약물이 놓인 포켓을 손가락으로 짚어 보세요.</a:t>
            </a:r>
          </a:p>
          <a:p>
            <a:pPr algn="l">
              <a:lnSpc>
                <a:spcPct val="115000"/>
              </a:lnSpc>
            </a:pPr>
            <a:r>
              <a:rPr sz="2200" b="0" lang="ko-KR">
                <a:solidFill>
                  <a:srgbClr val="183342"/>
                </a:solidFill>
                <a:latin typeface="Arial Unicode MS"/>
                <a:ea typeface="Arial Unicode MS"/>
                <a:cs typeface="Arial Unicode MS"/>
              </a:rPr>
              <a:t>다음에는 포켓을 이루는 어떤 정보를 봐야 할까요?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3: 주변 잔기</a:t>
            </a:r>
          </a:p>
        </p:txBody>
      </p:sp>
      <p:pic>
        <p:nvPicPr>
          <p:cNvPr id="3" name="2ITY_neighbors.png" descr="2ITY neighbors"/>
          <p:cNvPicPr>
            <a:picLocks noChangeAspect="1"/>
          </p:cNvPicPr>
          <p:nvPr/>
        </p:nvPicPr>
        <p:blipFill>
          <a:blip r:embed="rId2"/>
          <a:srcRect r="22000"/>
          <a:stretch>
            <a:fillRect/>
          </a:stretch>
        </p:blipFill>
        <p:spPr>
          <a:xfrm>
            <a:off x="1389961" y="1325880"/>
            <a:ext cx="508391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약물 주변 잔기를 sticks로 표시했습니다.</a:t>
            </a:r>
          </a:p>
          <a:p>
            <a:pPr algn="l">
              <a:lnSpc>
                <a:spcPct val="115000"/>
              </a:lnSpc>
              <a:spcAft>
                <a:spcPts val="1800"/>
              </a:spcAft>
            </a:pPr>
            <a:r>
              <a:rPr sz="2200" b="0" lang="ko-KR">
                <a:solidFill>
                  <a:srgbClr val="183342"/>
                </a:solidFill>
                <a:latin typeface="Arial Unicode MS"/>
                <a:ea typeface="Arial Unicode MS"/>
                <a:cs typeface="Arial Unicode MS"/>
              </a:rPr>
              <a:t>가까운 잔기는 서열에서 연속하지 않을 수 있습니다.</a:t>
            </a:r>
          </a:p>
          <a:p>
            <a:pPr algn="l">
              <a:lnSpc>
                <a:spcPct val="115000"/>
              </a:lnSpc>
            </a:pPr>
            <a:r>
              <a:rPr sz="2200" b="0" lang="ko-KR">
                <a:solidFill>
                  <a:srgbClr val="183342"/>
                </a:solidFill>
                <a:latin typeface="Arial Unicode MS"/>
                <a:ea typeface="Arial Unicode MS"/>
                <a:cs typeface="Arial Unicode MS"/>
              </a:rPr>
              <a:t>혼잡하면 설명할 잔기만 남겨 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4: 원자 수준의 근거</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Leu718: 어느 부분의 어떤 특징을 보고 있나요?</a:t>
            </a:r>
          </a:p>
          <a:p>
            <a:pPr algn="l">
              <a:lnSpc>
                <a:spcPct val="115000"/>
              </a:lnSpc>
              <a:spcAft>
                <a:spcPts val="1800"/>
              </a:spcAft>
            </a:pPr>
            <a:r>
              <a:rPr sz="2200" b="0" lang="ko-KR">
                <a:solidFill>
                  <a:srgbClr val="183342"/>
                </a:solidFill>
                <a:latin typeface="Arial Unicode MS"/>
                <a:ea typeface="Arial Unicode MS"/>
                <a:cs typeface="Arial Unicode MS"/>
              </a:rPr>
              <a:t>Met793: 곁사슬과 주사슬 중 어디가 약물과 마주하나요?</a:t>
            </a:r>
          </a:p>
          <a:p>
            <a:pPr algn="l">
              <a:lnSpc>
                <a:spcPct val="115000"/>
              </a:lnSpc>
            </a:pPr>
            <a:r>
              <a:rPr sz="2200" b="0" lang="ko-KR">
                <a:solidFill>
                  <a:srgbClr val="183342"/>
                </a:solidFill>
                <a:latin typeface="Arial Unicode MS"/>
                <a:ea typeface="Arial Unicode MS"/>
                <a:cs typeface="Arial Unicode MS"/>
              </a:rPr>
              <a:t>각 설명에서 확실한 것과 추정한 것을 구별해 보세요.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근거를 담은 설명 예시</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약물은 EGFR kinase의 포켓에 놓여 있습니다.</a:t>
            </a:r>
          </a:p>
          <a:p>
            <a:pPr algn="l">
              <a:lnSpc>
                <a:spcPct val="115000"/>
              </a:lnSpc>
              <a:spcAft>
                <a:spcPts val="1800"/>
              </a:spcAft>
            </a:pPr>
            <a:r>
              <a:rPr sz="2700" b="0" lang="ko-KR">
                <a:solidFill>
                  <a:srgbClr val="183342"/>
                </a:solidFill>
                <a:latin typeface="Arial Unicode MS"/>
                <a:ea typeface="Arial Unicode MS"/>
                <a:cs typeface="Arial Unicode MS"/>
              </a:rPr>
              <a:t>Leu718의 비극성 곁사슬과 Met793의 주사슬 접촉이 결합에 기여할 수 있습니다.</a:t>
            </a:r>
          </a:p>
          <a:p>
            <a:pPr algn="l">
              <a:lnSpc>
                <a:spcPct val="115000"/>
              </a:lnSpc>
            </a:pPr>
            <a:r>
              <a:rPr sz="2700" b="0" lang="ko-KR">
                <a:solidFill>
                  <a:srgbClr val="183342"/>
                </a:solidFill>
                <a:latin typeface="Arial Unicode MS"/>
                <a:ea typeface="Arial Unicode MS"/>
                <a:cs typeface="Arial Unicode MS"/>
              </a:rPr>
              <a:t>이 그림만으로 결합 세기나 약효의 크기는 확정할 수 없습니다.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다른 약물의 구조</a:t>
            </a:r>
          </a:p>
        </p:txBody>
      </p:sp>
      <p:pic>
        <p:nvPicPr>
          <p:cNvPr id="3" name="1M17_whole.png" descr="1M17 whole"/>
          <p:cNvPicPr>
            <a:picLocks noChangeAspect="1"/>
          </p:cNvPicPr>
          <p:nvPr/>
        </p:nvPicPr>
        <p:blipFill>
          <a:blip r:embed="rId2"/>
          <a:srcRect l="19778" t="28480" r="32000" b="26800"/>
          <a:stretch>
            <a:fillRect/>
          </a:stretch>
        </p:blipFill>
        <p:spPr>
          <a:xfrm>
            <a:off x="594360" y="1401979"/>
            <a:ext cx="5372100" cy="3459681"/>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EGFR–erlotinib (1M17)</a:t>
            </a:r>
          </a:p>
        </p:txBody>
      </p:sp>
      <p:pic>
        <p:nvPicPr>
          <p:cNvPr id="5" name="1M17_contacts.png" descr="1M17 contacts"/>
          <p:cNvPicPr>
            <a:picLocks noChangeAspect="1"/>
          </p:cNvPicPr>
          <p:nvPr/>
        </p:nvPicPr>
        <p:blipFill>
          <a:blip r:embed="rId3"/>
          <a:srcRect l="9333" t="28720" r="7167" b="23520"/>
          <a:stretch>
            <a:fillRect/>
          </a:stretch>
        </p:blipFill>
        <p:spPr>
          <a:xfrm>
            <a:off x="6240780" y="2064905"/>
            <a:ext cx="5372100" cy="2133828"/>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약물과 선택한 두 잔기</a:t>
            </a:r>
          </a:p>
        </p:txBody>
      </p:sp>
      <p:sp>
        <p:nvSpPr>
          <p:cNvPr id="7" name="TextBox 6"/>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주황색 약물, Met769와 Leu764는 이 구조 파일의 잔기 번호입니다.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근거를 적기</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포켓을 표시하고, 주변 잔기 두 개를 그림에 연결하세요.</a:t>
            </a:r>
          </a:p>
          <a:p>
            <a:pPr algn="l">
              <a:lnSpc>
                <a:spcPct val="115000"/>
              </a:lnSpc>
              <a:spcAft>
                <a:spcPts val="1800"/>
              </a:spcAft>
            </a:pPr>
            <a:r>
              <a:rPr sz="2800" b="0" lang="ko-KR">
                <a:solidFill>
                  <a:srgbClr val="183342"/>
                </a:solidFill>
                <a:latin typeface="Arial Unicode MS"/>
                <a:ea typeface="Arial Unicode MS"/>
                <a:cs typeface="Arial Unicode MS"/>
              </a:rPr>
              <a:t>주어진 범례를 사용해 각 잔기의 가능한 기여를 한 문장씩 쓰세요.</a:t>
            </a:r>
          </a:p>
          <a:p>
            <a:pPr algn="l">
              <a:lnSpc>
                <a:spcPct val="115000"/>
              </a:lnSpc>
            </a:pPr>
            <a:r>
              <a:rPr sz="2800" b="0" lang="ko-KR">
                <a:solidFill>
                  <a:srgbClr val="183342"/>
                </a:solidFill>
                <a:latin typeface="Arial Unicode MS"/>
                <a:ea typeface="Arial Unicode MS"/>
                <a:cs typeface="Arial Unicode MS"/>
              </a:rPr>
              <a:t>그림만으로 알 수 없는 사항 하나와 이유를 적으세요.</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PDB1M17, STAMOS, COORD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해설</a:t>
            </a:r>
          </a:p>
        </p:txBody>
      </p:sp>
      <p:pic>
        <p:nvPicPr>
          <p:cNvPr id="3" name="1M17_hbond.png" descr="1M17 hbond"/>
          <p:cNvPicPr>
            <a:picLocks noChangeAspect="1"/>
          </p:cNvPicPr>
          <p:nvPr/>
        </p:nvPicPr>
        <p:blipFill>
          <a:blip r:embed="rId2"/>
          <a:srcRect l="9333" t="28720" r="7167" b="23520"/>
          <a:stretch>
            <a:fillRect/>
          </a:stretch>
        </p:blipFill>
        <p:spPr>
          <a:xfrm>
            <a:off x="502920" y="2227002"/>
            <a:ext cx="6858000" cy="2724035"/>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Leu764의 비극성 곁사슬이 약물 탄소 근처에 있습니다.</a:t>
            </a:r>
          </a:p>
          <a:p>
            <a:pPr algn="l">
              <a:lnSpc>
                <a:spcPct val="115000"/>
              </a:lnSpc>
              <a:spcAft>
                <a:spcPts val="1800"/>
              </a:spcAft>
            </a:pPr>
            <a:r>
              <a:rPr sz="2200" b="0" lang="ko-KR">
                <a:solidFill>
                  <a:srgbClr val="183342"/>
                </a:solidFill>
                <a:latin typeface="Arial Unicode MS"/>
                <a:ea typeface="Arial Unicode MS"/>
                <a:cs typeface="Arial Unicode MS"/>
              </a:rPr>
              <a:t>Met769 주사슬과 약물 고리 N 사이에 수소결합이 가능해 보입니다.</a:t>
            </a:r>
          </a:p>
          <a:p>
            <a:pPr algn="l">
              <a:lnSpc>
                <a:spcPct val="115000"/>
              </a:lnSpc>
            </a:pPr>
            <a:r>
              <a:rPr sz="2200" b="0" lang="ko-KR">
                <a:solidFill>
                  <a:srgbClr val="183342"/>
                </a:solidFill>
                <a:latin typeface="Arial Unicode MS"/>
                <a:ea typeface="Arial Unicode MS"/>
                <a:cs typeface="Arial Unicode MS"/>
              </a:rPr>
              <a:t>약효 비교에는 별도의 실험과 자료가 필요합니다.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읽기로 할 수 있는 판단</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구조에서 얻는 것</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추가로 필요한 근거</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약물의 위치와 주변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좌표의 품질과 빠진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결합에 기여할 법한 특징</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결합 실험, 비교 구조, 변이 실험</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 설계를 위한 가설</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다른 표적, 세포, 약물 성질의 검증</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구조는 설계 가설을 만드는 출발 자료입니다.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YUN, STAMOS,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다음 두 수업의 질문</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이 구조에 던질 질문</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AI 단백질 구조 · 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예측한 포켓과 주변 구조를 얼마나 믿을 수 있을까?</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MD (마지막 수업)</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물속에서 포켓과 접촉은 어떻게 변할까?</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Docking (마지막 수업)</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약물은 어떤 자세로 놓일 수 있을까?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MD와 docking은 합쳐 3시간이며, 서로 다른 질문을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AF, MD,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도착점</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단백질, 약물, 결합 공간을 그림에서 구별합니다.</a:t>
            </a:r>
          </a:p>
          <a:p>
            <a:pPr algn="l">
              <a:lnSpc>
                <a:spcPct val="115000"/>
              </a:lnSpc>
              <a:spcAft>
                <a:spcPts val="1800"/>
              </a:spcAft>
            </a:pPr>
            <a:r>
              <a:rPr sz="2700" b="0" lang="ko-KR">
                <a:solidFill>
                  <a:srgbClr val="183342"/>
                </a:solidFill>
                <a:latin typeface="Arial Unicode MS"/>
                <a:ea typeface="Arial Unicode MS"/>
                <a:cs typeface="Arial Unicode MS"/>
              </a:rPr>
              <a:t>주변 잔기의 어느 부분이 어떤 특징을 갖는지 설명합니다.</a:t>
            </a:r>
          </a:p>
          <a:p>
            <a:pPr algn="l">
              <a:lnSpc>
                <a:spcPct val="115000"/>
              </a:lnSpc>
            </a:pPr>
            <a:r>
              <a:rPr sz="2700" b="0" lang="ko-KR">
                <a:solidFill>
                  <a:srgbClr val="183342"/>
                </a:solidFill>
                <a:latin typeface="Arial Unicode MS"/>
                <a:ea typeface="Arial Unicode MS"/>
                <a:cs typeface="Arial Unicode MS"/>
              </a:rPr>
              <a:t>관찰한 사실과 가능한 해석, 아직 모르는 것을 나눠 말합니다.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YUN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기초와 구조 읽기</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2.1: 원자와 화학 결합</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https://openstax.org/books/biology-2e/pages/2-1-atoms-isotopes-ions-and-molecules-the-building-blocks</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2.2: 물과 극성</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https://openstax.org/books/biology-2e/pages/2-2-water</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3.4: 아미노산과 단백질</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https://openstax.org/books/biology-2e/pages/3-4-proteins</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Molecular Graphics Programs</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https://pdb101.rcsb.org/learn/guide-to-understanding-pdb-data/molecular-graphics-programs</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Missing Coordinates</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https://pdb101.rcsb.org/learn/guide-to-understanding-pdb-data/missing-coordinates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Methods for Determining Structure</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https://pdb101.rcsb.org/learn/guide-to-understanding-pdb-data/methods-for-determining-structure</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실험 메타데이터</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https://www.rcsb.org/structure/2ITY</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사례와 후속 수업</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EGFR kinase–gefitinib</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https://www.rcsb.org/structure/2ITY</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Yun et al. (2007), Cancer Cell 11:217–227</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https://doi.org/10.1016/j.ccr.2006.12.017</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1M17: EGFR kinase–erlotinib</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https://www.rcsb.org/structure/1M17</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Stamos et al. (2002), J Biol Chem 277:46265–46272</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https://doi.org/10.1074/jbc.M207135200</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EMBL-EBI: AlphaFold2 신뢰도 지표 해석</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https://www.ebi.ac.uk/training/online/courses/alphafold/inputs-and-outputs/evaluating-alphafolds-predicted-structures-using-confidence-scores/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GROMACS: Introduction to Molecular Dynamics</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https://tutorials.gromacs.org/md-intro-tutorial.html</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AutoDock Vina: Frequently Asked Questions</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https://autodock-vina.readthedocs.io/en/latest/faq.html</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생체분자 구조 읽기: 약물 설계를 위한 첫걸음</dc:title>
  <dc:subject>생물학 배경 석사생을 위한 한국어 3시간 강의</dc:subject>
  <dc:creator>Donghan Lee</dc:creator>
  <cp:keywords>biomolecule, protein, ligand, EGFR, 구조 읽기</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
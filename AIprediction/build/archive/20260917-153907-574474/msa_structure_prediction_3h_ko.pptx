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 이번 개정에서는 설명 직후 활동지를 바로 풉니다. 활동지 1쪽은 진화 관계, 2쪽은 A3M, 3쪽은 coevolution, 4쪽은 입력 조작, 5쪽은 결과 해석입니다. 실습용 가상 자료와 실제 예측 입력을 구분합니다.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7–9분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9–11분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11–13분 (2분)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13–15분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15–19분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19–21분 (2분)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21–23분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23–26분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26–28분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28–30분 (2분)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30–33분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33–37분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37–40분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40–43분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43–45분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45–47분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47–49분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49–52분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52–55분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55–65분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65–68분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68–70분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70–73분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73–75분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75–78분 (3분)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Depth·clustering·masking은 무엇을 바꾸나?</a:t>
            </a:r>
          </a:p>
          <a:p>
            <a:r>
              <a:t>시간: 78–80분 (2분)</a:t>
            </a:r>
          </a:p>
          <a:p/>
          <a:p>
            <a:r>
              <a:t>앞의 혼합 예제로 돌아가 A와 B를 함께 넣을 때와 A만 넣을 때는 관찰하는 분포 자체가 달라짐을 상기시킵니다. 실제 MSA clustering은 주어진 ortholog/paralog 이름을 그대로 읽는 절차가 아니며 결과 군집이 유전자 중복 계열이나 물리적 구조 상태라는 보장도 없습니다. Depth를 줄이면 드문 조합을 잃고 표집 변동이 커질 수 있습니다. Masking은 해당 위치의 정보와 다른 위치와의 조합 정보를 일부 가리지만 특정 접촉 하나만 정밀하게 끄는 조작은 아닙니다. 이런 조작으로 다른 구조 후보가 보고된 방법들을 다음 절에서 배웁니다. 원래 학습된 가중치를 그대로 쓰는 입력 조작이며, 시도할 때마다 정확도가 향상되거나 원하는 상태가 얻어진다는 뜻은 아닙니다. 예측된 후보의 수를 실제 상태의 확률이나 전이 경로로 해석하지 않습니다.</a:t>
            </a:r>
          </a:p>
          <a:p/>
          <a:p>
            <a:r>
              <a:t>출처</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80–83분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 MSA의 어떤 정보를 바꿀 것인가?</a:t>
            </a:r>
          </a:p>
          <a:p>
            <a:r>
              <a:t>시간: 83–84분 (1분)</a:t>
            </a:r>
          </a:p>
          <a:p/>
          <a:p>
            <a:r>
              <a:t>지금까지의 개념을 다음 구조 예측 실습의 관찰 항목으로 연결합니다. Depth 변경은 몇 행을 제공하는지, clustering은 어떤 서열 집단을 선택하는지, masking은 어떤 위치의 정보를 감추는지에 관한 조작입니다. 어떤 변경이든 정보가 줄거나 치우칠 수 있으므로 무조건 정확도를 높이는 방법으로 소개하지 않습니다. 학생에게 앞으로 결과를 비교할 때 구조가 달라졌다는 관찰과 실제 생물학적 상태가 존재한다는 결론을 구분하도록 안내하고 실제 입력 흐름으로 넘어갑니다.</a:t>
            </a:r>
          </a:p>
          <a:p/>
          <a:p>
            <a:r>
              <a:t>출처</a:t>
            </a:r>
          </a:p>
          <a:p>
            <a:r>
              <a:t>[evo_ebi_msa] EMBL-EBI Training: Multiple sequence alignment</a:t>
            </a:r>
          </a:p>
          <a:p>
            <a:r>
              <a:t>https://www.ebi.ac.uk/training/online/courses/guide-to-sequence-analysis-tools/sequence-alignment/multiple-sequence-alignment/</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84–86분 (2분)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86–88분 (2분)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88–90분 (2분)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90–92분 (2분)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92–94분 (2분)</a:t>
            </a:r>
          </a:p>
          <a:p/>
          <a:p>
            <a:r>
              <a:t>공식 주소는 아래 링크와 examples/colabfold_walkthrough.md에 있습니다. ColabFold의 AlphaFold2 노트북이며 AlphaFold Server의 AF3 화면과 다릅니다. 브라우저에서 링크를 열고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94–96분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96–98분 (2분)</a:t>
            </a:r>
          </a:p>
          <a:p/>
          <a:p>
            <a:r>
              <a:t>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98–100분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100–102분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102–104분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104–105분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예측 모델의 역할</a:t>
            </a:r>
          </a:p>
          <a:p>
            <a:r>
              <a:t>시간: 105–107분 (2분)</a:t>
            </a:r>
          </a:p>
          <a:p/>
          <a:p>
            <a:r>
              <a:t>사용 목적에 따라 모델을 고른다. ColabFold는 AF2를 사용하기 쉽게 만든 워크플로이며 별도의 독립 구조 모델 이름과 혼동하지 않는다. Boltz-2와 Chai-1은 여러 종류의 생체분자를 함께 다룰 수 있다. ESMFold는 언어 모델을 활용해 단일 서열에서 구조를 예측하며 별도의 입력 MSA가 필요하지 않다. 서로 다른 모델도 학습 데이터나 구조 선호를 공유할 수 있다. 한 모델에서 나온 상태가 다른 모델에서 보이지 않는다는 이유만으로 존재를 부정할 수 없다.</a:t>
            </a:r>
          </a:p>
          <a:p/>
          <a:p>
            <a:r>
              <a:t>출처</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Boltz-2에서 같은 A3M 사용</a:t>
            </a:r>
          </a:p>
          <a:p>
            <a:r>
              <a:t>시간: 107–108분 (1분)</a:t>
            </a:r>
          </a:p>
          <a:p/>
          <a:p>
            <a:r>
              <a:t>Boltz 공식 문서는 YAML 입력을 권장한다. 이 수업의 입력 생성기는 동일한 FASTA와 A3M에서 단량체 YAML을 만든다. msa 파일을 지정하면 해당 정렬을 사용하며 자동 MSA 서버 옵션과 구분한다. 아래 명령은 설치와 모델 파일 다운로드, 적합한 계산 자원이 준비된 환경에서 실행한다. Boltz와 AF2의 기본값과 신뢰도 점수를 숫자만으로 동일시하지 않는다. 단백질이 calmodulin이라는 이유만으로 apo/holo 구조가 저절로 구분된다고 기대하지 않는다.</a:t>
            </a:r>
          </a:p>
          <a:p/>
          <a:p>
            <a:r>
              <a:t>출처</a:t>
            </a:r>
          </a:p>
          <a:p>
            <a:r>
              <a:t>[core_boltz] Boltz official prediction documentation</a:t>
            </a:r>
          </a:p>
          <a:p>
            <a:r>
              <a:t>https://github.com/jwohlwend/boltz/blob/main/docs/prediction.md</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Chai-1과 ESMFold 비교 경로</a:t>
            </a:r>
          </a:p>
          <a:p>
            <a:r>
              <a:t>시간: 108–109분 (1분)</a:t>
            </a:r>
          </a:p>
          <a:p/>
          <a:p>
            <a:r>
              <a:t>Chai-1은 header에 protein이라는 entity 유형을 지정하는 전용 FASTA를 사용한다. examples/prepare_inputs.py는 필요한 형식으로 복사한다. Chai-1의 custom MSA는 .aligned.pqt 형식이므로 A3M을 그대로 넘기는 AF2 사용법과 다르다. ESMFold는 단일 서열 비교 기준으로 소개한다. 언어 모델이 훈련 과정에서 진화적 서열 통계를 학습했으므로 입력 MSA가 없다는 사실이 진화 정보가 전혀 없다는 뜻은 아니다. 모델 간 결과 차이는 어느 모델이 정답인지 단독으로 결정하지 않는다.</a:t>
            </a:r>
          </a:p>
          <a:p/>
          <a:p>
            <a:r>
              <a:t>출처</a:t>
            </a:r>
          </a:p>
          <a:p>
            <a:r>
              <a:t>[core_chai] Chai-1 official repository</a:t>
            </a:r>
          </a:p>
          <a:p>
            <a:r>
              <a:t>https://github.com/chaidiscovery/chai-lab</a:t>
            </a:r>
          </a:p>
          <a:p>
            <a:r>
              <a:t>[core_chai_msa] Chai-1 official MSA examples</a:t>
            </a:r>
          </a:p>
          <a:p>
            <a:r>
              <a:t>https://github.com/chaidiscovery/chai-lab/tree/main/examples/msas</a:t>
            </a:r>
          </a:p>
          <a:p>
            <a:r>
              <a:t>[core_esm] ESM / ESMFold official repository</a:t>
            </a:r>
          </a:p>
          <a:p>
            <a:r>
              <a:t>https://github.com/facebookresearch/esm</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109–111분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111–114분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114–116분 (2분)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116–118분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118–121분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121–123분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123–126분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126–136분 (10분)</a:t>
            </a:r>
          </a:p>
          <a:p/>
          <a:p>
            <a:r>
              <a:t>두 번째 휴식. Depth 실습에서 생성한 폴더 위치를 기록하게 합니다. 이후 같은 폴더의 group과 masked 파일을 차례로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136–139분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139–141분 (2분)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141–144분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144–146분 (2분)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146–147분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147–148분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148–150분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150–153분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153–156분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156–158분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158–160분 (2분)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160–162분 (2분)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162–163분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 후보는 품질과 다양성을 함께 본다</a:t>
            </a:r>
          </a:p>
          <a:p>
            <a:r>
              <a:t>시간: 163–166분 (3분)</a:t>
            </a:r>
          </a:p>
          <a:p/>
          <a:p>
            <a:r>
              <a:t>아래는 실제 AF2 출력이 아닌 교사의 가상 판단 연습이다. 먼저 평균 pLDDT만 읽지 말고 변한 부위와 domain 사이 PAE, 기하학적 이상을 보도록 한다. 강사용 토론 예: A와 B는 비교할 대표 후보로 보관하고 C는 잠정 보류, D는 A와 중복임을 표시한다. B의 더 큰 구조 차이가 정답을 뜻하지 않으며 후속 독립 증거가 필요하다. 전체 사슬을 무조건 맞추면 움직임이 희석될 수 있어 비교 core와 잔기 범위를 기록한다.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[speach_paper] Stein and Mchaourab (2022), SPEACH_AF: Sampling protein ensembles and conformational heterogeneity with Alphafold2</a:t>
            </a:r>
          </a:p>
          <a:p>
            <a:r>
              <a:t>https://journals.plos.org/ploscompbiol/article?id=10.1371/journal.pcbi.1010483</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pLDDT·PAE를 상태 확률로 읽지 않는다</a:t>
            </a:r>
          </a:p>
          <a:p>
            <a:r>
              <a:t>시간: 166–168분 (2분)</a:t>
            </a:r>
          </a:p>
          <a:p/>
          <a:p>
            <a:r>
              <a:t>pLDDT는 AF2에서 잔기별 국소 정확도에 대한 예측 점수이고 PAE는 한 위치를 기준으로 맞췄을 때 다른 위치에 예상되는 오차이다. 둘 다 해당 조건에서 분자가 그 상태에 머무는 평형 확률을 출력한 값은 아니다. 같은 실험 조건을 표현하는 물리적 ensemble이 아니라 MSA·seed·template 설정에 민감한 생성 결과라는 점을 반복한다. 상태 점유율 또는 자유에너지를 주장하려면 그 목적에 맞는 독립적인 실험과 보정 근거가 추가되어야 한다.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 구조 비교의 기준</a:t>
            </a:r>
          </a:p>
          <a:p>
            <a:r>
              <a:t>시간: 168–170분 (2분)</a:t>
            </a:r>
          </a:p>
          <a:p/>
          <a:p>
            <a:r>
              <a:t>RMSD는 구조를 맞추는 원자 선택에 따라 달라진다. 전체를 정렬한 RMSD와 한 도메인에 정렬한 뒤 다른 도메인의 이동을 보는 것은 다른 질문이다. 잔기 번호가 다른 경우 서열 대응부터 확인한다. PAE는 실제 구조를 비교해 측정한 오차가 아니라 모델의 예측 오차다. 단량체 평균 pLDDT가 높아도 도메인 간 상대 배치는 불확실할 수 있다. 점수만 읽지 말고 같은 색과 표시 방식으로 구조를 관찰하도록 한다.</a:t>
            </a:r>
          </a:p>
          <a:p/>
          <a:p>
            <a:r>
              <a:t>출처</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170–175분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pLDDT·PAE와 구조 비교 기준 설명 직후 활동지5쪽을 풉니다. 핵심은1번과3번이며 시간이 남으면2번을 토의합니다.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구조를 얻은 뒤 남는 질문</a:t>
            </a:r>
          </a:p>
          <a:p>
            <a:r>
              <a:t>시간: 175–176분 (1분)</a:t>
            </a:r>
          </a:p>
          <a:p/>
          <a:p>
            <a:r>
              <a:t>마지막으로 각자가 후보라는 단어를 포함해 결론 한 문장을 작성하게 한다. 강사용 예: MSA 입력을 바꾸자 같은 query에서 구조적으로 다른 후보가 나왔으며 실제 상태인지는 추가 검증이 필요하다. 그림을 열린 순서대로 나열하거나 보간한 영상은 설명용 시각화이며 분자 궤적이 아니다. 상태 간 전환 속도와 경로는 별도의 동역학 근거를 요구한다. 방금 수행한 실습을 돌아보며 어떤 입력을 바꿨는지, 결과에서 어디가 달랐는지, 무엇을 아직 모르는지를 한 묶음으로 기록한다.</a:t>
            </a:r>
          </a:p>
          <a:p/>
          <a:p>
            <a:r>
              <a:t>출처</a:t>
            </a:r>
          </a:p>
          <a:p>
            <a:r>
              <a:t>[afsample2_paper] Kalakoti and Wallner (2025), AFsample2 predicts multiple conformations and ensembles with AlphaFold2</a:t>
            </a:r>
          </a:p>
          <a:p>
            <a:r>
              <a:t>https://www.nature.com/articles/s42003-025-07791-9</a:t>
            </a:r>
          </a:p>
          <a:p>
            <a:r>
              <a:t>[af3_paper]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a:p>
            <a:r>
              <a:t>[core_cf] ColabFold official repository</a:t>
            </a:r>
          </a:p>
          <a:p>
            <a:r>
              <a:t>https://github.com/sokrypton/ColabFold</a:t>
            </a:r>
          </a:p>
          <a:p>
            <a:r>
              <a:t>[core_boltz] Boltz official prediction documentation</a:t>
            </a:r>
          </a:p>
          <a:p>
            <a:r>
              <a:t>https://github.com/jwohlwend/boltz/blob/main/docs/prediction.md</a:t>
            </a:r>
          </a:p>
          <a:p>
            <a:r>
              <a:t>[core_chai] Chai-1 official repository</a:t>
            </a:r>
          </a:p>
          <a:p>
            <a:r>
              <a:t>https://github.com/chaidiscovery/chai-lab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www.nature.com/articles/s41586-024-07487-w" TargetMode="External"/><Relationship Id="rId4" Type="http://schemas.openxmlformats.org/officeDocument/2006/relationships/hyperlink" Target="https://github.com/sokrypton/ColabFold" TargetMode="External"/><Relationship Id="rId5" Type="http://schemas.openxmlformats.org/officeDocument/2006/relationships/hyperlink" Target="https://github.com/jwohlwend/boltz/blob/main/docs/prediction.md" TargetMode="External"/><Relationship Id="rId6" Type="http://schemas.openxmlformats.org/officeDocument/2006/relationships/hyperlink" Target="https://github.com/chaidiscovery/chai-lab" TargetMode="External"/><Relationship Id="rId7"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Ortholog·paralog와 공진화(coevolution)를 구조 예측의 단서로 읽기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000–001분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75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001–003분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75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003–005분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75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005–007분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75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007–009분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75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009–011분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75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011–013분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75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013–015분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015–019분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75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019–021분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75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021–023분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75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023–026분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75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026–028분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75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028–030분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75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030–033분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75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033–037분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75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037–040분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75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040–043분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75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043–045분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75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045–047분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75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047–049분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75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049–052분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75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052–055분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75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055–065분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24 / 75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065–068분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75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068–070분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75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070–073분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75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073–075분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75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075–078분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75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 정보를 바꾸어 구조 후보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Depth·clustering·masking은 무엇을 바꾸나?</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017520"/>
                <a:gridCol w="7955279"/>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공변이 관점에서 달라지는 정보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줄이기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조합을 추정할 행 수와 표집된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 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선택된 서열 계열과 그 안의 조합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특정 위치의 잔기 및 그 위치가 참여하는 조합 정보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query에도 제공되는 잔기 분포·조합·계열 구성이 달라짐</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다른 구조가 나와도 생물학적 상태·존재 비율은 별도 검증</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078–080분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75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080–083분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75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다음 단계: MSA의 어떤 정보를 바꿀 것인가?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먼저 물을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조절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몇 행을 남기며 어떤 다양성이 달라지는가?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어떤 서열 집단을 골랐는가?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어떤 열을 가리며 query 번호는 유지되는가?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변경 전후의 행 수·다양성·coverage·query 좌표를 기록</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변경으로 얻은 다른 구조는 검증할 후보이지 상태의 증명이 아님</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083–084분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75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084–086분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75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086–088분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75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088–090분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090–092분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75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공식 AlphaFold2 노트북을 열고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사용할 파일: examples/calmodulin_P0DP23.fasta</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공식 ColabFold AlphaFold2 노트북 열기 · 클릭</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092–094분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75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094–096분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75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CALM1 전체 서열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FASTA의 &gt;로 시작하는 제목 줄을 빼고 서열만 붙여넣기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첫 셀 출력에서 length 149와 실제 서열을 확인</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096–098분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75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098–100분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75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100–102분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75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102–104분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75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104–105분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75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다른 예측 모델의 역할</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도구</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주요 역할</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 수업에서 비교할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ColabFold / AF2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Custom A3M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조건별 차이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Boltz-2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분자의 복합체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A3M과 분자 조건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Chai-1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생체분자 복합체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사용 여부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ESMFold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단일 서열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 없는 비교 기준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간 일치는 참고 근거이며 독립적인 실험 검증은 아닙니다.</a:t>
            </a:r>
          </a:p>
        </p:txBody>
      </p:sp>
      <p:sp>
        <p:nvSpPr>
          <p:cNvPr id="6" name="TextBox 5"/>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105–107분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75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Boltz-2에서 같은 A3M 사용</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python3 examples/prepare_inputs.py \</a:t>
            </a:r>
          </a:p>
          <a:p>
            <a:pPr>
              <a:lnSpc>
                <a:spcPts val="2372"/>
              </a:lnSpc>
            </a:pPr>
            <a:r>
              <a:rPr sz="2100" b="0" lang="ko-KR">
                <a:solidFill>
                  <a:srgbClr val="183342"/>
                </a:solidFill>
                <a:latin typeface="Courier New"/>
                <a:ea typeface="Arial Unicode MS"/>
              </a:rPr>
              <a:t>  examples/calmodulin_P0DP23.fasta target.a3m \</a:t>
            </a:r>
          </a:p>
          <a:p>
            <a:pPr>
              <a:lnSpc>
                <a:spcPts val="2372"/>
              </a:lnSpc>
            </a:pPr>
            <a:r>
              <a:rPr sz="2100" b="0" lang="ko-KR">
                <a:solidFill>
                  <a:srgbClr val="183342"/>
                </a:solidFill>
                <a:latin typeface="Courier New"/>
                <a:ea typeface="Arial Unicode MS"/>
              </a:rPr>
              <a:t>  --out prepared</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boltz predict prepared/boltz.yaml \</a:t>
            </a:r>
          </a:p>
          <a:p>
            <a:pPr>
              <a:lnSpc>
                <a:spcPts val="2372"/>
              </a:lnSpc>
            </a:pPr>
            <a:r>
              <a:rPr sz="2100" b="0" lang="ko-KR">
                <a:solidFill>
                  <a:srgbClr val="183342"/>
                </a:solidFill>
                <a:latin typeface="Courier New"/>
                <a:ea typeface="Arial Unicode MS"/>
              </a:rPr>
              <a:t>  --out_dir results/boltz</a:t>
            </a:r>
          </a:p>
        </p:txBody>
      </p:sp>
      <p:sp>
        <p:nvSpPr>
          <p:cNvPr id="5" name="TextBox 4"/>
          <p:cNvSpPr txBox="1"/>
          <p:nvPr/>
        </p:nvSpPr>
        <p:spPr>
          <a:xfrm>
            <a:off x="676656" y="357047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FASTA와 MSA query 일치 검사</a:t>
            </a:r>
          </a:p>
          <a:p>
            <a:pPr>
              <a:lnSpc>
                <a:spcPct val="113000"/>
              </a:lnSpc>
            </a:pPr>
            <a:r>
              <a:rPr sz="1800" b="0" lang="ko-KR">
                <a:solidFill>
                  <a:srgbClr val="277F87"/>
                </a:solidFill>
                <a:latin typeface="Arial Unicode MS"/>
                <a:ea typeface="Arial Unicode MS"/>
              </a:rPr>
              <a:t>AF3 JSON과 Boltz YAML 생성</a:t>
            </a:r>
          </a:p>
          <a:p>
            <a:pPr>
              <a:lnSpc>
                <a:spcPct val="113000"/>
              </a:lnSpc>
            </a:pPr>
            <a:r>
              <a:rPr sz="1800" b="0" lang="ko-KR">
                <a:solidFill>
                  <a:srgbClr val="277F87"/>
                </a:solidFill>
                <a:latin typeface="Arial Unicode MS"/>
                <a:ea typeface="Arial Unicode MS"/>
              </a:rPr>
              <a:t>실제 추론은 별도 실행</a:t>
            </a:r>
          </a:p>
        </p:txBody>
      </p:sp>
      <p:sp>
        <p:nvSpPr>
          <p:cNvPr id="6" name="TextBox 5"/>
          <p:cNvSpPr txBox="1"/>
          <p:nvPr/>
        </p:nvSpPr>
        <p:spPr>
          <a:xfrm>
            <a:off x="676656" y="456082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YAML의 protein 항목에 sequence와 msa 경로 지정</a:t>
            </a:r>
          </a:p>
        </p:txBody>
      </p:sp>
      <p:sp>
        <p:nvSpPr>
          <p:cNvPr id="7" name="TextBox 6"/>
          <p:cNvSpPr txBox="1"/>
          <p:nvPr/>
        </p:nvSpPr>
        <p:spPr>
          <a:xfrm>
            <a:off x="676656" y="509066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examples/prepare_inputs.py로 입력 파일 생성</a:t>
            </a:r>
          </a:p>
        </p:txBody>
      </p:sp>
      <p:sp>
        <p:nvSpPr>
          <p:cNvPr id="8" name="TextBox 7"/>
          <p:cNvSpPr txBox="1"/>
          <p:nvPr/>
        </p:nvSpPr>
        <p:spPr>
          <a:xfrm>
            <a:off x="676656" y="562051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입력을 사용해 모델 간 차이를 관찰</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107–108분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75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Chai-1과 ESMFold 비교 경로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실행 경로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입력·확인 사항</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chai-lab fold prepared/chai.fasta results/chai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조건의 단일 서열 예측</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Chai-1에서 custom MSA 사용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공식 .aligned.pqt 변환 예제</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esm-fold -i 입력.fasta -o 결과폴더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설치된 ESMFold 환경 필요</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Chai-1: 전용 FASTA 형식으로 입력</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사용 시 공식 변환·서버 옵션 확인</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ESMFold: 별도의 입력 MSA 없이 예측</a:t>
            </a:r>
          </a:p>
        </p:txBody>
      </p:sp>
      <p:sp>
        <p:nvSpPr>
          <p:cNvPr id="8" name="TextBox 7"/>
          <p:cNvSpPr txBox="1"/>
          <p:nvPr/>
        </p:nvSpPr>
        <p:spPr>
          <a:xfrm>
            <a:off x="640080" y="529818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모델 변화와 MSA 변화의 효과를 따로 기록</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108–109분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75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109–111분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75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111–114분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75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114–116분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75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116–118분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75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118–121분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121–123분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123–126분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75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clustering과 masking 설명·바로 실습</a:t>
            </a:r>
          </a:p>
        </p:txBody>
      </p:sp>
      <p:sp>
        <p:nvSpPr>
          <p:cNvPr id="4" name="TextBox 3"/>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126–136분</a:t>
            </a:r>
          </a:p>
        </p:txBody>
      </p:sp>
      <p:sp>
        <p:nvSpPr>
          <p:cNvPr id="5" name="TextBox 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54 / 75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136–139분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75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139–141분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75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141–144분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75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144–146분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75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146–147분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75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147–148분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75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148–150분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75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150–153분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75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153–156분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75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156–158분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75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158–160분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75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160–162분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75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162–163분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75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대표 후보는 품질과 다양성을 함께 본다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질문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Core 양호·기준 형태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대표인가?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Core 양호·도메인 배치 다름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PAE와 실험이 뒷받침하나?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차이·국소 충돌·낮은 확신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상태인가, 오류인가?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A와 거의 같은 구조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중복을 줄일 수 있나?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먼저 원자 충돌·비정상 구조·낮은 확신 영역을 점검한다.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안정된 core를 기준으로 겹친 뒤 차이를 비교한다.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다른 후보를 남기고 실험 근거와 대조한다.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163–166분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75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pLDDT·PAE를 상태 확률로 읽지 않는다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숫자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말할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직접 뜻하지 않는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 높음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국소 구조를 자신 있게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안정성·결합력·점유율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PAE 낮음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상대 배치를 자신 있게 예측</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이동 속도·전환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100개 중 70개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설정의 생성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평형에서 70% 존재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pLDDT: 국소 구조에 대한 모델의 확신</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PAE: 상대 위치에 대한 예상 오차(Å)</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후보가 70% 나왔다는 사실만으로 점유율 70%는 아니다.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166–168분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75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예측 구조 비교의 기준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1강에서 사용한 뷰어로 구조와 confidence 파일 열기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동일한 서열 구간과 원자를 정렬해 비교</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도메인 각도·접촉·거리처럼 질문에 맞는 특징 측정</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긴 loop 하나가 전체 RMSD를 키웠는지 확인</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168–170분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170–175분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75</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여러 구조를 얻은 뒤 남는 질문</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가능한 주장: 이 조건에서 서로 다른 구조 후보를 얻었다.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추가 근거 필요: 실제 상태인가, 얼마나 존재하는가?</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구조 번호·recycle 순서로 전환 시간이나 속도를 읽지 않는다.</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175–176분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75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176–178분</a:t>
            </a:r>
          </a:p>
        </p:txBody>
      </p:sp>
      <p:sp>
        <p:nvSpPr>
          <p:cNvPr id="10" name="TextBox 9"/>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75</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178–179분</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75</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Abramson et al. (2024), Accurate structure prediction of biomolecular interactions with AlphaFold 3</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https://www.nature.com/articles/s41586-024-07487-w</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Boltz official prediction documentation</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https://github.com/jwohlwend/boltz/blob/main/docs/prediction.md</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Chai-1 official repository</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https://github.com/chaidiscovery/chai-lab</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640080" y="6473952"/>
            <a:ext cx="365760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179–180분</a:t>
            </a:r>
          </a:p>
        </p:txBody>
      </p:sp>
      <p:sp>
        <p:nvSpPr>
          <p:cNvPr id="16" name="TextBox 1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75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
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시작부터 ‘왜 AlphaFold를 배우는데 정렬과 진화를 먼저 보나요?’에 답합니다. 도입 2–4장은 query에서 MSA와 구조로 이어지는 흐름, 짧은 MSA의 보존·공변화 예제, 정보의 질과 진화 관계가 중요한 이유를 보여 줍니다. 이후 homology·ortholog·paralog를 배워 정렬에 들어온 서열들이 어떤 관계인지 읽고, coevolution과 MSA 입력 조작으로 연결합니다. 활동지 1쪽은 진화 관계, 2쪽은 A3M, 3쪽은 coevolution, 4쪽은 입력 조작, 5쪽은 lDDT 계산과 pLDDT 학습, 6쪽은 pLDDT·PAE, 7쪽은 결과 해석입니다. 교육용 가상 정렬과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구조를 예측할 서열 하나이며 MSA는 이 표적과 관련된 여러 상동 서열을 대응 위치별로 정렬한 입력입니다. 사용자가 ColabFold에 서열만 넣어도 일반적인 검색 모드에서는 뒤에서 관련 서열을 찾고 MSA를 만듭니다. MSA 파일에는 좌표가 없지만 서열들을 비교하면서 얻는 진화적 제약의 단서가 있습니다. 미리 학습된 AlphaFold2는 MSA 표현과 잔기쌍 표현을 함께 갱신해 좌표를 추론하고 신뢰도를 출력합니다. MSA를 먼저 접촉표로 완전히 바꾼 뒤 그 표만 모델에 넣는다는 뜻은 아닙니다. Template은 이용할 경우 추가하는 기존 구조 정보입니다. 새 query마다 MSA를 만드는 것은 입력 준비이며 신경망 가중치를 처음부터 다시 학습하는 과정이 아닙니다. AF3도 MSA 정보를 사용하지만 Evoformer와 동일한 구조가 아니라 MSA 처리·Pairformer·diffusion으로 역할이 달라집니다. 오늘 구체적 클릭 실습은 AF2 기반 ColabFold로 진행합니다. 다음 두 장에서 왜 여러 서열을 비교해야 하는지 본 뒤 이 서열들의 진화 관계를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한 줄에서는 보이지 않던 단서가 생긴다</a:t>
            </a:r>
          </a:p>
          <a:p>
            <a:r>
              <a:t>시간: 3–5분 (2분)</a:t>
            </a:r>
          </a:p>
          <a:p/>
          <a:p>
            <a:r>
              <a:t>이 예제는 손으로 만든 8열 정렬이며 실습의 149잔기 calmodulin이나 뒤의 12열 A3M과 다른 교육용 자료입니다. Query 한 줄만 보면 C가 이 유전자 가족에서 보존되는지, 3열과6열의 변화가 연결되는지 알 수 없습니다. 여러 행을 나란히 놓으면 2열과8열이 보존되고 3열과6열의 잔기 조합이 함께 달라지는 패턴을 볼 수 있습니다. D·E는 음전하 성질, K·R은 양전하 성질의 예시여서 두 열에서 상보적인 조합을 떠올릴 수 있으나 실제 접촉이 있다는 관측 자료는 아닙니다. 네 행만으로 통계적 유의성·인과 관계·보상 진화를 입증할 수 없습니다. 구조 유지뿐 아니라 기능 제약이나 공통 조상에서도 패턴이 생길 수 있음을 예고합니다. AlphaFold가 이 네 행에서 손으로 표시한 두 열만 사용하는 것은 아니며 많은 위치와 학습한 구조 규칙을 함께 처리합니다. 여기서는 계산 공식을 배우기보다 한 서열에 없는 비교 정보가 MSA에 생긴다는 점을 이해시킵니다. 마지막에 C가 모두 같다는 것을 학생이 직접 가리키도록 합니다. 다음 장은 다른 가상100잔기 표적의20·80열을 발췌한 도식입니다. 공변화가 어떻게 구조 정보로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공진화가 3차원 구조 정보를 주는 이유</a:t>
            </a:r>
          </a:p>
          <a:p>
            <a:r>
              <a:t>시간: 5–7분 (2분)</a:t>
            </a:r>
          </a:p>
          <a:p/>
          <a:p>
            <a:r>
              <a:t>그림을 왼쪽에서 오른쪽으로 읽으며 공진화가 어떤 구조 정보를 주는지 설명합니다. 가상 100잔기 가족의 MSA에서 20번과 80번 열만 발췌했습니다. Query의 D/K와 상동 서열의 E/R, K/D, R/E는 서로 맞는 전하 조합을 떠올리게 하는 예시입니다. 서열에서 60위치 떨어진 두 잔기도 단백질이 접히면 공간에서 가까워질 수 있습니다. 접촉하는 두 잔기의 전하·크기·소수성 조합을 유지하려는 선택이 서로 허용되는 치환을 제약하면, MSA에 두 열의 의존성으로 남을 수 있습니다. 이 진화적 흔적을 거꾸로 읽어 접촉 후보와 거리·배치 관계를 추론하는 것이 핵심입니다. 중앙 화살표는 학습된 모델의 구조 추론 방향이며 실제 진화 순서나 물리적 접힘 동영상을 뜻하지 않습니다. 오른쪽 사슬은 그린 개념도이며 원자 좌표나 실제 calmodulin 예측이 아닙니다. 한 쌍의 신호가 한 구조를 결정하는 것은 아니며, 여러 위치쌍과 서열·학습된 구조 규칙을 함께 이용합니다. AF2는 MSA 표현과 잔기쌍 표현을 함께 갱신합니다. 먼저 MI/DCA로 접촉표를 확정한 다음 그것만 구조 모듈에 넣는 파이프라인으로 읽지 않습니다. 공통 조상·간접 상관·기능 제약도 같은 패턴을 만들 수 있어 모든 공변화가 직접 접촉이라는 뜻은 아닙니다. 다음 진화 관계 단원은 이 신호를 어떤 서열들에서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서열들은 어떤 관계인가?’를 이어받습니다. 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13–15분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15–17분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17–18분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18–20분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20–24분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24–25분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25–27분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30–32분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32–33분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36–40분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42–45분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47–49분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접촉을 유지하는 선택이 공진화를 만들 수 있다</a:t>
            </a:r>
          </a:p>
          <a:p>
            <a:r>
              <a:t>시간: 49–51분 (2분)</a:t>
            </a:r>
          </a:p>
          <a:p/>
          <a:p>
            <a:r>
              <a:t>그림의 원은 원자 한 개가 아니라 잔기 측쇄의 전하 성질을 단순화한 표식입니다. i 위치는 청록, j 위치는 주황으로 일관되게 표시하며 색 자체가 전하를 뜻하지 않습니다. D는 보통 음전하, K는 양전하를 띠지만 실제 전하·안정성은 pH·환경·거리·배향에 의존합니다. 여기서는 가까운 두 위치의 반대 전하 조합이 유리하다는 가정을 명시합니다. D−/K+와 K+/D− 두 조합을 나란히 보여주고, K+/K+는 이 가정에서 덜 유리하다고 표시합니다. 두 유리한 조합 사이에 화살표를 그리지 않았으므로 D/K에서 K/K를 거쳐 K/D로 진화했다거나 두 변이가 동시에 일어났다는 주장이 아닙니다. 한 위치의 치환 효과가 다른 위치의 상태에 의존하는 것은 epistasis이며, 한 변화의 영향을 다른 변화가 완화할 수 있다는 것이 보상적 치환의 직관입니다. 이런 구조 유지 제약이 여러 상동 서열의 조합 패턴으로 남을 수 있기 때문에 공진화 분석으로 서열에서 멀리 떨어진 위치의 공간 접촉을 추정할 수 있습니다. 다만 다음 빈도 실습의 통계만으로 이 물리적 원인을 확정하지 않습니다. 학생에게 ‘한 열만 보는 보존도와 두 열을 함께 읽는 구조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54–57분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67–70분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70–72분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72–75분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75–77분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79–82분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서열 줄만 복사해도 됩니다. 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93–95분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95–97분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97–99분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99–100분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100–102분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102–104분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104–106분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106–108분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108–110분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110–113분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113–115분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115–117분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117–120분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120–130분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130–132분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132–133분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133–135분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135–138분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138–139분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139–141분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141–144분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144–146분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146–149분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149–152분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152–153분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153–156분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156–157분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157–158분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158–159분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159–161분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161–164분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164–166분 (2분)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관계·coevolution → MSA 조작 → 구조와 신뢰도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구조를 알고 싶은 단백질의 아미노산 서열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검색·정렬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상동 서열 검색 → 다중서열정렬(MSA)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모델의 추론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잔기 사이 관계 추론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구조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원자 좌표 + 예측 신뢰도(pLDDT·PAE)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서열의 대응 위치를 나란히 정렬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학습된 모델이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정렬 위치 / 행: 관련 서열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서열에서 유지되는 위치 → 보존(conservation)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공변화</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공진화 패턴은 3차원에서 가까운 잔기 쌍을 추정하는 단서입니다. 다음 그림으로 연결합니다.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공진화가 3차원 구조 정보를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구조 · 공간상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학습된 모델이</a:t>
            </a:r>
          </a:p>
          <a:p>
            <a:pPr>
              <a:lnSpc>
                <a:spcPct val="113000"/>
              </a:lnSpc>
            </a:pPr>
            <a:r>
              <a:rPr sz="1900" b="1" lang="ko-KR">
                <a:solidFill>
                  <a:srgbClr val="183342"/>
                </a:solidFill>
                <a:latin typeface="Arial Unicode MS"/>
                <a:ea typeface="Arial Unicode MS"/>
              </a:rPr>
              <a:t>위치 사이 관계 추론</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접촉</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맞는 잔기 조합이</a:t>
            </a:r>
          </a:p>
          <a:p>
            <a:pPr>
              <a:lnSpc>
                <a:spcPct val="113000"/>
              </a:lnSpc>
            </a:pPr>
            <a:r>
              <a:rPr sz="1800" b="0" lang="ko-KR">
                <a:solidFill>
                  <a:srgbClr val="183342"/>
                </a:solidFill>
                <a:latin typeface="Arial Unicode MS"/>
                <a:ea typeface="Arial Unicode MS"/>
              </a:rPr>
              <a:t>여러 상동 서열에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100잔기 중 20·80열만 발췌. 점선은 추론할 후보 관계이며 실제 예측 좌표가 아닙니다.</a:t>
            </a:r>
          </a:p>
        </p:txBody>
      </p:sp>
      <p:sp>
        <p:nvSpPr>
          <p:cNvPr id="53" name="TextBox 52"/>
          <p:cNvSpPr txBox="1"/>
          <p:nvPr/>
        </p:nvSpPr>
        <p:spPr>
          <a:xfrm>
            <a:off x="731520" y="5486400"/>
            <a:ext cx="10881360" cy="294767"/>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접촉을 유지하는 선택이 잔기 조합을 연결할 수 있으므로, MSA의 공진화 신호는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80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80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80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80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접촉을 유지하는 선택이 공진화를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상보적 조합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전하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상보적 조합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잔기라도</a:t>
            </a:r>
          </a:p>
          <a:p>
            <a:pPr>
              <a:lnSpc>
                <a:spcPct val="113000"/>
              </a:lnSpc>
            </a:pPr>
            <a:r>
              <a:rPr sz="2000" b="0" lang="ko-KR">
                <a:solidFill>
                  <a:srgbClr val="183342"/>
                </a:solidFill>
                <a:latin typeface="Arial Unicode MS"/>
                <a:ea typeface="Arial Unicode MS"/>
              </a:rPr>
              <a:t>반대 전하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비상보적 조합</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전하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잔기를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전하가 유리하다고 가정. 색=i/j 위치, −/+=측쇄 전하. 진화 순서 아님.</a:t>
            </a:r>
          </a:p>
        </p:txBody>
      </p:sp>
      <p:sp>
        <p:nvSpPr>
          <p:cNvPr id="45" name="TextBox 44"/>
          <p:cNvSpPr txBox="1"/>
          <p:nvPr/>
        </p:nvSpPr>
        <p:spPr>
          <a:xfrm>
            <a:off x="731520" y="5486400"/>
            <a:ext cx="10881360" cy="294767"/>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상동 서열의 조합 패턴에 남을 수 있어, 진화 정보로 접촉하는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80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80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27 / 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80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80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80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80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80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39번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80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80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서열만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80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80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80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80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80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80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80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80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54 / 80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80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80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80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80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80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80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80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80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80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
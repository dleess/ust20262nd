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이 강의에서는 생물학에서 익숙한 공통 조상과 유전자 중복을 출발점으로 삼습니다. 먼저 ortholog와 paralog를 사건에 따라 구분하고, 실제 파일처럼 보이는 짧은 정렬을 직접 읽겠습니다. 이후에는 MSA의 어떤 정보를 바꾸면 구조 예측 결과가 달라질 수 있는지 살펴봅니다. 교육용 가상 서열과 가상 계통수는 개념 학습용이며 실제 단백질이나 실제 진화 역사를 나타내지 않습니다.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1–3분 (2분)</a:t>
            </a:r>
          </a:p>
          <a:p/>
          <a:p>
            <a:r>
              <a:t>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3–5분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5–7분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7–10분 (3분)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10–13분 (3분)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13–15분 (2분)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15–18분 (3분)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 가장 최근 공통 조상에 표시하기</a:t>
            </a:r>
          </a:p>
          <a:p>
            <a:r>
              <a:t>시간: 18–22분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22–24분 (2분)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24–26분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26–29분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29–31분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31–33분 (2분)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36–39분 (3분)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2: 짧고 완벽한 hit와 길고 다른 hit</a:t>
            </a:r>
          </a:p>
          <a:p>
            <a:r>
              <a:t>시간: 39–42분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42–44분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Covariation: 두 열의 조합을 읽는다</a:t>
            </a:r>
          </a:p>
          <a:p>
            <a:r>
              <a:t>시간: 44–47분 (3분)</a:t>
            </a:r>
          </a:p>
          <a:p/>
          <a:p>
            <a:r>
              <a:t>이 가상 표에서 한 열만 보면 K와 E가 각각 두 번, 다른 열에서는 D와 R이 각각 두 번 나타납니다. 두 열을 함께 보면 K-D와 E-R 조합만 관찰되어 독립적인 조합과는 다른 패턴을 보입니다. 이는 공변이를 이해하기 위한 예시이며 두 잔기가 직접 접촉하거나 보상 돌연변이를 겪었다는 증명은 아닙니다. 실제 구조 예측에서는 많은 열과 서열에서 얻은 정보를 모형이 통합하므로 이 네 줄의 단순 상관계산과 동일시하지 않습니다.</a:t>
            </a:r>
          </a:p>
          <a:p/>
          <a:p>
            <a:r>
              <a:t>출처</a:t>
            </a:r>
          </a:p>
          <a:p>
            <a:r>
              <a:t>[evo_covariation] Rodriguez Horta &amp; Weigt (2021). On the effect of phylogenetic correlations in coevolution-based contact prediction in proteins.</a:t>
            </a:r>
          </a:p>
          <a:p>
            <a:r>
              <a:t>https://journals.plos.org/ploscompbiol/article?id=10.1371/journal.pcbi.1008957</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공통 조상도 함께 변하는 패턴을 만든다</a:t>
            </a:r>
          </a:p>
          <a:p>
            <a:r>
              <a:t>시간: 47–49분 (2분)</a:t>
            </a:r>
          </a:p>
          <a:p/>
          <a:p>
            <a:r>
              <a:t>앞의 K-D와 E-R 패턴이 두 계통에서 각각 한 번 생긴 뒤 후손에게 전달되었다고 가정해 봅니다. 후손을 많이 모아도 실제 변화가 여러 번 독립적으로 반복된 것은 아닙니다. 따라서 공변이를 바로 물리적 접촉이라고 해석하면 계통적 교란과 간접 관계를 놓칠 수 있습니다. 재가중과 통계 모형이 이러한 영향을 줄이려 하지만 완전히 제거하거나 직접 접촉을 보장하는 것은 아닙니다.</a:t>
            </a:r>
          </a:p>
          <a:p/>
          <a:p>
            <a:r>
              <a:t>출처</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49–52분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단계: MSA의 어떤 정보를 바꿀 것인가?</a:t>
            </a:r>
          </a:p>
          <a:p>
            <a:r>
              <a:t>시간: 52–55분 (3분)</a:t>
            </a:r>
          </a:p>
          <a:p/>
          <a:p>
            <a:r>
              <a:t>지금까지의 개념을 다음 구조 예측 실습의 관찰 항목으로 연결합니다. Depth 변경은 몇 행을 제공하는지, clustering은 어떤 서열 집단을 선택하는지, masking은 어떤 위치의 정보를 감추는지에 관한 조작입니다. 어떤 변경이든 정보가 줄거나 치우칠 수 있으므로 무조건 정확도를 높이는 방법으로 소개하지 않습니다. 학생에게 앞으로 결과를 비교할 때 구조가 달라졌다는 관찰과 실제 생물학적 상태가 존재한다는 결론을 구분하도록 안내하고 휴식으로 넘어갑니다.</a:t>
            </a:r>
          </a:p>
          <a:p/>
          <a:p>
            <a:r>
              <a:t>출처</a:t>
            </a:r>
          </a:p>
          <a:p>
            <a:r>
              <a:t>[evo_ebi_msa] EMBL-EBI Training: Multiple sequence alignment</a:t>
            </a:r>
          </a:p>
          <a:p>
            <a:r>
              <a:t>https://www.ebi.ac.uk/training/online/courses/guide-to-sequence-analysis-tools/sequence-alignment/multiple-sequence-alignment/</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55–65분 (10분)</a:t>
            </a:r>
          </a:p>
          <a:p/>
          <a:p>
            <a:r>
              <a:t>55–65분 휴식. 다음 구간에서는 서열 파일, MSA, 예측 구조를 구분하고 입력을 바꿀 때 고정할 항목을 정한다.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서열에서 예측 구조까지</a:t>
            </a:r>
          </a:p>
          <a:p>
            <a:r>
              <a:t>시간: 65–68분 (3분)</a:t>
            </a:r>
          </a:p>
          <a:p/>
          <a:p>
            <a:r>
              <a:t>1강에서 본 PDB/mmCIF와 연결한다. FASTA는 입력 서열, A3M은 정렬, PDB/mmCIF는 좌표를 담는다. 구조 예측기는 MSA를 3차원 사진처럼 읽지 않는다. 각 위치의 보존과 상관관계, 학습한 구조적 규칙을 함께 사용한다. Template은 기존 구조에서 얻는 추가 정보이며 MSA와 구분한다. 모델이 반환한 파일은 실험에서 직접 측정한 좌표가 아니다. 학생에게 어떤 파일에 원자 좌표가 들어 있는지 질문한다.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68–71분 (3분)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71–74분 (3분)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74–77분 (3분)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77–80분 (3분)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예측 모델의 역할</a:t>
            </a:r>
          </a:p>
          <a:p>
            <a:r>
              <a:t>시간: 80–83분 (3분)</a:t>
            </a:r>
          </a:p>
          <a:p/>
          <a:p>
            <a:r>
              <a:t>사용 목적에 따라 모델을 고른다. ColabFold는 AF2를 사용하기 쉽게 만든 워크플로이며 별도의 독립 구조 모델 이름과 혼동하지 않는다. Boltz-2와 Chai-1은 여러 종류의 생체분자를 함께 다룰 수 있다. ESMFold는 언어 모델을 활용해 단일 서열에서 구조를 예측하며 별도의 입력 MSA가 필요하지 않다. 서로 다른 모델도 학습 데이터나 구조 선호를 공유할 수 있다. 한 모델에서 나온 상태가 다른 모델에서 보이지 않는다는 이유만으로 존재를 부정할 수 없다.</a:t>
            </a:r>
          </a:p>
          <a:p/>
          <a:p>
            <a:r>
              <a:t>출처</a:t>
            </a:r>
          </a:p>
          <a:p>
            <a:r>
              <a:t>[core_cf] ColabFold official repository</a:t>
            </a:r>
          </a:p>
          <a:p>
            <a:r>
              <a:t>https://github.com/sokrypton/ColabFold</a:t>
            </a:r>
          </a:p>
          <a:p>
            <a:r>
              <a:t>[core_boltz] Boltz official prediction documentation</a:t>
            </a:r>
          </a:p>
          <a:p>
            <a:r>
              <a:t>https://github.com/jwohlwend/boltz/blob/main/docs/prediction.md</a:t>
            </a:r>
          </a:p>
          <a:p>
            <a:r>
              <a:t>[core_chai] Chai-1 official repository</a:t>
            </a:r>
          </a:p>
          <a:p>
            <a:r>
              <a:t>https://github.com/chaidiscovery/chai-lab</a:t>
            </a:r>
          </a:p>
          <a:p>
            <a:r>
              <a:t>[core_esm] ESM / ESMFold official repository</a:t>
            </a:r>
          </a:p>
          <a:p>
            <a:r>
              <a:t>https://github.com/facebookresearch/esm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83–85분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85–87분 (2분)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87–90분 (3분)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90–92분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92–95분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95–98분 (3분)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98–100분 (2분)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100–103분 (3분)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103–105분 (2분)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105–108분 (3분)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108–111분 (3분)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111–113분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113–115분 (2분)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115–118분 (3분)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118–120분 (2분)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3분 설계 실습: 공정한 비교를 고르기</a:t>
            </a:r>
          </a:p>
          <a:p>
            <a:r>
              <a:t>시간: 120–123분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대표 후보는 품질과 다양성을 함께 본다</a:t>
            </a:r>
          </a:p>
          <a:p>
            <a:r>
              <a:t>시간: 123–126분 (3분)</a:t>
            </a:r>
          </a:p>
          <a:p/>
          <a:p>
            <a:r>
              <a:t>아래는 실제 AF2 출력이 아닌 교사의 가상 판단 연습이다. 먼저 평균 pLDDT만 읽지 말고 변한 부위와 domain 사이 PAE, 기하학적 이상을 보도록 한다. 강사용 토론 예: A와 B는 비교할 대표 후보로 보관하고 C는 잠정 보류, D는 A와 중복임을 표시한다. B의 더 큰 구조 차이가 정답을 뜻하지 않으며 후속 독립 증거가 필요하다. 전체 사슬을 무조건 맞추면 움직임이 희석될 수 있어 비교 core와 잔기 범위를 기록한다.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[speach_paper] Stein and Mchaourab (2022), SPEACH_AF: Sampling protein ensembles and conformational heterogeneity with Alphafold2</a:t>
            </a:r>
          </a:p>
          <a:p>
            <a:r>
              <a:t>https://journals.plos.org/ploscompbiol/article?id=10.1371/journal.pcbi.1010483</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pLDDT·PAE를 상태 확률로 읽지 않는다</a:t>
            </a:r>
          </a:p>
          <a:p>
            <a:r>
              <a:t>시간: 126–128분 (2분)</a:t>
            </a:r>
          </a:p>
          <a:p/>
          <a:p>
            <a:r>
              <a:t>pLDDT는 AF2에서 잔기별 국소 정확도에 대한 예측 점수이고 PAE는 한 위치를 기준으로 맞췄을 때 다른 위치에 예상되는 오차이다. 둘 다 해당 조건에서 분자가 그 상태에 머무는 평형 확률을 출력한 값은 아니다. 같은 실험 조건을 표현하는 물리적 ensemble이 아니라 MSA·seed·template 설정에 민감한 생성 결과라는 점을 반복한다. 상태 점유율 또는 자유에너지를 주장하려면 그 목적에 맞는 독립적인 실험과 보정 근거가 추가되어야 한다.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 구조를 얻은 뒤 남는 질문</a:t>
            </a:r>
          </a:p>
          <a:p>
            <a:r>
              <a:t>시간: 128–130분 (2분)</a:t>
            </a:r>
          </a:p>
          <a:p/>
          <a:p>
            <a:r>
              <a:t>마지막으로 각자가 후보라는 단어를 포함해 결론 한 문장을 작성하게 한다. 강사용 예: MSA 입력을 바꾸자 같은 query에서 구조적으로 다른 후보가 나왔으며 실제 상태인지는 추가 검증이 필요하다. 그림을 열린 순서대로 나열하거나 보간한 영상은 설명용 시각화이며 분자 궤적이 아니다. 상태 간 전환 속도와 경로는 별도의 동역학 근거를 요구한다. 이어지는 실습에서는 어떤 입력을 바꿨는지, 결과에서 어디가 달랐는지, 무엇을 아직 모르는지를 한 묶음으로 기록한다.</a:t>
            </a:r>
          </a:p>
          <a:p/>
          <a:p>
            <a:r>
              <a:t>출처</a:t>
            </a:r>
          </a:p>
          <a:p>
            <a:r>
              <a:t>[afsample2_paper] Kalakoti and Wallner (2025), AFsample2 predicts multiple conformations and ensembles with AlphaFold2</a:t>
            </a:r>
          </a:p>
          <a:p>
            <a:r>
              <a:t>https://www.nature.com/articles/s42003-025-07791-9</a:t>
            </a:r>
          </a:p>
          <a:p>
            <a:r>
              <a:t>[af3_paper]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130–140분 (10분)</a:t>
            </a:r>
          </a:p>
          <a:p/>
          <a:p>
            <a:r>
              <a:t>130–140분 휴식. 컴퓨터가 없는 학생에게 활동지를 배부한다. 컴퓨터 실습의 결과와 종이 실습에서 읽는 자료는 같은 원리를 다룬다.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실습의 목표와 파일</a:t>
            </a:r>
          </a:p>
          <a:p>
            <a:r>
              <a:t>시간: 140–142분 (2분)</a:t>
            </a:r>
          </a:p>
          <a:p/>
          <a:p>
            <a:r>
              <a:t>이번 실습의 필수 부분은 GPU가 없어도 수행한다. practice의 서열과 비교 수치는 교육용 가상 자료다. 이런 짧은 서열을 실제 생물학적 대상처럼 예측기에 넣어 얻은 결과를 해석하지 않는다. examples에는 UniProt에서 받은 인간 calmodulin-1 전체 서열 149개가 있다. 실제 모델 실행은 별도로 환경을 준비해야 하며, 자료를 만든 과정에서 구조 예측을 실행한 것으로 오해하지 않도록 구분한다. 학생은 각 결과의 출처를 먼저 확인한다.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 · 중복 사건으로 관계 판단</a:t>
            </a:r>
          </a:p>
          <a:p>
            <a:r>
              <a:t>시간: 142–146분 (4분)</a:t>
            </a:r>
          </a:p>
          <a:p/>
          <a:p>
            <a:r>
              <a:t>정답은 사람 A와 생쥐 A가 ortholog, 사람 A와 생쥐 B가 paralog다. 두 유전자의 가장 최근 공통조상에서 어떤 사건이 일어났는지 추적하게 한다. 사람 A와 사람 B도 paralog다. 서로 다른 종의 유전자라는 정보만으로 ortholog라고 할 수 없다. 학생의 설명이 이름이나 서열 유사도에만 의존하면 공통조상까지 다시 선을 따라가도록 유도한다. 종분화 후 사람 계통에서 A가 A1/A2로 중복된 경우도 구두로 추가해 co-ortholog를 확인한다.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2 · A3M을 열로 읽기</a:t>
            </a:r>
          </a:p>
          <a:p>
            <a:r>
              <a:t>시간: 146–150분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3 · 입력을 바꾸고 확인</a:t>
            </a:r>
          </a:p>
          <a:p>
            <a:r>
              <a:t>시간: 150–154분 (4분)</a:t>
            </a:r>
          </a:p>
          <a:p/>
          <a:p>
            <a:r>
              <a:t>실습 스크립트는 표준 Python만으로 실행한다. Group A/B는 미리 정한 교육용 행 분할이며 AF-Cluster의 실제 clustering 알고리즘이 아니다. Query를 포함한 depth와 homolog 수를 구분하도록 한다. 마스킹한 열을 시각적으로 확인하고 lowercase insertion과 gap이 의도대로 유지되었는지 읽는다. 서열 변형 파일을 만들었다고 구조가 바뀌었다는 증거가 생긴 것은 아니다. 구조 차이는 실제 예측 후 별도로 평가한다.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노트북으로 실제 예측</a:t>
            </a:r>
          </a:p>
          <a:p>
            <a:r>
              <a:t>시간: 154–158분 (4분)</a:t>
            </a:r>
          </a:p>
          <a:p/>
          <a:p>
            <a:r>
              <a:t>공식 ColabFold AlphaFold2 노트북을 사용한다. 계정 로그인과 GPU 사용 가능 여부는 수업 전에 교사가 확인한다. 첫 번째 단계에서는 FASTA header를 빼고 단백질 서열을 query_sequence에 넣는다. Custom MSA를 사용하는 단계에서는 A3M 첫 행이 동일한 전체 query인지 확인한다. 노트북 셀 실행 뒤 업로드 창이 나타나는 순서는 버전에 따라 달라질 수 있다. 본 실습의 가상 12열 정렬을 calmodulin MSA와 섞으면 안 된다. 저장한 결과에는 입력 MSA와 실행 설정을 함께 보관한다.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ColabFold에서 depth 조건 비교</a:t>
            </a:r>
          </a:p>
          <a:p>
            <a:r>
              <a:t>시간: 158–162분 (4분)</a:t>
            </a:r>
          </a:p>
          <a:p/>
          <a:p>
            <a:r>
              <a:t>아래는 실제 A3M을 준비한 뒤 실행할 명령이다. 두 조건의 query, 모델 수, seed, recycling을 맞춘다. 32:64는 총 depth가 32라는 뜻이 아니다. 입력 행 수가 한도보다 적으면 더 많은 행을 새로 만들어 주지 않는다. 각 seed에서 내부 subsampling에 따라 선택되는 행이 달라질 수 있다. 이 숫자는 교육용 비교 설정이며 최적값이나 대안 상태 회수를 보장하는 조합이 아니다. 전체 MSA 기준선과 비교할 때도 가능한 같은 생성 예산을 사용한다.</a:t>
            </a:r>
          </a:p>
          <a:p/>
          <a:p>
            <a:r>
              <a:t>출처</a:t>
            </a:r>
          </a:p>
          <a:p>
            <a:r>
              <a:t>[core_cf_cli] ColabFold batch.py official CLI implementation</a:t>
            </a:r>
          </a:p>
          <a:p>
            <a:r>
              <a:t>https://github.com/sokrypton/ColabFold/blob/main/colabfold/batch.py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Boltz-2에서 같은 A3M 사용</a:t>
            </a:r>
          </a:p>
          <a:p>
            <a:r>
              <a:t>시간: 162–165분 (3분)</a:t>
            </a:r>
          </a:p>
          <a:p/>
          <a:p>
            <a:r>
              <a:t>Boltz 공식 문서는 YAML 입력을 권장한다. 이 수업의 입력 생성기는 동일한 FASTA와 A3M에서 단량체 YAML을 만든다. msa 파일을 지정하면 해당 정렬을 사용하며 자동 MSA 서버 옵션과 구분한다. 아래 명령은 설치와 모델 파일 다운로드, 적합한 계산 자원이 준비된 환경에서 실행한다. Boltz와 AF2의 기본값과 신뢰도 점수를 숫자만으로 동일시하지 않는다. 단백질이 calmodulin이라는 이유만으로 apo/holo 구조가 저절로 구분된다고 기대하지 않는다.</a:t>
            </a:r>
          </a:p>
          <a:p/>
          <a:p>
            <a:r>
              <a:t>출처</a:t>
            </a:r>
          </a:p>
          <a:p>
            <a:r>
              <a:t>[core_boltz] Boltz official prediction documentation</a:t>
            </a:r>
          </a:p>
          <a:p>
            <a:r>
              <a:t>https://github.com/jwohlwend/boltz/blob/main/docs/prediction.md</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Chai-1과 ESMFold 비교 경로</a:t>
            </a:r>
          </a:p>
          <a:p>
            <a:r>
              <a:t>시간: 165–168분 (3분)</a:t>
            </a:r>
          </a:p>
          <a:p/>
          <a:p>
            <a:r>
              <a:t>Chai-1은 header에 protein이라는 entity 유형을 지정하는 전용 FASTA를 사용한다. examples/prepare_inputs.py는 필요한 형식으로 복사한다. Chai-1의 custom MSA는 .aligned.pqt 형식이므로 A3M을 그대로 넘기는 AF2 사용법과 다르다. ESMFold는 단일 서열 비교 기준으로 소개한다. 언어 모델이 훈련 과정에서 진화적 서열 통계를 학습했으므로 입력 MSA가 없다는 사실이 진화 정보가 전혀 없다는 뜻은 아니다. 모델 간 결과 차이는 어느 모델이 정답인지 단독으로 결정하지 않는다.</a:t>
            </a:r>
          </a:p>
          <a:p/>
          <a:p>
            <a:r>
              <a:t>출처</a:t>
            </a:r>
          </a:p>
          <a:p>
            <a:r>
              <a:t>[core_chai] Chai-1 official repository</a:t>
            </a:r>
          </a:p>
          <a:p>
            <a:r>
              <a:t>https://github.com/chaidiscovery/chai-lab</a:t>
            </a:r>
          </a:p>
          <a:p>
            <a:r>
              <a:t>[core_chai_msa] Chai-1 official MSA examples</a:t>
            </a:r>
          </a:p>
          <a:p>
            <a:r>
              <a:t>https://github.com/chaidiscovery/chai-lab/tree/main/examples/msas</a:t>
            </a:r>
          </a:p>
          <a:p>
            <a:r>
              <a:t>[core_esm] ESM / ESMFold official repository</a:t>
            </a:r>
          </a:p>
          <a:p>
            <a:r>
              <a:t>https://github.com/facebookresearch/esm</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예측 구조 비교의 기준</a:t>
            </a:r>
          </a:p>
          <a:p>
            <a:r>
              <a:t>시간: 168–170분 (2분)</a:t>
            </a:r>
          </a:p>
          <a:p/>
          <a:p>
            <a:r>
              <a:t>RMSD는 구조를 맞추는 원자 선택에 따라 달라진다. 전체를 정렬한 RMSD와 한 도메인에 정렬한 뒤 다른 도메인의 이동을 보는 것은 다른 질문이다. 잔기 번호가 다른 경우 서열 대응부터 확인한다. PAE는 실제 구조를 비교해 측정한 오차가 아니라 모델의 예측 오차다. 단량체 평균 pLDDT가 높아도 도메인 간 상대 배치는 불확실할 수 있다. 점수만 읽지 말고 같은 색과 표시 방식으로 구조를 관찰하도록 한다.</a:t>
            </a:r>
          </a:p>
          <a:p/>
          <a:p>
            <a:r>
              <a:t>출처</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4 · 대안 구조 후보 선택</a:t>
            </a:r>
          </a:p>
          <a:p>
            <a:r>
              <a:t>시간: 170–175분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175–178분 (3분)</a:t>
            </a:r>
          </a:p>
          <a:p/>
          <a:p>
            <a:r>
              <a:t>첫 주장에는 유전자 계통과 종분화/중복 사건 정보가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a:p>
            <a:r>
              <a:t>[core_cf] ColabFold official repository</a:t>
            </a:r>
          </a:p>
          <a:p>
            <a:r>
              <a:t>https://github.com/sokrypton/ColabFold</a:t>
            </a:r>
          </a:p>
          <a:p>
            <a:r>
              <a:t>[core_boltz] Boltz official prediction documentation</a:t>
            </a:r>
          </a:p>
          <a:p>
            <a:r>
              <a:t>https://github.com/jwohlwend/boltz/blob/main/docs/prediction.md</a:t>
            </a:r>
          </a:p>
          <a:p>
            <a:r>
              <a:t>[core_chai] Chai-1 official repository</a:t>
            </a:r>
          </a:p>
          <a:p>
            <a:r>
              <a:t>https://github.com/chaidiscovery/chai-lab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www.nature.com/articles/s41586-024-07487-w" TargetMode="External"/><Relationship Id="rId4" Type="http://schemas.openxmlformats.org/officeDocument/2006/relationships/hyperlink" Target="https://github.com/sokrypton/ColabFold" TargetMode="External"/><Relationship Id="rId5" Type="http://schemas.openxmlformats.org/officeDocument/2006/relationships/hyperlink" Target="https://github.com/jwohlwend/boltz/blob/main/docs/prediction.md" TargetMode="External"/><Relationship Id="rId6" Type="http://schemas.openxmlformats.org/officeDocument/2006/relationships/hyperlink" Target="https://github.com/chaidiscovery/chai-lab" TargetMode="External"/><Relationship Id="rId7"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진화 관계를 읽고, 다중서열정렬에서 구조 예측의 단서를 찾기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깊이·클러스터링·마스킹으로 대안 구조를 탐색하는 3시간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000–001분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62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001–003분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62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003–005분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62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교육용 가상 예시</a:t>
            </a:r>
          </a:p>
          <a:p>
            <a:pPr>
              <a:lnSpc>
                <a:spcPct val="113000"/>
              </a:lnSpc>
            </a:pPr>
            <a:r>
              <a:rPr sz="2100" b="0" lang="ko-KR">
                <a:solidFill>
                  <a:srgbClr val="183342"/>
                </a:solidFill>
                <a:latin typeface="Courier New"/>
                <a:ea typeface="Arial Unicode MS"/>
              </a:rPr>
              <a:t>Species tree          Gene tree</a:t>
            </a:r>
          </a:p>
          <a:p>
            <a:pPr>
              <a:lnSpc>
                <a:spcPct val="113000"/>
              </a:lnSpc>
            </a:pPr>
            <a:r>
              <a:rPr sz="2100" b="0" lang="ko-KR">
                <a:solidFill>
                  <a:srgbClr val="183342"/>
                </a:solidFill>
                <a:latin typeface="Courier New"/>
                <a:ea typeface="Arial Unicode MS"/>
              </a:rPr>
              <a:t>     S                     S</a:t>
            </a:r>
          </a:p>
          <a:p>
            <a:pPr>
              <a:lnSpc>
                <a:spcPct val="113000"/>
              </a:lnSpc>
            </a:pPr>
            <a:r>
              <a:rPr sz="2100" b="0" lang="ko-KR">
                <a:solidFill>
                  <a:srgbClr val="183342"/>
                </a:solidFill>
                <a:latin typeface="Courier New"/>
                <a:ea typeface="Arial Unicode MS"/>
              </a:rPr>
              <a:t>    / \                   / \</a:t>
            </a:r>
          </a:p>
          <a:p>
            <a:pPr>
              <a:lnSpc>
                <a:spcPct val="113000"/>
              </a:lnSpc>
            </a:pPr>
            <a:r>
              <a:rPr sz="2100" b="0" lang="ko-KR">
                <a:solidFill>
                  <a:srgbClr val="183342"/>
                </a:solidFill>
                <a:latin typeface="Courier New"/>
                <a:ea typeface="Arial Unicode MS"/>
              </a:rPr>
              <a:t>   A   B                 D   B_g</a:t>
            </a:r>
          </a:p>
          <a:p>
            <a:pPr>
              <a:lnSpc>
                <a:spcPct val="113000"/>
              </a:lnSpc>
            </a:pPr>
            <a:r>
              <a:rPr sz="2100" b="0" lang="ko-KR">
                <a:solidFill>
                  <a:srgbClr val="183342"/>
                </a:solidFill>
                <a:latin typeface="Courier New"/>
                <a:ea typeface="Arial Unicode MS"/>
              </a:rPr>
              <a:t>                        / \</a:t>
            </a:r>
          </a:p>
          <a:p>
            <a:pPr>
              <a:lnSpc>
                <a:spcPct val="113000"/>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005–007분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62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교육용 가상 계통수: 중복 → 종 분화</a:t>
            </a:r>
          </a:p>
          <a:p>
            <a:pPr>
              <a:lnSpc>
                <a:spcPct val="113000"/>
              </a:lnSpc>
            </a:pPr>
            <a:r>
              <a:rPr sz="2100" b="0" lang="ko-KR">
                <a:solidFill>
                  <a:srgbClr val="183342"/>
                </a:solidFill>
                <a:latin typeface="Courier New"/>
                <a:ea typeface="Arial Unicode MS"/>
              </a:rPr>
              <a:t>              D</a:t>
            </a:r>
          </a:p>
          <a:p>
            <a:pPr>
              <a:lnSpc>
                <a:spcPct val="113000"/>
              </a:lnSpc>
            </a:pPr>
            <a:r>
              <a:rPr sz="2100" b="0" lang="ko-KR">
                <a:solidFill>
                  <a:srgbClr val="183342"/>
                </a:solidFill>
                <a:latin typeface="Courier New"/>
                <a:ea typeface="Arial Unicode MS"/>
              </a:rPr>
              <a:t>           /     \</a:t>
            </a:r>
          </a:p>
          <a:p>
            <a:pPr>
              <a:lnSpc>
                <a:spcPct val="113000"/>
              </a:lnSpc>
            </a:pPr>
            <a:r>
              <a:rPr sz="2100" b="0" lang="ko-KR">
                <a:solidFill>
                  <a:srgbClr val="183342"/>
                </a:solidFill>
                <a:latin typeface="Courier New"/>
                <a:ea typeface="Arial Unicode MS"/>
              </a:rPr>
              <a:t>        S           S</a:t>
            </a:r>
          </a:p>
          <a:p>
            <a:pPr>
              <a:lnSpc>
                <a:spcPct val="113000"/>
              </a:lnSpc>
            </a:pPr>
            <a:r>
              <a:rPr sz="2100" b="0" lang="ko-KR">
                <a:solidFill>
                  <a:srgbClr val="183342"/>
                </a:solidFill>
                <a:latin typeface="Courier New"/>
                <a:ea typeface="Arial Unicode MS"/>
              </a:rPr>
              <a:t>       / \         / \</a:t>
            </a:r>
          </a:p>
          <a:p>
            <a:pPr>
              <a:lnSpc>
                <a:spcPct val="113000"/>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007–010분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62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교육용 가상 계통수: 종 분화 → 중복</a:t>
            </a:r>
          </a:p>
          <a:p>
            <a:pPr>
              <a:lnSpc>
                <a:spcPct val="113000"/>
              </a:lnSpc>
            </a:pPr>
            <a:r>
              <a:rPr sz="2100" b="0" lang="ko-KR">
                <a:solidFill>
                  <a:srgbClr val="183342"/>
                </a:solidFill>
                <a:latin typeface="Courier New"/>
                <a:ea typeface="Arial Unicode MS"/>
              </a:rPr>
              <a:t>              S</a:t>
            </a:r>
          </a:p>
          <a:p>
            <a:pPr>
              <a:lnSpc>
                <a:spcPct val="113000"/>
              </a:lnSpc>
            </a:pPr>
            <a:r>
              <a:rPr sz="2100" b="0" lang="ko-KR">
                <a:solidFill>
                  <a:srgbClr val="183342"/>
                </a:solidFill>
                <a:latin typeface="Courier New"/>
                <a:ea typeface="Arial Unicode MS"/>
              </a:rPr>
              <a:t>           /     \</a:t>
            </a:r>
          </a:p>
          <a:p>
            <a:pPr>
              <a:lnSpc>
                <a:spcPct val="113000"/>
              </a:lnSpc>
            </a:pPr>
            <a:r>
              <a:rPr sz="2100" b="0" lang="ko-KR">
                <a:solidFill>
                  <a:srgbClr val="183342"/>
                </a:solidFill>
                <a:latin typeface="Courier New"/>
                <a:ea typeface="Arial Unicode MS"/>
              </a:rPr>
              <a:t>          D       B_1</a:t>
            </a:r>
          </a:p>
          <a:p>
            <a:pPr>
              <a:lnSpc>
                <a:spcPct val="113000"/>
              </a:lnSpc>
            </a:pPr>
            <a:r>
              <a:rPr sz="2100" b="0" lang="ko-KR">
                <a:solidFill>
                  <a:srgbClr val="183342"/>
                </a:solidFill>
                <a:latin typeface="Courier New"/>
                <a:ea typeface="Arial Unicode MS"/>
              </a:rPr>
              <a:t>         / \</a:t>
            </a:r>
          </a:p>
          <a:p>
            <a:pPr>
              <a:lnSpc>
                <a:spcPct val="113000"/>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010–013분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62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013–015분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62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교육용 가상 계통수: 중복 뒤 서로 다른 사본 소실</a:t>
            </a:r>
          </a:p>
          <a:p>
            <a:pPr>
              <a:lnSpc>
                <a:spcPct val="113000"/>
              </a:lnSpc>
            </a:pPr>
            <a:r>
              <a:rPr sz="2100" b="0" lang="ko-KR">
                <a:solidFill>
                  <a:srgbClr val="183342"/>
                </a:solidFill>
                <a:latin typeface="Courier New"/>
                <a:ea typeface="Arial Unicode MS"/>
              </a:rPr>
              <a:t>              D</a:t>
            </a:r>
          </a:p>
          <a:p>
            <a:pPr>
              <a:lnSpc>
                <a:spcPct val="113000"/>
              </a:lnSpc>
            </a:pPr>
            <a:r>
              <a:rPr sz="2100" b="0" lang="ko-KR">
                <a:solidFill>
                  <a:srgbClr val="183342"/>
                </a:solidFill>
                <a:latin typeface="Courier New"/>
                <a:ea typeface="Arial Unicode MS"/>
              </a:rPr>
              <a:t>           /     \</a:t>
            </a:r>
          </a:p>
          <a:p>
            <a:pPr>
              <a:lnSpc>
                <a:spcPct val="113000"/>
              </a:lnSpc>
            </a:pPr>
            <a:r>
              <a:rPr sz="2100" b="0" lang="ko-KR">
                <a:solidFill>
                  <a:srgbClr val="183342"/>
                </a:solidFill>
                <a:latin typeface="Courier New"/>
                <a:ea typeface="Arial Unicode MS"/>
              </a:rPr>
              <a:t>        S           S</a:t>
            </a:r>
          </a:p>
          <a:p>
            <a:pPr>
              <a:lnSpc>
                <a:spcPct val="113000"/>
              </a:lnSpc>
            </a:pPr>
            <a:r>
              <a:rPr sz="2100" b="0" lang="ko-KR">
                <a:solidFill>
                  <a:srgbClr val="183342"/>
                </a:solidFill>
                <a:latin typeface="Courier New"/>
                <a:ea typeface="Arial Unicode MS"/>
              </a:rPr>
              <a:t>       / \         / \</a:t>
            </a:r>
          </a:p>
          <a:p>
            <a:pPr>
              <a:lnSpc>
                <a:spcPct val="113000"/>
              </a:lnSpc>
            </a:pPr>
            <a:r>
              <a:rPr sz="2100" b="0" lang="ko-KR">
                <a:solidFill>
                  <a:srgbClr val="183342"/>
                </a:solidFill>
                <a:latin typeface="Courier New"/>
                <a:ea typeface="Arial Unicode MS"/>
              </a:rPr>
              <a:t>     A_1 [소실] [소실] B_2</a:t>
            </a:r>
          </a:p>
          <a:p>
            <a:pPr>
              <a:lnSpc>
                <a:spcPct val="113000"/>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015–018분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62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1: 가장 최근 공통 조상에 표시하기</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교육용 가상 계통수</a:t>
            </a:r>
          </a:p>
          <a:p>
            <a:pPr>
              <a:lnSpc>
                <a:spcPct val="113000"/>
              </a:lnSpc>
            </a:pPr>
            <a:r>
              <a:rPr sz="2100" b="0" lang="ko-KR">
                <a:solidFill>
                  <a:srgbClr val="183342"/>
                </a:solidFill>
                <a:latin typeface="Courier New"/>
                <a:ea typeface="Arial Unicode MS"/>
              </a:rPr>
              <a:t>            S</a:t>
            </a:r>
          </a:p>
          <a:p>
            <a:pPr>
              <a:lnSpc>
                <a:spcPct val="113000"/>
              </a:lnSpc>
            </a:pPr>
            <a:r>
              <a:rPr sz="2100" b="0" lang="ko-KR">
                <a:solidFill>
                  <a:srgbClr val="183342"/>
                </a:solidFill>
                <a:latin typeface="Courier New"/>
                <a:ea typeface="Arial Unicode MS"/>
              </a:rPr>
              <a:t>          /   \</a:t>
            </a:r>
          </a:p>
          <a:p>
            <a:pPr>
              <a:lnSpc>
                <a:spcPct val="113000"/>
              </a:lnSpc>
            </a:pPr>
            <a:r>
              <a:rPr sz="2100" b="0" lang="ko-KR">
                <a:solidFill>
                  <a:srgbClr val="183342"/>
                </a:solidFill>
                <a:latin typeface="Courier New"/>
                <a:ea typeface="Arial Unicode MS"/>
              </a:rPr>
              <a:t>         D     B_z</a:t>
            </a:r>
          </a:p>
          <a:p>
            <a:pPr>
              <a:lnSpc>
                <a:spcPct val="113000"/>
              </a:lnSpc>
            </a:pPr>
            <a:r>
              <a:rPr sz="2100" b="0" lang="ko-KR">
                <a:solidFill>
                  <a:srgbClr val="183342"/>
                </a:solidFill>
                <a:latin typeface="Courier New"/>
                <a:ea typeface="Arial Unicode MS"/>
              </a:rPr>
              <a:t>        / \</a:t>
            </a:r>
          </a:p>
          <a:p>
            <a:pPr>
              <a:lnSpc>
                <a:spcPct val="113000"/>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짝과 비교: co-ortholog라고 부를 때 기준 상대는 누구인가?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018–022분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62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022–024분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62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024–026분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62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교육용 가상 서열: 실제 단백질 아님</a:t>
            </a:r>
          </a:p>
          <a:p>
            <a:pPr>
              <a:lnSpc>
                <a:spcPct val="113000"/>
              </a:lnSpc>
            </a:pPr>
            <a:r>
              <a:rPr sz="2100" b="0" lang="ko-KR">
                <a:solidFill>
                  <a:srgbClr val="183342"/>
                </a:solidFill>
                <a:latin typeface="Courier New"/>
                <a:ea typeface="Arial Unicode MS"/>
              </a:rPr>
              <a:t>정렬 열   123456789</a:t>
            </a:r>
          </a:p>
          <a:p>
            <a:pPr>
              <a:lnSpc>
                <a:spcPct val="113000"/>
              </a:lnSpc>
            </a:pPr>
            <a:r>
              <a:rPr sz="2100" b="0" lang="ko-KR">
                <a:solidFill>
                  <a:srgbClr val="183342"/>
                </a:solidFill>
                <a:latin typeface="Courier New"/>
                <a:ea typeface="Arial Unicode MS"/>
              </a:rPr>
              <a:t>query     AC-DEFGHI</a:t>
            </a:r>
          </a:p>
          <a:p>
            <a:pPr>
              <a:lnSpc>
                <a:spcPct val="113000"/>
              </a:lnSpc>
            </a:pPr>
            <a:r>
              <a:rPr sz="2100" b="0" lang="ko-KR">
                <a:solidFill>
                  <a:srgbClr val="183342"/>
                </a:solidFill>
                <a:latin typeface="Courier New"/>
                <a:ea typeface="Arial Unicode MS"/>
              </a:rPr>
              <a:t>seq_A     ACQDEYGHI</a:t>
            </a:r>
          </a:p>
          <a:p>
            <a:pPr>
              <a:lnSpc>
                <a:spcPct val="113000"/>
              </a:lnSpc>
            </a:pPr>
            <a:r>
              <a:rPr sz="2100" b="0" lang="ko-KR">
                <a:solidFill>
                  <a:srgbClr val="183342"/>
                </a:solidFill>
                <a:latin typeface="Courier New"/>
                <a:ea typeface="Arial Unicode MS"/>
              </a:rPr>
              <a:t>seq_B     AC-NEFG-I</a:t>
            </a:r>
          </a:p>
          <a:p>
            <a:pPr>
              <a:lnSpc>
                <a:spcPct val="113000"/>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026–029분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62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교육용 가상 서열</a:t>
            </a:r>
          </a:p>
          <a:p>
            <a:pPr>
              <a:lnSpc>
                <a:spcPct val="113000"/>
              </a:lnSpc>
            </a:pPr>
            <a:r>
              <a:rPr sz="2100" b="0" lang="ko-KR">
                <a:solidFill>
                  <a:srgbClr val="183342"/>
                </a:solidFill>
                <a:latin typeface="Courier New"/>
                <a:ea typeface="Arial Unicode MS"/>
              </a:rPr>
              <a:t>정렬 열       1 2 3 4 5 6 7 8 9</a:t>
            </a:r>
          </a:p>
          <a:p>
            <a:pPr>
              <a:lnSpc>
                <a:spcPct val="113000"/>
              </a:lnSpc>
            </a:pPr>
            <a:r>
              <a:rPr sz="2100" b="0" lang="ko-KR">
                <a:solidFill>
                  <a:srgbClr val="183342"/>
                </a:solidFill>
                <a:latin typeface="Courier New"/>
                <a:ea typeface="Arial Unicode MS"/>
              </a:rPr>
              <a:t>query         A C - D E F G H I</a:t>
            </a:r>
          </a:p>
          <a:p>
            <a:pPr>
              <a:lnSpc>
                <a:spcPct val="113000"/>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029–031분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62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&gt;query_synthetic  educational example</a:t>
            </a:r>
          </a:p>
          <a:p>
            <a:pPr>
              <a:lnSpc>
                <a:spcPct val="113000"/>
              </a:lnSpc>
            </a:pPr>
            <a:r>
              <a:rPr sz="2100" b="0" lang="ko-KR">
                <a:solidFill>
                  <a:srgbClr val="183342"/>
                </a:solidFill>
                <a:latin typeface="Courier New"/>
                <a:ea typeface="Arial Unicode MS"/>
              </a:rPr>
              <a:t>ACDEFGHI</a:t>
            </a:r>
          </a:p>
          <a:p>
            <a:pPr>
              <a:lnSpc>
                <a:spcPct val="113000"/>
              </a:lnSpc>
            </a:pPr>
            <a:r>
              <a:rPr sz="2100" b="0" lang="ko-KR">
                <a:solidFill>
                  <a:srgbClr val="183342"/>
                </a:solidFill>
                <a:latin typeface="Courier New"/>
                <a:ea typeface="Arial Unicode MS"/>
              </a:rPr>
              <a:t>&gt;seq_A_synthetic  educational example</a:t>
            </a:r>
          </a:p>
          <a:p>
            <a:pPr>
              <a:lnSpc>
                <a:spcPct val="113000"/>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031–033분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62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교육용 가상 A3M</a:t>
            </a:r>
          </a:p>
          <a:p>
            <a:pPr>
              <a:lnSpc>
                <a:spcPct val="113000"/>
              </a:lnSpc>
            </a:pPr>
            <a:r>
              <a:rPr sz="2100" b="0" lang="ko-KR">
                <a:solidFill>
                  <a:srgbClr val="183342"/>
                </a:solidFill>
                <a:latin typeface="Courier New"/>
                <a:ea typeface="Arial Unicode MS"/>
              </a:rPr>
              <a:t>&gt;query</a:t>
            </a:r>
          </a:p>
          <a:p>
            <a:pPr>
              <a:lnSpc>
                <a:spcPct val="113000"/>
              </a:lnSpc>
            </a:pPr>
            <a:r>
              <a:rPr sz="2100" b="0" lang="ko-KR">
                <a:solidFill>
                  <a:srgbClr val="183342"/>
                </a:solidFill>
                <a:latin typeface="Courier New"/>
                <a:ea typeface="Arial Unicode MS"/>
              </a:rPr>
              <a:t>ACDEFGHI</a:t>
            </a:r>
          </a:p>
          <a:p>
            <a:pPr>
              <a:lnSpc>
                <a:spcPct val="113000"/>
              </a:lnSpc>
            </a:pPr>
            <a:r>
              <a:rPr sz="2100" b="0" lang="ko-KR">
                <a:solidFill>
                  <a:srgbClr val="183342"/>
                </a:solidFill>
                <a:latin typeface="Courier New"/>
                <a:ea typeface="Arial Unicode MS"/>
              </a:rPr>
              <a:t>&gt;seq_A</a:t>
            </a:r>
          </a:p>
          <a:p>
            <a:pPr>
              <a:lnSpc>
                <a:spcPct val="113000"/>
              </a:lnSpc>
            </a:pPr>
            <a:r>
              <a:rPr sz="2100" b="0" lang="ko-KR">
                <a:solidFill>
                  <a:srgbClr val="183342"/>
                </a:solidFill>
                <a:latin typeface="Courier New"/>
                <a:ea typeface="Arial Unicode MS"/>
              </a:rPr>
              <a:t>ACqDEYGHI</a:t>
            </a:r>
          </a:p>
          <a:p>
            <a:pPr>
              <a:lnSpc>
                <a:spcPct val="113000"/>
              </a:lnSpc>
            </a:pPr>
            <a:r>
              <a:rPr sz="2100" b="0" lang="ko-KR">
                <a:solidFill>
                  <a:srgbClr val="183342"/>
                </a:solidFill>
                <a:latin typeface="Courier New"/>
                <a:ea typeface="Arial Unicode MS"/>
              </a:rPr>
              <a:t>&gt;seq_B</a:t>
            </a:r>
          </a:p>
          <a:p>
            <a:pPr>
              <a:lnSpc>
                <a:spcPct val="113000"/>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033–036분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62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036–039분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62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2: 짧고 완벽한 hit와 길고 다른 hit</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교육용 가상 서열</a:t>
            </a:r>
          </a:p>
          <a:p>
            <a:pPr>
              <a:lnSpc>
                <a:spcPct val="113000"/>
              </a:lnSpc>
            </a:pPr>
            <a:r>
              <a:rPr sz="2100" b="0" lang="ko-KR">
                <a:solidFill>
                  <a:srgbClr val="183342"/>
                </a:solidFill>
                <a:latin typeface="Courier New"/>
                <a:ea typeface="Arial Unicode MS"/>
              </a:rPr>
              <a:t>query   ACDEFGHI</a:t>
            </a:r>
          </a:p>
          <a:p>
            <a:pPr>
              <a:lnSpc>
                <a:spcPct val="113000"/>
              </a:lnSpc>
            </a:pPr>
            <a:r>
              <a:rPr sz="2100" b="0" lang="ko-KR">
                <a:solidFill>
                  <a:srgbClr val="183342"/>
                </a:solidFill>
                <a:latin typeface="Courier New"/>
                <a:ea typeface="Arial Unicode MS"/>
              </a:rPr>
              <a:t>A       ACDE----</a:t>
            </a:r>
          </a:p>
          <a:p>
            <a:pPr>
              <a:lnSpc>
                <a:spcPct val="113000"/>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각 hit의 coverage와 identity를 따로 기록</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039–042분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62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교육용 가상 서열</a:t>
            </a:r>
          </a:p>
          <a:p>
            <a:pPr>
              <a:lnSpc>
                <a:spcPct val="113000"/>
              </a:lnSpc>
            </a:pPr>
            <a:r>
              <a:rPr sz="2100" b="0" lang="ko-KR">
                <a:solidFill>
                  <a:srgbClr val="183342"/>
                </a:solidFill>
                <a:latin typeface="Courier New"/>
                <a:ea typeface="Arial Unicode MS"/>
              </a:rPr>
              <a:t>seq_1   ACDK</a:t>
            </a:r>
          </a:p>
          <a:p>
            <a:pPr>
              <a:lnSpc>
                <a:spcPct val="113000"/>
              </a:lnSpc>
            </a:pPr>
            <a:r>
              <a:rPr sz="2100" b="0" lang="ko-KR">
                <a:solidFill>
                  <a:srgbClr val="183342"/>
                </a:solidFill>
                <a:latin typeface="Courier New"/>
                <a:ea typeface="Arial Unicode MS"/>
              </a:rPr>
              <a:t>seq_2   ASDK</a:t>
            </a:r>
          </a:p>
          <a:p>
            <a:pPr>
              <a:lnSpc>
                <a:spcPct val="113000"/>
              </a:lnSpc>
            </a:pPr>
            <a:r>
              <a:rPr sz="2100" b="0" lang="ko-KR">
                <a:solidFill>
                  <a:srgbClr val="183342"/>
                </a:solidFill>
                <a:latin typeface="Courier New"/>
                <a:ea typeface="Arial Unicode MS"/>
              </a:rPr>
              <a:t>seq_3   ACEK</a:t>
            </a:r>
          </a:p>
          <a:p>
            <a:pPr>
              <a:lnSpc>
                <a:spcPct val="113000"/>
              </a:lnSpc>
            </a:pPr>
            <a:r>
              <a:rPr sz="2100" b="0" lang="ko-KR">
                <a:solidFill>
                  <a:srgbClr val="183342"/>
                </a:solidFill>
                <a:latin typeface="Courier New"/>
                <a:ea typeface="Arial Unicode MS"/>
              </a:rPr>
              <a:t>seq_4   ASER</a:t>
            </a:r>
          </a:p>
          <a:p>
            <a:pPr>
              <a:lnSpc>
                <a:spcPct val="113000"/>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042–044분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62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Covariation: 두 열의 조합을 읽는다</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교육용 가상 패턴: 두 위치만 표시</a:t>
            </a:r>
          </a:p>
          <a:p>
            <a:pPr>
              <a:lnSpc>
                <a:spcPct val="113000"/>
              </a:lnSpc>
            </a:pPr>
            <a:r>
              <a:rPr sz="2100" b="0" lang="ko-KR">
                <a:solidFill>
                  <a:srgbClr val="183342"/>
                </a:solidFill>
                <a:latin typeface="Courier New"/>
                <a:ea typeface="Arial Unicode MS"/>
              </a:rPr>
              <a:t>서열       위치 i    위치 j</a:t>
            </a:r>
          </a:p>
          <a:p>
            <a:pPr>
              <a:lnSpc>
                <a:spcPct val="113000"/>
              </a:lnSpc>
            </a:pPr>
            <a:r>
              <a:rPr sz="2100" b="0" lang="ko-KR">
                <a:solidFill>
                  <a:srgbClr val="183342"/>
                </a:solidFill>
                <a:latin typeface="Courier New"/>
                <a:ea typeface="Arial Unicode MS"/>
              </a:rPr>
              <a:t>seq_1         K         D</a:t>
            </a:r>
          </a:p>
          <a:p>
            <a:pPr>
              <a:lnSpc>
                <a:spcPct val="113000"/>
              </a:lnSpc>
            </a:pPr>
            <a:r>
              <a:rPr sz="2100" b="0" lang="ko-KR">
                <a:solidFill>
                  <a:srgbClr val="183342"/>
                </a:solidFill>
                <a:latin typeface="Courier New"/>
                <a:ea typeface="Arial Unicode MS"/>
              </a:rPr>
              <a:t>seq_2         K         D</a:t>
            </a:r>
          </a:p>
          <a:p>
            <a:pPr>
              <a:lnSpc>
                <a:spcPct val="113000"/>
              </a:lnSpc>
            </a:pPr>
            <a:r>
              <a:rPr sz="2100" b="0" lang="ko-KR">
                <a:solidFill>
                  <a:srgbClr val="183342"/>
                </a:solidFill>
                <a:latin typeface="Courier New"/>
                <a:ea typeface="Arial Unicode MS"/>
              </a:rPr>
              <a:t>seq_3         E         R</a:t>
            </a:r>
          </a:p>
          <a:p>
            <a:pPr>
              <a:lnSpc>
                <a:spcPct val="113000"/>
              </a:lnSpc>
            </a:pPr>
            <a:r>
              <a:rPr sz="2100" b="0" lang="ko-KR">
                <a:solidFill>
                  <a:srgbClr val="183342"/>
                </a:solidFill>
                <a:latin typeface="Courier New"/>
                <a:ea typeface="Arial Unicode MS"/>
              </a:rPr>
              <a:t>seq_4         E         R</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각 열의 빈도와 두 열의 조합 빈도는 다름</a:t>
            </a:r>
          </a:p>
          <a:p>
            <a:pPr>
              <a:lnSpc>
                <a:spcPct val="113000"/>
              </a:lnSpc>
            </a:pPr>
            <a:r>
              <a:rPr sz="1800" b="0" lang="ko-KR">
                <a:solidFill>
                  <a:srgbClr val="277F87"/>
                </a:solidFill>
                <a:latin typeface="Arial Unicode MS"/>
                <a:ea typeface="Arial Unicode MS"/>
              </a:rPr>
              <a:t>이 예시는 실제 접촉 정보가 아님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공변이(covariation)는 두 위치의 잔기 분포가 독립적이지 않은 패턴</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보존도는 한 열, 공변이는 두 열의 조합을 살핌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044–047분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62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공통 조상도 함께 변하는 패턴을 만든다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가능한 원인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추가로 필요한 생각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공통 조상의 패턴 상속</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계통적 비독립성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다른 위치를 통한 간접 관계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직접·간접 효과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구조·기능상의 제약</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증거 및 실험과 비교</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조상에서 물려받은 패턴은 독립적 관측 여러 개가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 효과·간접 상관·직접 상호작용을 단순 상관만으로 분리할 수 없음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047–049분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62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유사도 기준을 넘는 다른 서열이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049–052분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62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다음 단계: MSA의 어떤 정보를 바꿀 것인가?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조작</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먼저 물을 질문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Depth 조절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몇 행을 남기며 어떤 다양성이 달라지는가?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Clustering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어떤 서열 집단을 골랐는가?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Masking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어떤 열을 가리며 query 번호는 유지되는가?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변경 전후의 행 수·다양성·coverage·query 좌표를 기록</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변경으로 얻은 다른 구조는 검증할 후보이지 상태의 증명이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052–055분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62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시간: MSA를 예측 모델에 넣는 방법</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055–065분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23 / 62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서열에서 예측 구조까지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 구조를 알고 싶은 단백질의 아미노산 서열</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진화적으로 관련된 서열을 정렬한 입력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모델: 서열·MSA·선택한 추가 정보를 함께 처리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원자 좌표와 모델이 추정한 신뢰도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065–068분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62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068–071분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62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071–074분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62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074–077분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62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"protein": {</a:t>
            </a:r>
          </a:p>
          <a:p>
            <a:pPr>
              <a:lnSpc>
                <a:spcPct val="113000"/>
              </a:lnSpc>
            </a:pPr>
            <a:r>
              <a:rPr sz="2100" b="0" lang="ko-KR">
                <a:solidFill>
                  <a:srgbClr val="183342"/>
                </a:solidFill>
                <a:latin typeface="Courier New"/>
                <a:ea typeface="Arial Unicode MS"/>
              </a:rPr>
              <a:t>  "id": "A",</a:t>
            </a:r>
          </a:p>
          <a:p>
            <a:pPr>
              <a:lnSpc>
                <a:spcPct val="113000"/>
              </a:lnSpc>
            </a:pPr>
            <a:r>
              <a:rPr sz="2100" b="0" lang="ko-KR">
                <a:solidFill>
                  <a:srgbClr val="183342"/>
                </a:solidFill>
                <a:latin typeface="Courier New"/>
                <a:ea typeface="Arial Unicode MS"/>
              </a:rPr>
              <a:t>  "sequence": "&lt;full query sequence&gt;",</a:t>
            </a:r>
          </a:p>
          <a:p>
            <a:pPr>
              <a:lnSpc>
                <a:spcPct val="113000"/>
              </a:lnSpc>
            </a:pPr>
            <a:r>
              <a:rPr sz="2100" b="0" lang="ko-KR">
                <a:solidFill>
                  <a:srgbClr val="183342"/>
                </a:solidFill>
                <a:latin typeface="Courier New"/>
                <a:ea typeface="Arial Unicode MS"/>
              </a:rPr>
              <a:t>  "unpairedMsaPath": "target.a3m",</a:t>
            </a:r>
          </a:p>
          <a:p>
            <a:pPr>
              <a:lnSpc>
                <a:spcPct val="113000"/>
              </a:lnSpc>
            </a:pPr>
            <a:r>
              <a:rPr sz="2100" b="0" lang="ko-KR">
                <a:solidFill>
                  <a:srgbClr val="183342"/>
                </a:solidFill>
                <a:latin typeface="Courier New"/>
                <a:ea typeface="Arial Unicode MS"/>
              </a:rPr>
              <a:t>  "pairedMsa": "",</a:t>
            </a:r>
          </a:p>
          <a:p>
            <a:pPr>
              <a:lnSpc>
                <a:spcPct val="113000"/>
              </a:lnSpc>
            </a:pPr>
            <a:r>
              <a:rPr sz="2100" b="0" lang="ko-KR">
                <a:solidFill>
                  <a:srgbClr val="183342"/>
                </a:solidFill>
                <a:latin typeface="Courier New"/>
                <a:ea typeface="Arial Unicode MS"/>
              </a:rPr>
              <a:t>  "templates": []</a:t>
            </a:r>
          </a:p>
          <a:p>
            <a:pPr>
              <a:lnSpc>
                <a:spcPct val="113000"/>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077–080분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62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다른 예측 모델의 역할</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도구</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주요 역할</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 수업에서 비교할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ColabFold / AF2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Custom A3M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조건별 차이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Boltz-2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분자의 복합체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A3M과 분자 조건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Chai-1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생체분자 복합체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사용 여부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ESMFold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단일 서열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MSA 없는 비교 기준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모델 간 일치는 참고 근거이며 독립적인 실험 검증은 아닙니다.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080–083분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62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083–085분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62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085–087분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62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원래 MSA             선택한 MSA</a:t>
            </a:r>
          </a:p>
          <a:p>
            <a:pPr>
              <a:lnSpc>
                <a:spcPct val="113000"/>
              </a:lnSpc>
            </a:pPr>
            <a:r>
              <a:rPr sz="2100" b="0" lang="ko-KR">
                <a:solidFill>
                  <a:srgbClr val="183342"/>
                </a:solidFill>
                <a:latin typeface="Courier New"/>
                <a:ea typeface="Arial Unicode MS"/>
              </a:rPr>
              <a:t>query  ACDEFGHI      query  ACDEFGHI</a:t>
            </a:r>
          </a:p>
          <a:p>
            <a:pPr>
              <a:lnSpc>
                <a:spcPct val="113000"/>
              </a:lnSpc>
            </a:pPr>
            <a:r>
              <a:rPr sz="2100" b="0" lang="ko-KR">
                <a:solidFill>
                  <a:srgbClr val="183342"/>
                </a:solidFill>
                <a:latin typeface="Courier New"/>
                <a:ea typeface="Arial Unicode MS"/>
              </a:rPr>
              <a:t>hom1   AC-EYGHI      hom1   AC-EYGHI</a:t>
            </a:r>
          </a:p>
          <a:p>
            <a:pPr>
              <a:lnSpc>
                <a:spcPct val="113000"/>
              </a:lnSpc>
            </a:pPr>
            <a:r>
              <a:rPr sz="2100" b="0" lang="ko-KR">
                <a:solidFill>
                  <a:srgbClr val="183342"/>
                </a:solidFill>
                <a:latin typeface="Courier New"/>
                <a:ea typeface="Arial Unicode MS"/>
              </a:rPr>
              <a:t>hom2   ACDEFG-I</a:t>
            </a:r>
          </a:p>
          <a:p>
            <a:pPr>
              <a:lnSpc>
                <a:spcPct val="113000"/>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087–090분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62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090–092분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62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092–095분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62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Cluster A 입력        Cluster B 입력</a:t>
            </a:r>
          </a:p>
          <a:p>
            <a:pPr>
              <a:lnSpc>
                <a:spcPct val="113000"/>
              </a:lnSpc>
            </a:pPr>
            <a:r>
              <a:rPr sz="2100" b="0" lang="ko-KR">
                <a:solidFill>
                  <a:srgbClr val="183342"/>
                </a:solidFill>
                <a:latin typeface="Courier New"/>
                <a:ea typeface="Arial Unicode MS"/>
              </a:rPr>
              <a:t>&gt;query                &gt;query</a:t>
            </a:r>
          </a:p>
          <a:p>
            <a:pPr>
              <a:lnSpc>
                <a:spcPct val="113000"/>
              </a:lnSpc>
            </a:pPr>
            <a:r>
              <a:rPr sz="2100" b="0" lang="ko-KR">
                <a:solidFill>
                  <a:srgbClr val="183342"/>
                </a:solidFill>
                <a:latin typeface="Courier New"/>
                <a:ea typeface="Arial Unicode MS"/>
              </a:rPr>
              <a:t>ACDEFGHI              ACDEFGHI</a:t>
            </a:r>
          </a:p>
          <a:p>
            <a:pPr>
              <a:lnSpc>
                <a:spcPct val="113000"/>
              </a:lnSpc>
            </a:pPr>
            <a:r>
              <a:rPr sz="2100" b="0" lang="ko-KR">
                <a:solidFill>
                  <a:srgbClr val="183342"/>
                </a:solidFill>
                <a:latin typeface="Courier New"/>
                <a:ea typeface="Arial Unicode MS"/>
              </a:rPr>
              <a:t>&gt;hom1                 &gt;hom3</a:t>
            </a:r>
          </a:p>
          <a:p>
            <a:pPr>
              <a:lnSpc>
                <a:spcPct val="113000"/>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095–098분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62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098–100분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62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100–103분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62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103–105분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62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원래                  한 열을 X로 마스킹</a:t>
            </a:r>
          </a:p>
          <a:p>
            <a:pPr>
              <a:lnSpc>
                <a:spcPct val="113000"/>
              </a:lnSpc>
            </a:pPr>
            <a:r>
              <a:rPr sz="2100" b="0" lang="ko-KR">
                <a:solidFill>
                  <a:srgbClr val="183342"/>
                </a:solidFill>
                <a:latin typeface="Courier New"/>
                <a:ea typeface="Arial Unicode MS"/>
              </a:rPr>
              <a:t>query  ACDEFGHI       query  ACDEFGHI</a:t>
            </a:r>
          </a:p>
          <a:p>
            <a:pPr>
              <a:lnSpc>
                <a:spcPct val="113000"/>
              </a:lnSpc>
            </a:pPr>
            <a:r>
              <a:rPr sz="2100" b="0" lang="ko-KR">
                <a:solidFill>
                  <a:srgbClr val="183342"/>
                </a:solidFill>
                <a:latin typeface="Courier New"/>
                <a:ea typeface="Arial Unicode MS"/>
              </a:rPr>
              <a:t>hom1   AC-EYGHI       hom1   AC-XYGHI</a:t>
            </a:r>
          </a:p>
          <a:p>
            <a:pPr>
              <a:lnSpc>
                <a:spcPct val="113000"/>
              </a:lnSpc>
            </a:pPr>
            <a:r>
              <a:rPr sz="2100" b="0" lang="ko-KR">
                <a:solidFill>
                  <a:srgbClr val="183342"/>
                </a:solidFill>
                <a:latin typeface="Courier New"/>
                <a:ea typeface="Arial Unicode MS"/>
              </a:rPr>
              <a:t>hom2   ACDEFG-I       hom2   ACDXFG-I</a:t>
            </a:r>
          </a:p>
          <a:p>
            <a:pPr>
              <a:lnSpc>
                <a:spcPct val="113000"/>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105–108분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62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108–111분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62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111–113분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62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&gt;sample_open</a:t>
            </a:r>
          </a:p>
          <a:p>
            <a:pPr>
              <a:lnSpc>
                <a:spcPct val="113000"/>
              </a:lnSpc>
            </a:pPr>
            <a:r>
              <a:rPr sz="2100" b="0" lang="ko-KR">
                <a:solidFill>
                  <a:srgbClr val="183342"/>
                </a:solidFill>
                <a:latin typeface="Courier New"/>
                <a:ea typeface="Arial Unicode MS"/>
              </a:rPr>
              <a:t>ACDEFGHI</a:t>
            </a:r>
          </a:p>
          <a:p>
            <a:pPr>
              <a:lnSpc>
                <a:spcPct val="113000"/>
              </a:lnSpc>
            </a:pPr>
            <a:r>
              <a:rPr sz="2100" b="0" lang="ko-KR">
                <a:solidFill>
                  <a:srgbClr val="183342"/>
                </a:solidFill>
                <a:latin typeface="Courier New"/>
                <a:ea typeface="Arial Unicode MS"/>
              </a:rPr>
              <a:t/>
            </a:r>
          </a:p>
          <a:p>
            <a:pPr>
              <a:lnSpc>
                <a:spcPct val="113000"/>
              </a:lnSpc>
            </a:pPr>
            <a:r>
              <a:rPr sz="2100" b="0" lang="ko-KR">
                <a:solidFill>
                  <a:srgbClr val="183342"/>
                </a:solidFill>
                <a:latin typeface="Courier New"/>
                <a:ea typeface="Arial Unicode MS"/>
              </a:rPr>
              <a:t>&gt;sample_closed</a:t>
            </a:r>
          </a:p>
          <a:p>
            <a:pPr>
              <a:lnSpc>
                <a:spcPct val="113000"/>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113–115분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62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115–118분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62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118–120분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62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3분 설계 실습: 공정한 비교를 고르기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질문: MSA 행 선택의 효과를 알고 싶다.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120–123분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62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대표 후보는 품질과 다양성을 함께 본다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관찰</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판단 질문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Core 양호·기준 형태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대표인가?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Core 양호·도메인 배치 다름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PAE와 실험이 뒷받침하나?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큰 차이·국소 충돌·낮은 확신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상태인가, 오류인가?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A와 거의 같은 구조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중복을 줄일 수 있나?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먼저 원자 충돌·비정상 구조·낮은 확신 영역을 점검한다.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안정된 core를 기준으로 겹친 뒤 차이를 비교한다.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서로 다른 후보를 남기고 실험 근거와 대조한다.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123–126분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62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pLDDT·PAE를 상태 확률로 읽지 않는다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숫자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말할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직접 뜻하지 않는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pLDDT 높음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국소 구조를 자신 있게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안정성·결합력·점유율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PAE 낮음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상대 배치를 자신 있게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이동 속도·전환 빈도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100개 중 70개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설정의 생성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평형에서 70% 존재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pLDDT: 국소 구조에 대한 모델의 확신</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PAE: 상대 위치에 대한 예상 오차(Å)</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후보가 70% 나왔다는 사실만으로 점유율 70%는 아니다.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126–128분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62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여러 구조를 얻은 뒤 남는 질문</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가능한 주장: 이 조건에서 서로 다른 구조 후보를 얻었다.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추가 근거 필요: 실제 상태인가, 얼마나 존재하는가?</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구조 번호·recycle 순서로 전환 시간이나 속도를 읽지 않는다.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128–130분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62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실습을 시작합니다.</a:t>
            </a:r>
          </a:p>
          <a:p>
            <a:pPr>
              <a:lnSpc>
                <a:spcPct val="113000"/>
              </a:lnSpc>
            </a:pPr>
            <a:r>
              <a:rPr sz="2400" b="0" lang="ko-KR">
                <a:solidFill>
                  <a:srgbClr val="FFFFFF"/>
                </a:solidFill>
                <a:latin typeface="Arial Unicode MS"/>
                <a:ea typeface="Arial Unicode MS"/>
              </a:rPr>
              <a:t>활동지와 practice/ 파일을 준비합니다.</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130–140분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49 / 62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실습의 목표와 파일</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진화 관계·정렬·비교 결과 해석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practice/: GPU 없이 A3M을 읽고 수정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examples/: 실제 단백질로 예측하는 선택 시연</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가상 실습 자료와 실제 예측 결과를 구분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140–142분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62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1 · 중복 사건으로 관계 판단</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조상 유전자가 먼저 A·B로 중복되었습니다.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이후 종분화로 사람·생쥐 계통이 갈라졌습니다.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사람 A–생쥐 A, 사람 A–생쥐 B의 관계는?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종 안에서만 paralog가 생기는지 설명하세요.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142–146분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62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2 · A3M을 열로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practice/fictional_learning.a3m에서 query와 homolog 행을 찾으세요.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소문자를 제외한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gap과 X가 의미하는 차이를 적으세요.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행 수를 줄이면 어떤 정보가 함께 줄어들까요?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146–150분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62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3 · 입력을 바꾸고 확인</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practice/run_practice.sh 또는 README의 Python 명령 실행</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조건과 group A/B 조건을 비교</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Homolog의 지정 열만 X로 가리기</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출력에서 query와 정렬 열 수를 다시 확인</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150–154분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62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노트북으로 실제 예측</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1. examples/calmodulin_P0DP23.fasta의 서열 입력</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2. 기본 MSA 예측 후 A3M과 결과 파일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3. msa_mode를 custom으로 바꾸고 준비한 A3M 업로드</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4. 조건마다 같은 모델·seed 설정으로 실행</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154–158분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62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ColabFold에서 depth 조건 비교</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colabfold_batch target.a3m results/depth32 \</a:t>
            </a:r>
          </a:p>
          <a:p>
            <a:pPr>
              <a:lnSpc>
                <a:spcPct val="113000"/>
              </a:lnSpc>
            </a:pPr>
            <a:r>
              <a:rPr sz="2100" b="0" lang="ko-KR">
                <a:solidFill>
                  <a:srgbClr val="183342"/>
                </a:solidFill>
                <a:latin typeface="Courier New"/>
                <a:ea typeface="Arial Unicode MS"/>
              </a:rPr>
              <a:t>  --model-type alphafold2_ptm --max-msa 32:64 \</a:t>
            </a:r>
          </a:p>
          <a:p>
            <a:pPr>
              <a:lnSpc>
                <a:spcPct val="113000"/>
              </a:lnSpc>
            </a:pPr>
            <a:r>
              <a:rPr sz="2100" b="0" lang="ko-KR">
                <a:solidFill>
                  <a:srgbClr val="183342"/>
                </a:solidFill>
                <a:latin typeface="Courier New"/>
                <a:ea typeface="Arial Unicode MS"/>
              </a:rPr>
              <a:t>  --num-models 1 --num-seeds 3 --num-recycle 3</a:t>
            </a:r>
          </a:p>
          <a:p>
            <a:pPr>
              <a:lnSpc>
                <a:spcPct val="113000"/>
              </a:lnSpc>
            </a:pPr>
            <a:r>
              <a:rPr sz="2100" b="0" lang="ko-KR">
                <a:solidFill>
                  <a:srgbClr val="183342"/>
                </a:solidFill>
                <a:latin typeface="Courier New"/>
                <a:ea typeface="Arial Unicode MS"/>
              </a:rPr>
              <a:t/>
            </a:r>
          </a:p>
          <a:p>
            <a:pPr>
              <a:lnSpc>
                <a:spcPct val="113000"/>
              </a:lnSpc>
            </a:pPr>
            <a:r>
              <a:rPr sz="2100" b="0" lang="ko-KR">
                <a:solidFill>
                  <a:srgbClr val="183342"/>
                </a:solidFill>
                <a:latin typeface="Courier New"/>
                <a:ea typeface="Arial Unicode MS"/>
              </a:rPr>
              <a:t>colabfold_batch target.a3m results/depth128 \</a:t>
            </a:r>
          </a:p>
          <a:p>
            <a:pPr>
              <a:lnSpc>
                <a:spcPct val="113000"/>
              </a:lnSpc>
            </a:pPr>
            <a:r>
              <a:rPr sz="2100" b="0" lang="ko-KR">
                <a:solidFill>
                  <a:srgbClr val="183342"/>
                </a:solidFill>
                <a:latin typeface="Courier New"/>
                <a:ea typeface="Arial Unicode MS"/>
              </a:rPr>
              <a:t>  --model-type alphafold2_ptm --max-msa 128:256 \</a:t>
            </a:r>
          </a:p>
          <a:p>
            <a:pPr>
              <a:lnSpc>
                <a:spcPct val="113000"/>
              </a:lnSpc>
            </a:pPr>
            <a:r>
              <a:rPr sz="2100" b="0" lang="ko-KR">
                <a:solidFill>
                  <a:srgbClr val="183342"/>
                </a:solidFill>
                <a:latin typeface="Courier New"/>
                <a:ea typeface="Arial Unicode MS"/>
              </a:rPr>
              <a:t>  --num-models 1 --num-seeds 3 --num-recycle 3</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32:64 = max-seq:max-extra-seq</a:t>
            </a:r>
          </a:p>
          <a:p>
            <a:pPr>
              <a:lnSpc>
                <a:spcPct val="113000"/>
              </a:lnSpc>
            </a:pPr>
            <a:r>
              <a:rPr sz="1800" b="0" lang="ko-KR">
                <a:solidFill>
                  <a:srgbClr val="277F87"/>
                </a:solidFill>
                <a:latin typeface="Arial Unicode MS"/>
                <a:ea typeface="Arial Unicode MS"/>
              </a:rPr>
              <a:t>3개 seed는 반복 비교용 예시</a:t>
            </a:r>
          </a:p>
          <a:p>
            <a:pPr>
              <a:lnSpc>
                <a:spcPct val="113000"/>
              </a:lnSpc>
            </a:pPr>
            <a:r>
              <a:rPr sz="1800" b="0" lang="ko-KR">
                <a:solidFill>
                  <a:srgbClr val="277F87"/>
                </a:solidFill>
                <a:latin typeface="Arial Unicode MS"/>
                <a:ea typeface="Arial Unicode MS"/>
              </a:rPr>
              <a:t>별도 결과 폴더에 보관</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설치된 ColabFold와 실제 target.a3m이 필요합니다.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max-msa는 내부의 주 MSA·extra MSA 한도입니다.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158–162분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62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Boltz-2에서 같은 A3M 사용</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ct val="113000"/>
              </a:lnSpc>
            </a:pPr>
            <a:r>
              <a:rPr sz="2100" b="0" lang="ko-KR">
                <a:solidFill>
                  <a:srgbClr val="183342"/>
                </a:solidFill>
                <a:latin typeface="Courier New"/>
                <a:ea typeface="Arial Unicode MS"/>
              </a:rPr>
              <a:t>python3 examples/prepare_inputs.py \</a:t>
            </a:r>
          </a:p>
          <a:p>
            <a:pPr>
              <a:lnSpc>
                <a:spcPct val="113000"/>
              </a:lnSpc>
            </a:pPr>
            <a:r>
              <a:rPr sz="2100" b="0" lang="ko-KR">
                <a:solidFill>
                  <a:srgbClr val="183342"/>
                </a:solidFill>
                <a:latin typeface="Courier New"/>
                <a:ea typeface="Arial Unicode MS"/>
              </a:rPr>
              <a:t>  examples/calmodulin_P0DP23.fasta target.a3m \</a:t>
            </a:r>
          </a:p>
          <a:p>
            <a:pPr>
              <a:lnSpc>
                <a:spcPct val="113000"/>
              </a:lnSpc>
            </a:pPr>
            <a:r>
              <a:rPr sz="2100" b="0" lang="ko-KR">
                <a:solidFill>
                  <a:srgbClr val="183342"/>
                </a:solidFill>
                <a:latin typeface="Courier New"/>
                <a:ea typeface="Arial Unicode MS"/>
              </a:rPr>
              <a:t>  --out prepared</a:t>
            </a:r>
          </a:p>
          <a:p>
            <a:pPr>
              <a:lnSpc>
                <a:spcPct val="113000"/>
              </a:lnSpc>
            </a:pPr>
            <a:r>
              <a:rPr sz="2100" b="0" lang="ko-KR">
                <a:solidFill>
                  <a:srgbClr val="183342"/>
                </a:solidFill>
                <a:latin typeface="Courier New"/>
                <a:ea typeface="Arial Unicode MS"/>
              </a:rPr>
              <a:t/>
            </a:r>
          </a:p>
          <a:p>
            <a:pPr>
              <a:lnSpc>
                <a:spcPct val="113000"/>
              </a:lnSpc>
            </a:pPr>
            <a:r>
              <a:rPr sz="2100" b="0" lang="ko-KR">
                <a:solidFill>
                  <a:srgbClr val="183342"/>
                </a:solidFill>
                <a:latin typeface="Courier New"/>
                <a:ea typeface="Arial Unicode MS"/>
              </a:rPr>
              <a:t>boltz predict prepared/boltz.yaml \</a:t>
            </a:r>
          </a:p>
          <a:p>
            <a:pPr>
              <a:lnSpc>
                <a:spcPct val="113000"/>
              </a:lnSpc>
            </a:pPr>
            <a:r>
              <a:rPr sz="2100" b="0" lang="ko-KR">
                <a:solidFill>
                  <a:srgbClr val="183342"/>
                </a:solidFill>
                <a:latin typeface="Courier New"/>
                <a:ea typeface="Arial Unicode MS"/>
              </a:rPr>
              <a:t>  --out_dir results/boltz</a:t>
            </a:r>
          </a:p>
        </p:txBody>
      </p:sp>
      <p:sp>
        <p:nvSpPr>
          <p:cNvPr id="5" name="TextBox 4"/>
          <p:cNvSpPr txBox="1"/>
          <p:nvPr/>
        </p:nvSpPr>
        <p:spPr>
          <a:xfrm>
            <a:off x="676656" y="357047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FASTA와 MSA query 일치 검사</a:t>
            </a:r>
          </a:p>
          <a:p>
            <a:pPr>
              <a:lnSpc>
                <a:spcPct val="113000"/>
              </a:lnSpc>
            </a:pPr>
            <a:r>
              <a:rPr sz="1800" b="0" lang="ko-KR">
                <a:solidFill>
                  <a:srgbClr val="277F87"/>
                </a:solidFill>
                <a:latin typeface="Arial Unicode MS"/>
                <a:ea typeface="Arial Unicode MS"/>
              </a:rPr>
              <a:t>AF3 JSON과 Boltz YAML 생성</a:t>
            </a:r>
          </a:p>
          <a:p>
            <a:pPr>
              <a:lnSpc>
                <a:spcPct val="113000"/>
              </a:lnSpc>
            </a:pPr>
            <a:r>
              <a:rPr sz="1800" b="0" lang="ko-KR">
                <a:solidFill>
                  <a:srgbClr val="277F87"/>
                </a:solidFill>
                <a:latin typeface="Arial Unicode MS"/>
                <a:ea typeface="Arial Unicode MS"/>
              </a:rPr>
              <a:t>실제 추론은 별도 실행</a:t>
            </a:r>
          </a:p>
        </p:txBody>
      </p:sp>
      <p:sp>
        <p:nvSpPr>
          <p:cNvPr id="6" name="TextBox 5"/>
          <p:cNvSpPr txBox="1"/>
          <p:nvPr/>
        </p:nvSpPr>
        <p:spPr>
          <a:xfrm>
            <a:off x="676656" y="456082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YAML의 protein 항목에 sequence와 msa 경로 지정</a:t>
            </a:r>
          </a:p>
        </p:txBody>
      </p:sp>
      <p:sp>
        <p:nvSpPr>
          <p:cNvPr id="7" name="TextBox 6"/>
          <p:cNvSpPr txBox="1"/>
          <p:nvPr/>
        </p:nvSpPr>
        <p:spPr>
          <a:xfrm>
            <a:off x="676656" y="509066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examples/prepare_inputs.py로 입력 파일 생성</a:t>
            </a:r>
          </a:p>
        </p:txBody>
      </p:sp>
      <p:sp>
        <p:nvSpPr>
          <p:cNvPr id="8" name="TextBox 7"/>
          <p:cNvSpPr txBox="1"/>
          <p:nvPr/>
        </p:nvSpPr>
        <p:spPr>
          <a:xfrm>
            <a:off x="676656" y="562051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입력을 사용해 모델 간 차이를 관찰</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162–165분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62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Chai-1과 ESMFold 비교 경로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실행 경로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입력·확인 사항</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chai-lab fold prepared/chai.fasta results/chai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조건의 단일 서열 예측</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Chai-1에서 custom MSA 사용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공식 .aligned.pqt 변환 예제</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esm-fold -i 입력.fasta -o 결과폴더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설치된 ESMFold 환경 필요</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Chai-1: 전용 FASTA 형식으로 입력</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사용 시 공식 변환·서버 옵션 확인</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ESMFold: 별도의 입력 MSA 없이 예측</a:t>
            </a:r>
          </a:p>
        </p:txBody>
      </p:sp>
      <p:sp>
        <p:nvSpPr>
          <p:cNvPr id="8" name="TextBox 7"/>
          <p:cNvSpPr txBox="1"/>
          <p:nvPr/>
        </p:nvSpPr>
        <p:spPr>
          <a:xfrm>
            <a:off x="640080" y="529818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모델 변화와 MSA 변화의 효과를 따로 기록</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165–168분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62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예측 구조 비교의 기준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1강에서 사용한 뷰어로 구조와 confidence 파일 열기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동일한 서열 구간과 원자를 정렬해 비교</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도메인 각도·접촉·거리처럼 질문에 맞는 특징 측정</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긴 loop 하나가 전체 RMSD를 키웠는지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168–170분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62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4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170–175분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62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유전자는 다른 종에 있으니 ortholog다.”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175–178분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62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MSA는 진화적 대응을 가정한 정렬</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178–179분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62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Abramson et al. (2024), Accurate structure prediction of biomolecular interactions with AlphaFold 3</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https://www.nature.com/articles/s41586-024-07487-w</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Boltz official prediction documentation</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https://github.com/jwohlwend/boltz/blob/main/docs/prediction.md</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Chai-1 official repository</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https://github.com/chaidiscovery/chai-lab</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179–180분</a:t>
            </a:r>
          </a:p>
        </p:txBody>
      </p:sp>
      <p:sp>
        <p:nvSpPr>
          <p:cNvPr id="16" name="TextBox 1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62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